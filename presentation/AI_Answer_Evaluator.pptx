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7c899a4-cdf6-da82-f2a3-3f34452eb3bd}">
          <p14:sldIdLst>
            <p14:sldId id="256"/>
            <p14:sldId id="257"/>
            <p14:sldId id="258"/>
          </p14:sldIdLst>
        </p14:section>
        <p14:section name="Method" id="{c1758923-16ba-7287-287f-990009e90530}">
          <p14:sldIdLst>
            <p14:sldId id="259"/>
            <p14:sldId id="260"/>
            <p14:sldId id="261"/>
            <p14:sldId id="262"/>
            <p14:sldId id="263"/>
            <p14:sldId id="264"/>
          </p14:sldIdLst>
        </p14:section>
        <p14:section name="Results" id="{5e4827bb-238e-7f80-66a1-ffa23ab222d2}">
          <p14:sldIdLst>
            <p14:sldId id="265"/>
            <p14:sldId id="266"/>
          </p14:sldIdLst>
        </p14:section>
        <p14:section name="Application" id="{5aff9c9d-b4ad-6b0f-043c-1e43174e686f}">
          <p14:sldIdLst>
            <p14:sldId id="267"/>
          </p14:sldIdLst>
        </p14:section>
        <p14:section name="Conclusion" id="{dfadd2da-46a0-b9c9-9f90-f4d73d867792}">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7"/>
                </a:solidFill>
                <a:latin typeface="+mn-lt"/>
              </a:defRPr>
            </a:pPr>
            <a:r>
              <a:rPr sz="1300" b="0" i="0" u="none" strike="noStrike">
                <a:solidFill>
                  <a:srgbClr val="1F2937"/>
                </a:solidFill>
                <a:latin typeface="+mn-lt"/>
              </a:rPr>
              <a:t>System mark vs teacher mark (each dot is one answer)</a:t>
            </a:r>
          </a:p>
        </c:rich>
      </c:tx>
      <c:layout/>
      <c:overlay val="0"/>
    </c:title>
    <c:autoTitleDeleted val="0"/>
    <c:plotArea>
      <c:layout/>
      <c:scatterChart>
        <c:scatterStyle val="lineMarker"/>
        <c:varyColors val="0"/>
        <c:ser>
          <c:idx val="0"/>
          <c:order val="0"/>
          <c:tx>
            <c:strRef>
              <c:f>Sheet1!$B$1</c:f>
              <c:strCache>
                <c:ptCount val="1"/>
                <c:pt idx="0">
                  <c:v>System</c:v>
                </c:pt>
              </c:strCache>
            </c:strRef>
          </c:tx>
          <c:spPr>
            <a:solidFill>
              <a:srgbClr val="2F5DA8"/>
            </a:solidFill>
            <a:ln>
              <a:noFill/>
            </a:ln>
            <a:effectLst/>
          </c:spPr>
          <c:marker>
            <c:symbol val="circle"/>
            <c:size val="8"/>
            <c:spPr>
              <a:solidFill>
                <a:srgbClr val="2F5DA8"/>
              </a:solidFill>
              <a:ln w="9525" cap="flat">
                <a:solidFill>
                  <a:srgbClr val="2F5DA8"/>
                </a:solidFill>
                <a:prstDash val="solid"/>
                <a:round/>
              </a:ln>
              <a:effectLst/>
            </c:spPr>
          </c:marker>
          <c:xVal>
            <c:numRef>
              <c:f>Sheet1!$A$2:$A$61</c:f>
              <c:numCache>
                <c:formatCode>General</c:formatCode>
                <c:ptCount val="60"/>
                <c:pt idx="0">
                  <c:v>10</c:v>
                </c:pt>
                <c:pt idx="1">
                  <c:v>8.5</c:v>
                </c:pt>
                <c:pt idx="2">
                  <c:v>7</c:v>
                </c:pt>
                <c:pt idx="3">
                  <c:v>5</c:v>
                </c:pt>
                <c:pt idx="4">
                  <c:v>5.5</c:v>
                </c:pt>
                <c:pt idx="5">
                  <c:v>1.5</c:v>
                </c:pt>
                <c:pt idx="6">
                  <c:v>1</c:v>
                </c:pt>
                <c:pt idx="7">
                  <c:v>6</c:v>
                </c:pt>
                <c:pt idx="8">
                  <c:v>0</c:v>
                </c:pt>
                <c:pt idx="9">
                  <c:v>7.5</c:v>
                </c:pt>
                <c:pt idx="10">
                  <c:v>9.5</c:v>
                </c:pt>
                <c:pt idx="11">
                  <c:v>7</c:v>
                </c:pt>
                <c:pt idx="12">
                  <c:v>4</c:v>
                </c:pt>
                <c:pt idx="13">
                  <c:v>4.5</c:v>
                </c:pt>
                <c:pt idx="14">
                  <c:v>7.5</c:v>
                </c:pt>
                <c:pt idx="15">
                  <c:v>1</c:v>
                </c:pt>
                <c:pt idx="16">
                  <c:v>2</c:v>
                </c:pt>
                <c:pt idx="17">
                  <c:v>5.5</c:v>
                </c:pt>
                <c:pt idx="18">
                  <c:v>0</c:v>
                </c:pt>
                <c:pt idx="19">
                  <c:v>8</c:v>
                </c:pt>
                <c:pt idx="20">
                  <c:v>9.5</c:v>
                </c:pt>
                <c:pt idx="21">
                  <c:v>6.5</c:v>
                </c:pt>
                <c:pt idx="22">
                  <c:v>3</c:v>
                </c:pt>
                <c:pt idx="23">
                  <c:v>8</c:v>
                </c:pt>
                <c:pt idx="24">
                  <c:v>2</c:v>
                </c:pt>
                <c:pt idx="25">
                  <c:v>5.5</c:v>
                </c:pt>
                <c:pt idx="26">
                  <c:v>0.5</c:v>
                </c:pt>
                <c:pt idx="27">
                  <c:v>7.5</c:v>
                </c:pt>
                <c:pt idx="28">
                  <c:v>0</c:v>
                </c:pt>
                <c:pt idx="29">
                  <c:v>3.5</c:v>
                </c:pt>
                <c:pt idx="30">
                  <c:v>9.5</c:v>
                </c:pt>
                <c:pt idx="31">
                  <c:v>6</c:v>
                </c:pt>
                <c:pt idx="32">
                  <c:v>2</c:v>
                </c:pt>
                <c:pt idx="33">
                  <c:v>5.5</c:v>
                </c:pt>
                <c:pt idx="34">
                  <c:v>4</c:v>
                </c:pt>
                <c:pt idx="35">
                  <c:v>1</c:v>
                </c:pt>
                <c:pt idx="36">
                  <c:v>7</c:v>
                </c:pt>
                <c:pt idx="37">
                  <c:v>0</c:v>
                </c:pt>
                <c:pt idx="38">
                  <c:v>7</c:v>
                </c:pt>
                <c:pt idx="39">
                  <c:v>1.5</c:v>
                </c:pt>
                <c:pt idx="40">
                  <c:v>9.5</c:v>
                </c:pt>
                <c:pt idx="41">
                  <c:v>6.5</c:v>
                </c:pt>
                <c:pt idx="42">
                  <c:v>2</c:v>
                </c:pt>
                <c:pt idx="43">
                  <c:v>7.5</c:v>
                </c:pt>
                <c:pt idx="44">
                  <c:v>1</c:v>
                </c:pt>
                <c:pt idx="45">
                  <c:v>4.5</c:v>
                </c:pt>
                <c:pt idx="46">
                  <c:v>6.5</c:v>
                </c:pt>
                <c:pt idx="47">
                  <c:v>0</c:v>
                </c:pt>
                <c:pt idx="48">
                  <c:v>8.5</c:v>
                </c:pt>
                <c:pt idx="49">
                  <c:v>1.5</c:v>
                </c:pt>
                <c:pt idx="50">
                  <c:v>9.5</c:v>
                </c:pt>
                <c:pt idx="51">
                  <c:v>5.5</c:v>
                </c:pt>
                <c:pt idx="52">
                  <c:v>6</c:v>
                </c:pt>
                <c:pt idx="53">
                  <c:v>1.5</c:v>
                </c:pt>
                <c:pt idx="54">
                  <c:v>8</c:v>
                </c:pt>
                <c:pt idx="55">
                  <c:v>0.5</c:v>
                </c:pt>
                <c:pt idx="56">
                  <c:v>4</c:v>
                </c:pt>
                <c:pt idx="57">
                  <c:v>0</c:v>
                </c:pt>
                <c:pt idx="58">
                  <c:v>6.5</c:v>
                </c:pt>
                <c:pt idx="59">
                  <c:v>3</c:v>
                </c:pt>
              </c:numCache>
            </c:numRef>
          </c:xVal>
          <c:yVal>
            <c:numRef>
              <c:f>Sheet1!$B$2:$B$61</c:f>
              <c:numCache>
                <c:formatCode>General</c:formatCode>
                <c:ptCount val="60"/>
                <c:pt idx="0">
                  <c:v>9</c:v>
                </c:pt>
                <c:pt idx="1">
                  <c:v>7</c:v>
                </c:pt>
                <c:pt idx="2">
                  <c:v>7</c:v>
                </c:pt>
                <c:pt idx="3">
                  <c:v>5.5</c:v>
                </c:pt>
                <c:pt idx="4">
                  <c:v>5.5</c:v>
                </c:pt>
                <c:pt idx="5">
                  <c:v>1.5</c:v>
                </c:pt>
                <c:pt idx="6">
                  <c:v>0</c:v>
                </c:pt>
                <c:pt idx="7">
                  <c:v>7</c:v>
                </c:pt>
                <c:pt idx="8">
                  <c:v>0</c:v>
                </c:pt>
                <c:pt idx="9">
                  <c:v>7.5</c:v>
                </c:pt>
                <c:pt idx="10">
                  <c:v>9.5</c:v>
                </c:pt>
                <c:pt idx="11">
                  <c:v>7.5</c:v>
                </c:pt>
                <c:pt idx="12">
                  <c:v>4</c:v>
                </c:pt>
                <c:pt idx="13">
                  <c:v>4</c:v>
                </c:pt>
                <c:pt idx="14">
                  <c:v>7.5</c:v>
                </c:pt>
                <c:pt idx="15">
                  <c:v>4</c:v>
                </c:pt>
                <c:pt idx="16">
                  <c:v>1.5</c:v>
                </c:pt>
                <c:pt idx="17">
                  <c:v>5</c:v>
                </c:pt>
                <c:pt idx="18">
                  <c:v>0</c:v>
                </c:pt>
                <c:pt idx="19">
                  <c:v>7.5</c:v>
                </c:pt>
                <c:pt idx="20">
                  <c:v>9.5</c:v>
                </c:pt>
                <c:pt idx="21">
                  <c:v>7</c:v>
                </c:pt>
                <c:pt idx="22">
                  <c:v>1.5</c:v>
                </c:pt>
                <c:pt idx="23">
                  <c:v>7.5</c:v>
                </c:pt>
                <c:pt idx="24">
                  <c:v>2</c:v>
                </c:pt>
                <c:pt idx="25">
                  <c:v>7</c:v>
                </c:pt>
                <c:pt idx="26">
                  <c:v>2</c:v>
                </c:pt>
                <c:pt idx="27">
                  <c:v>8.5</c:v>
                </c:pt>
                <c:pt idx="28">
                  <c:v>0</c:v>
                </c:pt>
                <c:pt idx="29">
                  <c:v>5</c:v>
                </c:pt>
                <c:pt idx="30">
                  <c:v>9</c:v>
                </c:pt>
                <c:pt idx="31">
                  <c:v>4.5</c:v>
                </c:pt>
                <c:pt idx="32">
                  <c:v>3</c:v>
                </c:pt>
                <c:pt idx="33">
                  <c:v>4</c:v>
                </c:pt>
                <c:pt idx="34">
                  <c:v>4</c:v>
                </c:pt>
                <c:pt idx="35">
                  <c:v>3</c:v>
                </c:pt>
                <c:pt idx="36">
                  <c:v>7.5</c:v>
                </c:pt>
                <c:pt idx="37">
                  <c:v>0.5</c:v>
                </c:pt>
                <c:pt idx="38">
                  <c:v>6.5</c:v>
                </c:pt>
                <c:pt idx="39">
                  <c:v>3</c:v>
                </c:pt>
                <c:pt idx="40">
                  <c:v>9.5</c:v>
                </c:pt>
                <c:pt idx="41">
                  <c:v>6</c:v>
                </c:pt>
                <c:pt idx="42">
                  <c:v>1.5</c:v>
                </c:pt>
                <c:pt idx="43">
                  <c:v>4</c:v>
                </c:pt>
                <c:pt idx="44">
                  <c:v>2.5</c:v>
                </c:pt>
                <c:pt idx="45">
                  <c:v>4</c:v>
                </c:pt>
                <c:pt idx="46">
                  <c:v>6</c:v>
                </c:pt>
                <c:pt idx="47">
                  <c:v>0</c:v>
                </c:pt>
                <c:pt idx="48">
                  <c:v>7.5</c:v>
                </c:pt>
                <c:pt idx="49">
                  <c:v>2</c:v>
                </c:pt>
                <c:pt idx="50">
                  <c:v>9.5</c:v>
                </c:pt>
                <c:pt idx="51">
                  <c:v>5</c:v>
                </c:pt>
                <c:pt idx="52">
                  <c:v>7</c:v>
                </c:pt>
                <c:pt idx="53">
                  <c:v>1.5</c:v>
                </c:pt>
                <c:pt idx="54">
                  <c:v>8.5</c:v>
                </c:pt>
                <c:pt idx="55">
                  <c:v>1.5</c:v>
                </c:pt>
                <c:pt idx="56">
                  <c:v>4.5</c:v>
                </c:pt>
                <c:pt idx="57">
                  <c:v>0</c:v>
                </c:pt>
                <c:pt idx="58">
                  <c:v>7</c:v>
                </c:pt>
                <c:pt idx="59">
                  <c:v>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
          <c:min val="0"/>
        </c:scaling>
        <c:delete val="0"/>
        <c:axPos val="b"/>
        <c:majorGridlines>
          <c:spPr>
            <a:ln w="6350" cap="flat">
              <a:solidFill>
                <a:srgbClr val="E5E8EE"/>
              </a:solidFill>
              <a:prstDash val="solid"/>
              <a:round/>
            </a:ln>
          </c:spPr>
        </c:majorGridlines>
        <c:title>
          <c:tx>
            <c:rich>
              <a:bodyPr/>
              <a:lstStyle/>
              <a:p>
                <a:pPr>
                  <a:defRPr sz="1200" b="0" i="0" u="none" strike="noStrike">
                    <a:solidFill>
                      <a:srgbClr val="5B6475"/>
                    </a:solidFill>
                    <a:latin typeface="+mn-lt"/>
                  </a:defRPr>
                </a:pPr>
                <a:r>
                  <a:rPr sz="1200" b="0" i="0" u="none" strike="noStrike">
                    <a:solidFill>
                      <a:srgbClr val="5B6475"/>
                    </a:solidFill>
                    <a:latin typeface="+mn-lt"/>
                  </a:rPr>
                  <a:t>Teacher mark</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B6475"/>
                </a:solidFill>
                <a:latin typeface="+mn-lt"/>
              </a:defRPr>
            </a:pPr>
            <a:endParaRPr lang="en-US"/>
          </a:p>
        </c:txPr>
        <c:crossAx val="2094734552"/>
        <c:crosses val="autoZero"/>
        <c:auto val="1"/>
        <c:lblAlgn val="ctr"/>
        <c:noMultiLvlLbl val="1"/>
        <c:majorUnit val="2"/>
      </c:valAx>
      <c:valAx>
        <c:axId val="2094734552"/>
        <c:scaling>
          <c:orientation val="minMax"/>
          <c:max val="10"/>
          <c:min val="0"/>
        </c:scaling>
        <c:delete val="0"/>
        <c:axPos val="l"/>
        <c:majorGridlines>
          <c:spPr>
            <a:ln w="6350" cap="flat">
              <a:solidFill>
                <a:srgbClr val="E5E8EE"/>
              </a:solidFill>
              <a:prstDash val="solid"/>
              <a:round/>
            </a:ln>
          </c:spPr>
        </c:majorGridlines>
        <c:title>
          <c:tx>
            <c:rich>
              <a:bodyPr/>
              <a:lstStyle/>
              <a:p>
                <a:pPr>
                  <a:defRPr sz="1200" b="0" i="0" u="none" strike="noStrike">
                    <a:solidFill>
                      <a:srgbClr val="5B6475"/>
                    </a:solidFill>
                    <a:latin typeface="+mn-lt"/>
                  </a:defRPr>
                </a:pPr>
                <a:r>
                  <a:rPr sz="1200" b="0" i="0" u="none" strike="noStrike">
                    <a:solidFill>
                      <a:srgbClr val="5B6475"/>
                    </a:solidFill>
                    <a:latin typeface="+mn-lt"/>
                  </a:rPr>
                  <a:t>System mark</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6475"/>
                </a:solidFill>
                <a:latin typeface="+mn-lt"/>
              </a:defRPr>
            </a:pPr>
            <a:endParaRPr lang="en-US"/>
          </a:p>
        </c:txPr>
        <c:crossAx val="2094734554"/>
        <c:crosses val="autoZero"/>
        <c:crossBetween val="midCat"/>
        <c:majorUnit val="2"/>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2937"/>
                </a:solidFill>
                <a:latin typeface="+mn-lt"/>
              </a:defRPr>
            </a:pPr>
            <a:r>
              <a:rPr sz="1300" b="0" i="0" u="none" strike="noStrike">
                <a:solidFill>
                  <a:srgbClr val="1F2937"/>
                </a:solidFill>
                <a:latin typeface="+mn-lt"/>
              </a:rPr>
              <a:t>Concept detection by question</a:t>
            </a:r>
          </a:p>
        </c:rich>
      </c:tx>
      <c:layout/>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2F5DA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Q1</c:v>
                  </c:pt>
                  <c:pt idx="1">
                    <c:v>Q2</c:v>
                  </c:pt>
                  <c:pt idx="2">
                    <c:v>Q3</c:v>
                  </c:pt>
                  <c:pt idx="3">
                    <c:v>Q4</c:v>
                  </c:pt>
                  <c:pt idx="4">
                    <c:v>Q5</c:v>
                  </c:pt>
                  <c:pt idx="5">
                    <c:v>Q6</c:v>
                  </c:pt>
                </c:lvl>
              </c:multiLvlStrCache>
            </c:multiLvlStrRef>
          </c:cat>
          <c:val>
            <c:numRef>
              <c:f>Sheet1!$B$2:$B$7</c:f>
              <c:numCache>
                <c:formatCode>General</c:formatCode>
                <c:ptCount val="6"/>
                <c:pt idx="0">
                  <c:v>0.96</c:v>
                </c:pt>
                <c:pt idx="1">
                  <c:v>1</c:v>
                </c:pt>
                <c:pt idx="2">
                  <c:v>0.79</c:v>
                </c:pt>
                <c:pt idx="3">
                  <c:v>0.8</c:v>
                </c:pt>
                <c:pt idx="4">
                  <c:v>1</c:v>
                </c:pt>
                <c:pt idx="5">
                  <c:v>1</c:v>
                </c:pt>
              </c:numCache>
            </c:numRef>
          </c:val>
        </c:ser>
        <c:ser>
          <c:idx val="1"/>
          <c:order val="1"/>
          <c:tx>
            <c:strRef>
              <c:f>Sheet1!$C$1</c:f>
              <c:strCache>
                <c:ptCount val="1"/>
                <c:pt idx="0">
                  <c:v>Recall</c:v>
                </c:pt>
              </c:strCache>
            </c:strRef>
          </c:tx>
          <c:spPr>
            <a:solidFill>
              <a:srgbClr val="2BA38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Q1</c:v>
                  </c:pt>
                  <c:pt idx="1">
                    <c:v>Q2</c:v>
                  </c:pt>
                  <c:pt idx="2">
                    <c:v>Q3</c:v>
                  </c:pt>
                  <c:pt idx="3">
                    <c:v>Q4</c:v>
                  </c:pt>
                  <c:pt idx="4">
                    <c:v>Q5</c:v>
                  </c:pt>
                  <c:pt idx="5">
                    <c:v>Q6</c:v>
                  </c:pt>
                </c:lvl>
              </c:multiLvlStrCache>
            </c:multiLvlStrRef>
          </c:cat>
          <c:val>
            <c:numRef>
              <c:f>Sheet1!$C$2:$C$7</c:f>
              <c:numCache>
                <c:formatCode>General</c:formatCode>
                <c:ptCount val="6"/>
                <c:pt idx="0">
                  <c:v>0.93</c:v>
                </c:pt>
                <c:pt idx="1">
                  <c:v>0.96</c:v>
                </c:pt>
                <c:pt idx="2">
                  <c:v>0.96</c:v>
                </c:pt>
                <c:pt idx="3">
                  <c:v>0.8</c:v>
                </c:pt>
                <c:pt idx="4">
                  <c:v>0.86</c:v>
                </c:pt>
                <c:pt idx="5">
                  <c:v>0.9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5"/>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5E8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5"/>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1F293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system that marks descriptive answers by comparing them with a teacher's reference answer and rubric, and explains the mark with a concept checklist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to assist teachers, not replace them: the system gives a consistent first mark and an explanation the teacher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workflow of the project. Each stage maps to one file in the code. Stages 3 and 5 are the machine-learning core: the pretrained transformer and the scorer trained on teacher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Inputs are normalised and split into sentences, encoded by Sentence-BERT, turned into three signals, and combined by the scoring engine into marks with a checklist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Vectors are illustrative. In code: evaluator/embedder.py. The calibration floor and ceiling per model are in PROFILES.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Concepts come from the teacher. Detection code is in evaluator/core.py (extract_features). Each detected concept records how it was found and the evidence, which the app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answer: right gist, one of six concepts. Right answer: five of six concepts named but no explanation, so completeness is low. The feedback module also flags answers that list terms without explaining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train.py. Leave-one-question-out prevents the model from memorising the specific wording of a question's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evaluator/ocr.py. The OCR model downloads on first use (about 1.3 GB). Future work: measure character error rate on a set of real answer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Dots on the diagonal are perfect agreement. The listed answers are the three with the largest cross-validated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recall and F1 compare detected concepts with the gold concept labels in student_answers.csv.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code is in the project folder; README.md has setup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takeaways and invite questions. Offer the live demo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1B24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10881360" cy="1737360"/>
          </a:xfrm>
          <a:prstGeom prst="rect">
            <a:avLst/>
          </a:prstGeom>
          <a:noFill/>
          <a:ln/>
        </p:spPr>
        <p:txBody>
          <a:bodyPr wrap="square" rtlCol="0"/>
          <a:lstStyle>
            <a:lvl1pPr algn="l" indent="0" marL="0">
              <a:buNone/>
              <a:defRPr lang="en-US" sz="4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640080" y="3749040"/>
            <a:ext cx="10058400" cy="914400"/>
          </a:xfrm>
          <a:prstGeom prst="rect">
            <a:avLst/>
          </a:prstGeom>
          <a:noFill/>
          <a:ln/>
        </p:spPr>
        <p:txBody>
          <a:bodyPr wrap="square" rtlCol="0"/>
          <a:lstStyle>
            <a:lvl1pPr algn="l" indent="0" marL="0">
              <a:buNone/>
              <a:defRPr lang="en-US" sz="1800" dirty="0">
                <a:solidFill>
                  <a:srgbClr val="C9D2E6"/>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900" dirty="0">
                <a:solidFill>
                  <a:srgbClr val="5B6475"/>
                </a:solidFill>
                <a:latin typeface="Calibri" pitchFamily="34" charset="0"/>
                <a:ea typeface="Calibri" pitchFamily="34" charset="-122"/>
                <a:cs typeface="Calibri" pitchFamily="34" charset="-120"/>
              </a:rPr>
              <a:t>AI Answer Evaluation System</a:t>
            </a:r>
            <a:endParaRPr lang="en-US" sz="900" dirty="0"/>
          </a:p>
        </p:txBody>
      </p:sp>
      <p:sp>
        <p:nvSpPr>
          <p:cNvPr id="3" name="Text 1"/>
          <p:cNvSpPr/>
          <p:nvPr>
            <p:ph idx="101" type="title" hasCustomPrompt="1"/>
          </p:nvPr>
        </p:nvSpPr>
        <p:spPr>
          <a:xfrm>
            <a:off x="548640" y="320040"/>
            <a:ext cx="11064240" cy="868680"/>
          </a:xfrm>
          <a:prstGeom prst="rect">
            <a:avLst/>
          </a:prstGeom>
          <a:noFill/>
          <a:ln/>
        </p:spPr>
        <p:txBody>
          <a:bodyPr wrap="square" rtlCol="0"/>
          <a:lstStyle>
            <a:lvl1pPr algn="l" indent="0" marL="0">
              <a:buNone/>
              <a:defRPr lang="en-US" sz="3200" b="1" dirty="0">
                <a:solidFill>
                  <a:srgbClr val="1B2440"/>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rgbClr val="1B24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7B3"/>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10881360" cy="1737360"/>
          </a:xfrm>
          <a:prstGeom prst="rect">
            <a:avLst/>
          </a:prstGeom>
          <a:noFill/>
          <a:ln/>
        </p:spPr>
        <p:txBody>
          <a:bodyPr wrap="square" lIns="0" tIns="0" rIns="0" bIns="0" rtlCol="0" anchor="b"/>
          <a:lstStyle/>
          <a:p>
            <a:pPr algn="l" indent="0" marL="0">
              <a:buNone/>
            </a:pPr>
            <a:r>
              <a:rPr lang="en-US" sz="4800" b="1" dirty="0">
                <a:solidFill>
                  <a:srgbClr val="FFFFFF"/>
                </a:solidFill>
                <a:latin typeface="Cambria" pitchFamily="34" charset="0"/>
                <a:ea typeface="Cambria" pitchFamily="34" charset="-122"/>
                <a:cs typeface="Cambria" pitchFamily="34" charset="-120"/>
              </a:rPr>
              <a:t>AI Answer Evaluation System</a:t>
            </a:r>
            <a:endParaRPr lang="en-US" sz="4800" dirty="0"/>
          </a:p>
        </p:txBody>
      </p:sp>
      <p:sp>
        <p:nvSpPr>
          <p:cNvPr id="3" name="Text 0"/>
          <p:cNvSpPr/>
          <p:nvPr>
            <p:ph idx="101" type="body" hasCustomPrompt="1"/>
          </p:nvPr>
        </p:nvSpPr>
        <p:spPr>
          <a:xfrm>
            <a:off x="640080" y="3749040"/>
            <a:ext cx="10058400" cy="914400"/>
          </a:xfrm>
          <a:prstGeom prst="rect">
            <a:avLst/>
          </a:prstGeom>
          <a:noFill/>
          <a:ln/>
        </p:spPr>
        <p:txBody>
          <a:bodyPr wrap="square" lIns="0" tIns="0" rIns="0" bIns="0" rtlCol="0" anchor="t"/>
          <a:lstStyle/>
          <a:p>
            <a:pPr algn="l" indent="0" marL="0">
              <a:buNone/>
            </a:pPr>
            <a:r>
              <a:rPr lang="en-US" sz="1800" dirty="0">
                <a:solidFill>
                  <a:srgbClr val="C9D2E6"/>
                </a:solidFill>
                <a:latin typeface="Calibri" pitchFamily="34" charset="0"/>
                <a:ea typeface="Calibri" pitchFamily="34" charset="-122"/>
                <a:cs typeface="Calibri" pitchFamily="34" charset="-120"/>
              </a:rPr>
              <a:t>Deep-learning-based marking and feedback for descriptive answers</a:t>
            </a:r>
            <a:endParaRPr lang="en-US" sz="1800" dirty="0"/>
          </a:p>
        </p:txBody>
      </p:sp>
      <p:sp>
        <p:nvSpPr>
          <p:cNvPr id="4" name="Text 2"/>
          <p:cNvSpPr txBox="1"/>
          <p:nvPr/>
        </p:nvSpPr>
        <p:spPr>
          <a:xfrm>
            <a:off x="640080" y="5760720"/>
            <a:ext cx="10058400" cy="365760"/>
          </a:xfrm>
          <a:prstGeom prst="rect">
            <a:avLst/>
          </a:prstGeom>
          <a:noFill/>
          <a:ln/>
        </p:spPr>
        <p:txBody>
          <a:bodyPr wrap="square" lIns="0" tIns="0" rIns="0" bIns="0" rtlCol="0" anchor="t"/>
          <a:lstStyle/>
          <a:p>
            <a:pPr indent="0" marL="0">
              <a:buNone/>
            </a:pPr>
            <a:r>
              <a:rPr lang="en-US" sz="1400" dirty="0">
                <a:solidFill>
                  <a:srgbClr val="8C97B3"/>
                </a:solidFill>
                <a:latin typeface="Calibri" pitchFamily="34" charset="0"/>
                <a:ea typeface="Calibri" pitchFamily="34" charset="-122"/>
                <a:cs typeface="Calibri" pitchFamily="34" charset="-120"/>
              </a:rPr>
              <a:t>Anika  ·  B.Tech CSE (Data Science)  ·  Manipal University Jaipur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B2440"/>
                </a:solidFill>
                <a:latin typeface="Cambria" pitchFamily="34" charset="0"/>
                <a:ea typeface="Cambria" pitchFamily="34" charset="-122"/>
                <a:cs typeface="Cambria" pitchFamily="34" charset="-120"/>
              </a:rPr>
              <a:t>Marking descriptive answers by hand is slow and uneven</a:t>
            </a:r>
            <a:endParaRPr lang="en-US" sz="3200" dirty="0"/>
          </a:p>
        </p:txBody>
      </p:sp>
      <p:sp>
        <p:nvSpPr>
          <p:cNvPr id="3" name="Time card"/>
          <p:cNvSpPr/>
          <p:nvPr/>
        </p:nvSpPr>
        <p:spPr>
          <a:xfrm>
            <a:off x="548640" y="1463040"/>
            <a:ext cx="3520440" cy="2514600"/>
          </a:xfrm>
          <a:prstGeom prst="roundRect">
            <a:avLst>
              <a:gd name="adj" fmla="val 2909"/>
            </a:avLst>
          </a:prstGeom>
          <a:solidFill>
            <a:srgbClr val="F3F5F9"/>
          </a:solidFill>
          <a:ln w="12700">
            <a:solidFill>
              <a:srgbClr val="F3F5F9"/>
            </a:solidFill>
            <a:prstDash val="solid"/>
          </a:ln>
        </p:spPr>
      </p:sp>
      <p:sp>
        <p:nvSpPr>
          <p:cNvPr id="4" name="Time circle"/>
          <p:cNvSpPr/>
          <p:nvPr/>
        </p:nvSpPr>
        <p:spPr>
          <a:xfrm>
            <a:off x="868680" y="1737360"/>
            <a:ext cx="640080" cy="640080"/>
          </a:xfrm>
          <a:prstGeom prst="ellipse">
            <a:avLst/>
          </a:prstGeom>
          <a:solidFill>
            <a:srgbClr val="1B2440"/>
          </a:solidFill>
          <a:ln w="12700">
            <a:solidFill>
              <a:srgbClr val="1B2440"/>
            </a:solidFill>
            <a:prstDash val="solid"/>
          </a:ln>
        </p:spPr>
      </p:sp>
      <p:pic>
        <p:nvPicPr>
          <p:cNvPr id="5" name="Time icon" descr="preencoded.png">    </p:cNvPr>
          <p:cNvPicPr>
            <a:picLocks noChangeAspect="1"/>
          </p:cNvPicPr>
          <p:nvPr/>
        </p:nvPicPr>
        <p:blipFill>
          <a:blip r:embed="rId1"/>
          <a:stretch>
            <a:fillRect/>
          </a:stretch>
        </p:blipFill>
        <p:spPr>
          <a:xfrm>
            <a:off x="1022299" y="1890979"/>
            <a:ext cx="332842" cy="332842"/>
          </a:xfrm>
          <a:prstGeom prst="rect">
            <a:avLst/>
          </a:prstGeom>
        </p:spPr>
      </p:pic>
      <p:sp>
        <p:nvSpPr>
          <p:cNvPr id="6" name="Text 3"/>
          <p:cNvSpPr txBox="1"/>
          <p:nvPr/>
        </p:nvSpPr>
        <p:spPr>
          <a:xfrm>
            <a:off x="868680" y="2514600"/>
            <a:ext cx="2926080" cy="411480"/>
          </a:xfrm>
          <a:prstGeom prst="rect">
            <a:avLst/>
          </a:prstGeom>
          <a:noFill/>
          <a:ln/>
        </p:spPr>
        <p:txBody>
          <a:bodyPr wrap="square" lIns="0" tIns="0" rIns="0" bIns="0" rtlCol="0" anchor="t"/>
          <a:lstStyle/>
          <a:p>
            <a:pPr indent="0" marL="0">
              <a:buNone/>
            </a:pPr>
            <a:r>
              <a:rPr lang="en-US" sz="2000" b="1" dirty="0">
                <a:solidFill>
                  <a:srgbClr val="1B2440"/>
                </a:solidFill>
                <a:latin typeface="Cambria" pitchFamily="34" charset="0"/>
                <a:ea typeface="Cambria" pitchFamily="34" charset="-122"/>
                <a:cs typeface="Cambria" pitchFamily="34" charset="-120"/>
              </a:rPr>
              <a:t>Time</a:t>
            </a:r>
            <a:endParaRPr lang="en-US" sz="2000" dirty="0"/>
          </a:p>
        </p:txBody>
      </p:sp>
      <p:sp>
        <p:nvSpPr>
          <p:cNvPr id="7" name="Text 4"/>
          <p:cNvSpPr txBox="1"/>
          <p:nvPr/>
        </p:nvSpPr>
        <p:spPr>
          <a:xfrm>
            <a:off x="868680" y="2971800"/>
            <a:ext cx="2926080" cy="9144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Every answer has to be read in full, so large classes take days to mark and feedback arrives late.</a:t>
            </a:r>
            <a:endParaRPr lang="en-US" sz="1400" dirty="0"/>
          </a:p>
        </p:txBody>
      </p:sp>
      <p:sp>
        <p:nvSpPr>
          <p:cNvPr id="8" name="Consistency card"/>
          <p:cNvSpPr/>
          <p:nvPr/>
        </p:nvSpPr>
        <p:spPr>
          <a:xfrm>
            <a:off x="4343400" y="1463040"/>
            <a:ext cx="3520440" cy="2514600"/>
          </a:xfrm>
          <a:prstGeom prst="roundRect">
            <a:avLst>
              <a:gd name="adj" fmla="val 2909"/>
            </a:avLst>
          </a:prstGeom>
          <a:solidFill>
            <a:srgbClr val="F3F5F9"/>
          </a:solidFill>
          <a:ln w="12700">
            <a:solidFill>
              <a:srgbClr val="F3F5F9"/>
            </a:solidFill>
            <a:prstDash val="solid"/>
          </a:ln>
        </p:spPr>
      </p:sp>
      <p:sp>
        <p:nvSpPr>
          <p:cNvPr id="9" name="Consistency circle"/>
          <p:cNvSpPr/>
          <p:nvPr/>
        </p:nvSpPr>
        <p:spPr>
          <a:xfrm>
            <a:off x="4663440" y="1737360"/>
            <a:ext cx="640080" cy="640080"/>
          </a:xfrm>
          <a:prstGeom prst="ellipse">
            <a:avLst/>
          </a:prstGeom>
          <a:solidFill>
            <a:srgbClr val="1B2440"/>
          </a:solidFill>
          <a:ln w="12700">
            <a:solidFill>
              <a:srgbClr val="1B2440"/>
            </a:solidFill>
            <a:prstDash val="solid"/>
          </a:ln>
        </p:spPr>
      </p:sp>
      <p:pic>
        <p:nvPicPr>
          <p:cNvPr id="10" name="Consistency icon" descr="preencoded.png">    </p:cNvPr>
          <p:cNvPicPr>
            <a:picLocks noChangeAspect="1"/>
          </p:cNvPicPr>
          <p:nvPr/>
        </p:nvPicPr>
        <p:blipFill>
          <a:blip r:embed="rId2"/>
          <a:stretch>
            <a:fillRect/>
          </a:stretch>
        </p:blipFill>
        <p:spPr>
          <a:xfrm>
            <a:off x="4817059" y="1890979"/>
            <a:ext cx="332842" cy="332842"/>
          </a:xfrm>
          <a:prstGeom prst="rect">
            <a:avLst/>
          </a:prstGeom>
        </p:spPr>
      </p:pic>
      <p:sp>
        <p:nvSpPr>
          <p:cNvPr id="11" name="Text 7"/>
          <p:cNvSpPr txBox="1"/>
          <p:nvPr/>
        </p:nvSpPr>
        <p:spPr>
          <a:xfrm>
            <a:off x="4663440" y="2514600"/>
            <a:ext cx="2926080" cy="411480"/>
          </a:xfrm>
          <a:prstGeom prst="rect">
            <a:avLst/>
          </a:prstGeom>
          <a:noFill/>
          <a:ln/>
        </p:spPr>
        <p:txBody>
          <a:bodyPr wrap="square" lIns="0" tIns="0" rIns="0" bIns="0" rtlCol="0" anchor="t"/>
          <a:lstStyle/>
          <a:p>
            <a:pPr indent="0" marL="0">
              <a:buNone/>
            </a:pPr>
            <a:r>
              <a:rPr lang="en-US" sz="2000" b="1" dirty="0">
                <a:solidFill>
                  <a:srgbClr val="1B2440"/>
                </a:solidFill>
                <a:latin typeface="Cambria" pitchFamily="34" charset="0"/>
                <a:ea typeface="Cambria" pitchFamily="34" charset="-122"/>
                <a:cs typeface="Cambria" pitchFamily="34" charset="-120"/>
              </a:rPr>
              <a:t>Consistency</a:t>
            </a:r>
            <a:endParaRPr lang="en-US" sz="2000" dirty="0"/>
          </a:p>
        </p:txBody>
      </p:sp>
      <p:sp>
        <p:nvSpPr>
          <p:cNvPr id="12" name="Text 8"/>
          <p:cNvSpPr txBox="1"/>
          <p:nvPr/>
        </p:nvSpPr>
        <p:spPr>
          <a:xfrm>
            <a:off x="4663440" y="2971800"/>
            <a:ext cx="2926080" cy="9144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Different examiners, or one examiner late in a long session, can give different marks to the same answer.</a:t>
            </a:r>
            <a:endParaRPr lang="en-US" sz="1400" dirty="0"/>
          </a:p>
        </p:txBody>
      </p:sp>
      <p:sp>
        <p:nvSpPr>
          <p:cNvPr id="13" name="Feedback card"/>
          <p:cNvSpPr/>
          <p:nvPr/>
        </p:nvSpPr>
        <p:spPr>
          <a:xfrm>
            <a:off x="8138160" y="1463040"/>
            <a:ext cx="3520440" cy="2514600"/>
          </a:xfrm>
          <a:prstGeom prst="roundRect">
            <a:avLst>
              <a:gd name="adj" fmla="val 2909"/>
            </a:avLst>
          </a:prstGeom>
          <a:solidFill>
            <a:srgbClr val="F3F5F9"/>
          </a:solidFill>
          <a:ln w="12700">
            <a:solidFill>
              <a:srgbClr val="F3F5F9"/>
            </a:solidFill>
            <a:prstDash val="solid"/>
          </a:ln>
        </p:spPr>
      </p:sp>
      <p:sp>
        <p:nvSpPr>
          <p:cNvPr id="14" name="Feedback circle"/>
          <p:cNvSpPr/>
          <p:nvPr/>
        </p:nvSpPr>
        <p:spPr>
          <a:xfrm>
            <a:off x="8458200" y="1737360"/>
            <a:ext cx="640080" cy="640080"/>
          </a:xfrm>
          <a:prstGeom prst="ellipse">
            <a:avLst/>
          </a:prstGeom>
          <a:solidFill>
            <a:srgbClr val="1B2440"/>
          </a:solidFill>
          <a:ln w="12700">
            <a:solidFill>
              <a:srgbClr val="1B2440"/>
            </a:solidFill>
            <a:prstDash val="solid"/>
          </a:ln>
        </p:spPr>
      </p:sp>
      <p:pic>
        <p:nvPicPr>
          <p:cNvPr id="15" name="Feedback icon" descr="preencoded.png">    </p:cNvPr>
          <p:cNvPicPr>
            <a:picLocks noChangeAspect="1"/>
          </p:cNvPicPr>
          <p:nvPr/>
        </p:nvPicPr>
        <p:blipFill>
          <a:blip r:embed="rId3"/>
          <a:stretch>
            <a:fillRect/>
          </a:stretch>
        </p:blipFill>
        <p:spPr>
          <a:xfrm>
            <a:off x="8611819" y="1890979"/>
            <a:ext cx="332842" cy="332842"/>
          </a:xfrm>
          <a:prstGeom prst="rect">
            <a:avLst/>
          </a:prstGeom>
        </p:spPr>
      </p:pic>
      <p:sp>
        <p:nvSpPr>
          <p:cNvPr id="16" name="Text 11"/>
          <p:cNvSpPr txBox="1"/>
          <p:nvPr/>
        </p:nvSpPr>
        <p:spPr>
          <a:xfrm>
            <a:off x="8458200" y="2514600"/>
            <a:ext cx="2926080" cy="411480"/>
          </a:xfrm>
          <a:prstGeom prst="rect">
            <a:avLst/>
          </a:prstGeom>
          <a:noFill/>
          <a:ln/>
        </p:spPr>
        <p:txBody>
          <a:bodyPr wrap="square" lIns="0" tIns="0" rIns="0" bIns="0" rtlCol="0" anchor="t"/>
          <a:lstStyle/>
          <a:p>
            <a:pPr indent="0" marL="0">
              <a:buNone/>
            </a:pPr>
            <a:r>
              <a:rPr lang="en-US" sz="2000" b="1" dirty="0">
                <a:solidFill>
                  <a:srgbClr val="1B2440"/>
                </a:solidFill>
                <a:latin typeface="Cambria" pitchFamily="34" charset="0"/>
                <a:ea typeface="Cambria" pitchFamily="34" charset="-122"/>
                <a:cs typeface="Cambria" pitchFamily="34" charset="-120"/>
              </a:rPr>
              <a:t>Feedback</a:t>
            </a:r>
            <a:endParaRPr lang="en-US" sz="2000" dirty="0"/>
          </a:p>
        </p:txBody>
      </p:sp>
      <p:sp>
        <p:nvSpPr>
          <p:cNvPr id="17" name="Text 12"/>
          <p:cNvSpPr txBox="1"/>
          <p:nvPr/>
        </p:nvSpPr>
        <p:spPr>
          <a:xfrm>
            <a:off x="8458200" y="2971800"/>
            <a:ext cx="2926080" cy="9144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Students usually see a number, not which key points were missing from their answer.</a:t>
            </a:r>
            <a:endParaRPr lang="en-US" sz="1400" dirty="0"/>
          </a:p>
        </p:txBody>
      </p:sp>
      <p:sp>
        <p:nvSpPr>
          <p:cNvPr id="18" name="problem statement"/>
          <p:cNvSpPr/>
          <p:nvPr/>
        </p:nvSpPr>
        <p:spPr>
          <a:xfrm>
            <a:off x="548640" y="4343400"/>
            <a:ext cx="11064240" cy="1691640"/>
          </a:xfrm>
          <a:prstGeom prst="roundRect">
            <a:avLst>
              <a:gd name="adj" fmla="val 4324"/>
            </a:avLst>
          </a:prstGeom>
          <a:solidFill>
            <a:srgbClr val="1B2440"/>
          </a:solidFill>
          <a:ln w="12700">
            <a:solidFill>
              <a:srgbClr val="1B2440"/>
            </a:solidFill>
            <a:prstDash val="solid"/>
          </a:ln>
        </p:spPr>
      </p:sp>
      <p:sp>
        <p:nvSpPr>
          <p:cNvPr id="19" name="Text 14"/>
          <p:cNvSpPr txBox="1"/>
          <p:nvPr/>
        </p:nvSpPr>
        <p:spPr>
          <a:xfrm>
            <a:off x="914400" y="4553712"/>
            <a:ext cx="5486400" cy="274320"/>
          </a:xfrm>
          <a:prstGeom prst="rect">
            <a:avLst/>
          </a:prstGeom>
          <a:noFill/>
          <a:ln/>
        </p:spPr>
        <p:txBody>
          <a:bodyPr wrap="square" lIns="0" tIns="0" rIns="0" bIns="0" rtlCol="0" anchor="t"/>
          <a:lstStyle/>
          <a:p>
            <a:pPr indent="0" marL="0">
              <a:buNone/>
            </a:pPr>
            <a:r>
              <a:rPr lang="en-US" sz="1100" b="1" spc="200" kern="0" dirty="0">
                <a:solidFill>
                  <a:srgbClr val="8C97B3"/>
                </a:solidFill>
                <a:latin typeface="Calibri" pitchFamily="34" charset="0"/>
                <a:ea typeface="Calibri" pitchFamily="34" charset="-122"/>
                <a:cs typeface="Calibri" pitchFamily="34" charset="-120"/>
              </a:rPr>
              <a:t>PROBLEM STATEMENT</a:t>
            </a:r>
            <a:endParaRPr lang="en-US" sz="1100" dirty="0"/>
          </a:p>
        </p:txBody>
      </p:sp>
      <p:sp>
        <p:nvSpPr>
          <p:cNvPr id="20" name="Text 15"/>
          <p:cNvSpPr txBox="1"/>
          <p:nvPr/>
        </p:nvSpPr>
        <p:spPr>
          <a:xfrm>
            <a:off x="914400" y="4864608"/>
            <a:ext cx="10332720" cy="1051560"/>
          </a:xfrm>
          <a:prstGeom prst="rect">
            <a:avLst/>
          </a:prstGeom>
          <a:noFill/>
          <a:ln/>
        </p:spPr>
        <p:txBody>
          <a:bodyPr wrap="square" lIns="0" tIns="0" rIns="0" bIns="0" rtlCol="0" anchor="t"/>
          <a:lstStyle/>
          <a:p>
            <a:pPr indent="0" marL="0">
              <a:buNone/>
            </a:pPr>
            <a:r>
              <a:rPr lang="en-US" sz="1600" i="1" dirty="0">
                <a:solidFill>
                  <a:srgbClr val="FFFFFF"/>
                </a:solidFill>
                <a:latin typeface="Calibri" pitchFamily="34" charset="0"/>
                <a:ea typeface="Calibri" pitchFamily="34" charset="-122"/>
                <a:cs typeface="Calibri" pitchFamily="34" charset="-120"/>
              </a:rPr>
              <a:t>Manual evaluation of descriptive answers is time-consuming and may introduce inconsistency. This project proposes a deep-learning-based system that uses transformer-based semantic understanding and concept coverage to estimate marks and give constructive feedback.</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B2440"/>
                </a:solidFill>
                <a:latin typeface="Cambria" pitchFamily="34" charset="0"/>
                <a:ea typeface="Cambria" pitchFamily="34" charset="-122"/>
                <a:cs typeface="Cambria" pitchFamily="34" charset="-120"/>
              </a:rPr>
              <a:t>Project pipeline: from marked answers to a working app</a:t>
            </a:r>
            <a:endParaRPr lang="en-US" sz="3200" dirty="0"/>
          </a:p>
        </p:txBody>
      </p:sp>
      <p:sp>
        <p:nvSpPr>
          <p:cNvPr id="3" name="Collect data stage"/>
          <p:cNvSpPr/>
          <p:nvPr/>
        </p:nvSpPr>
        <p:spPr>
          <a:xfrm>
            <a:off x="548640" y="1463040"/>
            <a:ext cx="1426464" cy="3063240"/>
          </a:xfrm>
          <a:prstGeom prst="roundRect">
            <a:avLst>
              <a:gd name="adj" fmla="val 5128"/>
            </a:avLst>
          </a:prstGeom>
          <a:solidFill>
            <a:srgbClr val="F3F5F9"/>
          </a:solidFill>
          <a:ln w="12700">
            <a:solidFill>
              <a:srgbClr val="F3F5F9"/>
            </a:solidFill>
            <a:prstDash val="solid"/>
          </a:ln>
        </p:spPr>
      </p:sp>
      <p:sp>
        <p:nvSpPr>
          <p:cNvPr id="4" name="Collect data circle"/>
          <p:cNvSpPr/>
          <p:nvPr/>
        </p:nvSpPr>
        <p:spPr>
          <a:xfrm>
            <a:off x="978408" y="1691640"/>
            <a:ext cx="566928" cy="566928"/>
          </a:xfrm>
          <a:prstGeom prst="ellipse">
            <a:avLst/>
          </a:prstGeom>
          <a:solidFill>
            <a:srgbClr val="1B2440"/>
          </a:solidFill>
          <a:ln w="12700">
            <a:solidFill>
              <a:srgbClr val="1B2440"/>
            </a:solidFill>
            <a:prstDash val="solid"/>
          </a:ln>
        </p:spPr>
      </p:sp>
      <p:pic>
        <p:nvPicPr>
          <p:cNvPr id="5" name="Collect data icon" descr="preencoded.png">    </p:cNvPr>
          <p:cNvPicPr>
            <a:picLocks noChangeAspect="1"/>
          </p:cNvPicPr>
          <p:nvPr/>
        </p:nvPicPr>
        <p:blipFill>
          <a:blip r:embed="rId1"/>
          <a:stretch>
            <a:fillRect/>
          </a:stretch>
        </p:blipFill>
        <p:spPr>
          <a:xfrm>
            <a:off x="1114471" y="1827703"/>
            <a:ext cx="294803" cy="294803"/>
          </a:xfrm>
          <a:prstGeom prst="rect">
            <a:avLst/>
          </a:prstGeom>
        </p:spPr>
      </p:pic>
      <p:sp>
        <p:nvSpPr>
          <p:cNvPr id="6" name="Text 3"/>
          <p:cNvSpPr txBox="1"/>
          <p:nvPr/>
        </p:nvSpPr>
        <p:spPr>
          <a:xfrm>
            <a:off x="658368" y="1554480"/>
            <a:ext cx="365760" cy="274320"/>
          </a:xfrm>
          <a:prstGeom prst="rect">
            <a:avLst/>
          </a:prstGeom>
          <a:noFill/>
          <a:ln/>
        </p:spPr>
        <p:txBody>
          <a:bodyPr wrap="square" lIns="0" tIns="0" rIns="0" bIns="0" rtlCol="0" anchor="t"/>
          <a:lstStyle/>
          <a:p>
            <a:pPr indent="0" marL="0">
              <a:buNone/>
            </a:pPr>
            <a:r>
              <a:rPr lang="en-US" sz="1100" b="1" dirty="0">
                <a:solidFill>
                  <a:srgbClr val="5B6475"/>
                </a:solidFill>
                <a:latin typeface="Calibri" pitchFamily="34" charset="0"/>
                <a:ea typeface="Calibri" pitchFamily="34" charset="-122"/>
                <a:cs typeface="Calibri" pitchFamily="34" charset="-120"/>
              </a:rPr>
              <a:t>1</a:t>
            </a:r>
            <a:endParaRPr lang="en-US" sz="1100" dirty="0"/>
          </a:p>
        </p:txBody>
      </p:sp>
      <p:sp>
        <p:nvSpPr>
          <p:cNvPr id="7" name="Text 4"/>
          <p:cNvSpPr txBox="1"/>
          <p:nvPr/>
        </p:nvSpPr>
        <p:spPr>
          <a:xfrm>
            <a:off x="640080" y="2377440"/>
            <a:ext cx="1243584" cy="457200"/>
          </a:xfrm>
          <a:prstGeom prst="rect">
            <a:avLst/>
          </a:prstGeom>
          <a:noFill/>
          <a:ln/>
        </p:spPr>
        <p:txBody>
          <a:bodyPr wrap="square" lIns="0" tIns="0" rIns="0" bIns="0" rtlCol="0" anchor="ctr"/>
          <a:lstStyle/>
          <a:p>
            <a:pPr algn="ctr" indent="0" marL="0">
              <a:buNone/>
            </a:pPr>
            <a:r>
              <a:rPr lang="en-US" sz="1500" b="1" dirty="0">
                <a:solidFill>
                  <a:srgbClr val="1B2440"/>
                </a:solidFill>
                <a:latin typeface="Cambria" pitchFamily="34" charset="0"/>
                <a:ea typeface="Cambria" pitchFamily="34" charset="-122"/>
                <a:cs typeface="Cambria" pitchFamily="34" charset="-120"/>
              </a:rPr>
              <a:t>Collect data</a:t>
            </a:r>
            <a:endParaRPr lang="en-US" sz="1500" dirty="0"/>
          </a:p>
        </p:txBody>
      </p:sp>
      <p:sp>
        <p:nvSpPr>
          <p:cNvPr id="8" name="Text 5"/>
          <p:cNvSpPr txBox="1"/>
          <p:nvPr/>
        </p:nvSpPr>
        <p:spPr>
          <a:xfrm>
            <a:off x="658368" y="2880360"/>
            <a:ext cx="1207008" cy="114300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Questions, reference answers, rubrics and teacher-marked answers</a:t>
            </a:r>
            <a:endParaRPr lang="en-US" sz="1200" dirty="0"/>
          </a:p>
        </p:txBody>
      </p:sp>
      <p:sp>
        <p:nvSpPr>
          <p:cNvPr id="9" name="Text 6"/>
          <p:cNvSpPr txBox="1"/>
          <p:nvPr/>
        </p:nvSpPr>
        <p:spPr>
          <a:xfrm>
            <a:off x="594360" y="4114800"/>
            <a:ext cx="1335024" cy="274320"/>
          </a:xfrm>
          <a:prstGeom prst="rect">
            <a:avLst/>
          </a:prstGeom>
          <a:noFill/>
          <a:ln/>
        </p:spPr>
        <p:txBody>
          <a:bodyPr wrap="square" lIns="0" tIns="0" rIns="0" bIns="0" rtlCol="0" anchor="t"/>
          <a:lstStyle/>
          <a:p>
            <a:pPr algn="ctr" indent="0" marL="0">
              <a:buNone/>
            </a:pPr>
            <a:r>
              <a:rPr lang="en-US" sz="1000" dirty="0">
                <a:solidFill>
                  <a:srgbClr val="5B6475"/>
                </a:solidFill>
                <a:latin typeface="Courier New" pitchFamily="34" charset="0"/>
                <a:ea typeface="Courier New" pitchFamily="34" charset="-122"/>
                <a:cs typeface="Courier New" pitchFamily="34" charset="-120"/>
              </a:rPr>
              <a:t>data/</a:t>
            </a:r>
            <a:endParaRPr lang="en-US" sz="1000" dirty="0"/>
          </a:p>
        </p:txBody>
      </p:sp>
      <p:sp>
        <p:nvSpPr>
          <p:cNvPr id="10" name="Shape 7"/>
          <p:cNvSpPr/>
          <p:nvPr/>
        </p:nvSpPr>
        <p:spPr>
          <a:xfrm>
            <a:off x="1993392" y="2994660"/>
            <a:ext cx="141732" cy="914"/>
          </a:xfrm>
          <a:prstGeom prst="line">
            <a:avLst/>
          </a:prstGeom>
          <a:noFill/>
          <a:ln w="19050">
            <a:solidFill>
              <a:srgbClr val="1B2440"/>
            </a:solidFill>
            <a:prstDash val="solid"/>
            <a:tailEnd type="triangle"/>
          </a:ln>
        </p:spPr>
      </p:sp>
      <p:sp>
        <p:nvSpPr>
          <p:cNvPr id="11" name="Preprocess stage"/>
          <p:cNvSpPr/>
          <p:nvPr/>
        </p:nvSpPr>
        <p:spPr>
          <a:xfrm>
            <a:off x="2153412" y="1463040"/>
            <a:ext cx="1426464" cy="3063240"/>
          </a:xfrm>
          <a:prstGeom prst="roundRect">
            <a:avLst>
              <a:gd name="adj" fmla="val 5128"/>
            </a:avLst>
          </a:prstGeom>
          <a:solidFill>
            <a:srgbClr val="F3F5F9"/>
          </a:solidFill>
          <a:ln w="12700">
            <a:solidFill>
              <a:srgbClr val="F3F5F9"/>
            </a:solidFill>
            <a:prstDash val="solid"/>
          </a:ln>
        </p:spPr>
      </p:sp>
      <p:sp>
        <p:nvSpPr>
          <p:cNvPr id="12" name="Preprocess circle"/>
          <p:cNvSpPr/>
          <p:nvPr/>
        </p:nvSpPr>
        <p:spPr>
          <a:xfrm>
            <a:off x="2583180" y="1691640"/>
            <a:ext cx="566928" cy="566928"/>
          </a:xfrm>
          <a:prstGeom prst="ellipse">
            <a:avLst/>
          </a:prstGeom>
          <a:solidFill>
            <a:srgbClr val="1B2440"/>
          </a:solidFill>
          <a:ln w="12700">
            <a:solidFill>
              <a:srgbClr val="1B2440"/>
            </a:solidFill>
            <a:prstDash val="solid"/>
          </a:ln>
        </p:spPr>
      </p:sp>
      <p:pic>
        <p:nvPicPr>
          <p:cNvPr id="13" name="Preprocess icon" descr="preencoded.png">    </p:cNvPr>
          <p:cNvPicPr>
            <a:picLocks noChangeAspect="1"/>
          </p:cNvPicPr>
          <p:nvPr/>
        </p:nvPicPr>
        <p:blipFill>
          <a:blip r:embed="rId2"/>
          <a:stretch>
            <a:fillRect/>
          </a:stretch>
        </p:blipFill>
        <p:spPr>
          <a:xfrm>
            <a:off x="2719243" y="1827703"/>
            <a:ext cx="294803" cy="294803"/>
          </a:xfrm>
          <a:prstGeom prst="rect">
            <a:avLst/>
          </a:prstGeom>
        </p:spPr>
      </p:pic>
      <p:sp>
        <p:nvSpPr>
          <p:cNvPr id="14" name="Text 10"/>
          <p:cNvSpPr txBox="1"/>
          <p:nvPr/>
        </p:nvSpPr>
        <p:spPr>
          <a:xfrm>
            <a:off x="2263140" y="1554480"/>
            <a:ext cx="365760" cy="274320"/>
          </a:xfrm>
          <a:prstGeom prst="rect">
            <a:avLst/>
          </a:prstGeom>
          <a:noFill/>
          <a:ln/>
        </p:spPr>
        <p:txBody>
          <a:bodyPr wrap="square" lIns="0" tIns="0" rIns="0" bIns="0" rtlCol="0" anchor="t"/>
          <a:lstStyle/>
          <a:p>
            <a:pPr indent="0" marL="0">
              <a:buNone/>
            </a:pPr>
            <a:r>
              <a:rPr lang="en-US" sz="1100" b="1" dirty="0">
                <a:solidFill>
                  <a:srgbClr val="5B6475"/>
                </a:solidFill>
                <a:latin typeface="Calibri" pitchFamily="34" charset="0"/>
                <a:ea typeface="Calibri" pitchFamily="34" charset="-122"/>
                <a:cs typeface="Calibri" pitchFamily="34" charset="-120"/>
              </a:rPr>
              <a:t>2</a:t>
            </a:r>
            <a:endParaRPr lang="en-US" sz="1100" dirty="0"/>
          </a:p>
        </p:txBody>
      </p:sp>
      <p:sp>
        <p:nvSpPr>
          <p:cNvPr id="15" name="Text 11"/>
          <p:cNvSpPr txBox="1"/>
          <p:nvPr/>
        </p:nvSpPr>
        <p:spPr>
          <a:xfrm>
            <a:off x="2244852" y="2377440"/>
            <a:ext cx="1243584" cy="457200"/>
          </a:xfrm>
          <a:prstGeom prst="rect">
            <a:avLst/>
          </a:prstGeom>
          <a:noFill/>
          <a:ln/>
        </p:spPr>
        <p:txBody>
          <a:bodyPr wrap="square" lIns="0" tIns="0" rIns="0" bIns="0" rtlCol="0" anchor="ctr"/>
          <a:lstStyle/>
          <a:p>
            <a:pPr algn="ctr" indent="0" marL="0">
              <a:buNone/>
            </a:pPr>
            <a:r>
              <a:rPr lang="en-US" sz="1500" b="1" dirty="0">
                <a:solidFill>
                  <a:srgbClr val="1B2440"/>
                </a:solidFill>
                <a:latin typeface="Cambria" pitchFamily="34" charset="0"/>
                <a:ea typeface="Cambria" pitchFamily="34" charset="-122"/>
                <a:cs typeface="Cambria" pitchFamily="34" charset="-120"/>
              </a:rPr>
              <a:t>Preprocess</a:t>
            </a:r>
            <a:endParaRPr lang="en-US" sz="1500" dirty="0"/>
          </a:p>
        </p:txBody>
      </p:sp>
      <p:sp>
        <p:nvSpPr>
          <p:cNvPr id="16" name="Text 12"/>
          <p:cNvSpPr txBox="1"/>
          <p:nvPr/>
        </p:nvSpPr>
        <p:spPr>
          <a:xfrm>
            <a:off x="2263140" y="2880360"/>
            <a:ext cx="1207008" cy="114300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Normalise text, split sentences, stem words</a:t>
            </a:r>
            <a:endParaRPr lang="en-US" sz="1200" dirty="0"/>
          </a:p>
        </p:txBody>
      </p:sp>
      <p:sp>
        <p:nvSpPr>
          <p:cNvPr id="17" name="Text 13"/>
          <p:cNvSpPr txBox="1"/>
          <p:nvPr/>
        </p:nvSpPr>
        <p:spPr>
          <a:xfrm>
            <a:off x="2199132" y="4114800"/>
            <a:ext cx="1335024" cy="274320"/>
          </a:xfrm>
          <a:prstGeom prst="rect">
            <a:avLst/>
          </a:prstGeom>
          <a:noFill/>
          <a:ln/>
        </p:spPr>
        <p:txBody>
          <a:bodyPr wrap="square" lIns="0" tIns="0" rIns="0" bIns="0" rtlCol="0" anchor="t"/>
          <a:lstStyle/>
          <a:p>
            <a:pPr algn="ctr" indent="0" marL="0">
              <a:buNone/>
            </a:pPr>
            <a:r>
              <a:rPr lang="en-US" sz="1000" dirty="0">
                <a:solidFill>
                  <a:srgbClr val="5B6475"/>
                </a:solidFill>
                <a:latin typeface="Courier New" pitchFamily="34" charset="0"/>
                <a:ea typeface="Courier New" pitchFamily="34" charset="-122"/>
                <a:cs typeface="Courier New" pitchFamily="34" charset="-120"/>
              </a:rPr>
              <a:t>text_utils.py</a:t>
            </a:r>
            <a:endParaRPr lang="en-US" sz="1000" dirty="0"/>
          </a:p>
        </p:txBody>
      </p:sp>
      <p:sp>
        <p:nvSpPr>
          <p:cNvPr id="18" name="Shape 14"/>
          <p:cNvSpPr/>
          <p:nvPr/>
        </p:nvSpPr>
        <p:spPr>
          <a:xfrm>
            <a:off x="3598164" y="2994660"/>
            <a:ext cx="141732" cy="914"/>
          </a:xfrm>
          <a:prstGeom prst="line">
            <a:avLst/>
          </a:prstGeom>
          <a:noFill/>
          <a:ln w="19050">
            <a:solidFill>
              <a:srgbClr val="1B2440"/>
            </a:solidFill>
            <a:prstDash val="solid"/>
            <a:tailEnd type="triangle"/>
          </a:ln>
        </p:spPr>
      </p:sp>
      <p:sp>
        <p:nvSpPr>
          <p:cNvPr id="19" name="Embed stage"/>
          <p:cNvSpPr/>
          <p:nvPr/>
        </p:nvSpPr>
        <p:spPr>
          <a:xfrm>
            <a:off x="3758184" y="1463040"/>
            <a:ext cx="1426464" cy="3063240"/>
          </a:xfrm>
          <a:prstGeom prst="roundRect">
            <a:avLst>
              <a:gd name="adj" fmla="val 5128"/>
            </a:avLst>
          </a:prstGeom>
          <a:solidFill>
            <a:srgbClr val="1B2440"/>
          </a:solidFill>
          <a:ln w="12700">
            <a:solidFill>
              <a:srgbClr val="1B2440"/>
            </a:solidFill>
            <a:prstDash val="solid"/>
          </a:ln>
        </p:spPr>
      </p:sp>
      <p:sp>
        <p:nvSpPr>
          <p:cNvPr id="20" name="Embed circle"/>
          <p:cNvSpPr/>
          <p:nvPr/>
        </p:nvSpPr>
        <p:spPr>
          <a:xfrm>
            <a:off x="4187952" y="1691640"/>
            <a:ext cx="566928" cy="566928"/>
          </a:xfrm>
          <a:prstGeom prst="ellipse">
            <a:avLst/>
          </a:prstGeom>
          <a:solidFill>
            <a:srgbClr val="C8414F"/>
          </a:solidFill>
          <a:ln w="12700">
            <a:solidFill>
              <a:srgbClr val="C8414F"/>
            </a:solidFill>
            <a:prstDash val="solid"/>
          </a:ln>
        </p:spPr>
      </p:sp>
      <p:pic>
        <p:nvPicPr>
          <p:cNvPr id="21" name="Embed icon" descr="preencoded.png">    </p:cNvPr>
          <p:cNvPicPr>
            <a:picLocks noChangeAspect="1"/>
          </p:cNvPicPr>
          <p:nvPr/>
        </p:nvPicPr>
        <p:blipFill>
          <a:blip r:embed="rId3"/>
          <a:stretch>
            <a:fillRect/>
          </a:stretch>
        </p:blipFill>
        <p:spPr>
          <a:xfrm>
            <a:off x="4324015" y="1827703"/>
            <a:ext cx="294803" cy="294803"/>
          </a:xfrm>
          <a:prstGeom prst="rect">
            <a:avLst/>
          </a:prstGeom>
        </p:spPr>
      </p:pic>
      <p:sp>
        <p:nvSpPr>
          <p:cNvPr id="22" name="Text 17"/>
          <p:cNvSpPr txBox="1"/>
          <p:nvPr/>
        </p:nvSpPr>
        <p:spPr>
          <a:xfrm>
            <a:off x="3867912" y="1554480"/>
            <a:ext cx="365760" cy="274320"/>
          </a:xfrm>
          <a:prstGeom prst="rect">
            <a:avLst/>
          </a:prstGeom>
          <a:noFill/>
          <a:ln/>
        </p:spPr>
        <p:txBody>
          <a:bodyPr wrap="square" lIns="0" tIns="0" rIns="0" bIns="0" rtlCol="0" anchor="t"/>
          <a:lstStyle/>
          <a:p>
            <a:pPr indent="0" marL="0">
              <a:buNone/>
            </a:pPr>
            <a:r>
              <a:rPr lang="en-US" sz="1100" b="1" dirty="0">
                <a:solidFill>
                  <a:srgbClr val="8C97B3"/>
                </a:solidFill>
                <a:latin typeface="Calibri" pitchFamily="34" charset="0"/>
                <a:ea typeface="Calibri" pitchFamily="34" charset="-122"/>
                <a:cs typeface="Calibri" pitchFamily="34" charset="-120"/>
              </a:rPr>
              <a:t>3</a:t>
            </a:r>
            <a:endParaRPr lang="en-US" sz="1100" dirty="0"/>
          </a:p>
        </p:txBody>
      </p:sp>
      <p:sp>
        <p:nvSpPr>
          <p:cNvPr id="23" name="Text 18"/>
          <p:cNvSpPr txBox="1"/>
          <p:nvPr/>
        </p:nvSpPr>
        <p:spPr>
          <a:xfrm>
            <a:off x="3849624" y="2377440"/>
            <a:ext cx="1243584"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Embed</a:t>
            </a:r>
            <a:endParaRPr lang="en-US" sz="1500" dirty="0"/>
          </a:p>
        </p:txBody>
      </p:sp>
      <p:sp>
        <p:nvSpPr>
          <p:cNvPr id="24" name="Text 19"/>
          <p:cNvSpPr txBox="1"/>
          <p:nvPr/>
        </p:nvSpPr>
        <p:spPr>
          <a:xfrm>
            <a:off x="3867912" y="2880360"/>
            <a:ext cx="1207008" cy="1143000"/>
          </a:xfrm>
          <a:prstGeom prst="rect">
            <a:avLst/>
          </a:prstGeom>
          <a:noFill/>
          <a:ln/>
        </p:spPr>
        <p:txBody>
          <a:bodyPr wrap="square" lIns="0" tIns="0" rIns="0" bIns="0" rtlCol="0" anchor="t"/>
          <a:lstStyle/>
          <a:p>
            <a:pPr algn="ctr" indent="0" marL="0">
              <a:buNone/>
            </a:pPr>
            <a:r>
              <a:rPr lang="en-US" sz="1200" dirty="0">
                <a:solidFill>
                  <a:srgbClr val="D7DDEA"/>
                </a:solidFill>
                <a:latin typeface="Calibri" pitchFamily="34" charset="0"/>
                <a:ea typeface="Calibri" pitchFamily="34" charset="-122"/>
                <a:cs typeface="Calibri" pitchFamily="34" charset="-120"/>
              </a:rPr>
              <a:t>Sentence-BERT encodes answers, sentences and concepts</a:t>
            </a:r>
            <a:endParaRPr lang="en-US" sz="1200" dirty="0"/>
          </a:p>
        </p:txBody>
      </p:sp>
      <p:sp>
        <p:nvSpPr>
          <p:cNvPr id="25" name="Text 20"/>
          <p:cNvSpPr txBox="1"/>
          <p:nvPr/>
        </p:nvSpPr>
        <p:spPr>
          <a:xfrm>
            <a:off x="3803904" y="4114800"/>
            <a:ext cx="1335024" cy="274320"/>
          </a:xfrm>
          <a:prstGeom prst="rect">
            <a:avLst/>
          </a:prstGeom>
          <a:noFill/>
          <a:ln/>
        </p:spPr>
        <p:txBody>
          <a:bodyPr wrap="square" lIns="0" tIns="0" rIns="0" bIns="0" rtlCol="0" anchor="t"/>
          <a:lstStyle/>
          <a:p>
            <a:pPr algn="ctr" indent="0" marL="0">
              <a:buNone/>
            </a:pPr>
            <a:r>
              <a:rPr lang="en-US" sz="1000" dirty="0">
                <a:solidFill>
                  <a:srgbClr val="C9D2E6"/>
                </a:solidFill>
                <a:latin typeface="Courier New" pitchFamily="34" charset="0"/>
                <a:ea typeface="Courier New" pitchFamily="34" charset="-122"/>
                <a:cs typeface="Courier New" pitchFamily="34" charset="-120"/>
              </a:rPr>
              <a:t>embedder.py</a:t>
            </a:r>
            <a:endParaRPr lang="en-US" sz="1000" dirty="0"/>
          </a:p>
        </p:txBody>
      </p:sp>
      <p:sp>
        <p:nvSpPr>
          <p:cNvPr id="26" name="Shape 21"/>
          <p:cNvSpPr/>
          <p:nvPr/>
        </p:nvSpPr>
        <p:spPr>
          <a:xfrm>
            <a:off x="5202936" y="2994660"/>
            <a:ext cx="141732" cy="914"/>
          </a:xfrm>
          <a:prstGeom prst="line">
            <a:avLst/>
          </a:prstGeom>
          <a:noFill/>
          <a:ln w="19050">
            <a:solidFill>
              <a:srgbClr val="1B2440"/>
            </a:solidFill>
            <a:prstDash val="solid"/>
            <a:tailEnd type="triangle"/>
          </a:ln>
        </p:spPr>
      </p:sp>
      <p:sp>
        <p:nvSpPr>
          <p:cNvPr id="27" name="Extract features stage"/>
          <p:cNvSpPr/>
          <p:nvPr/>
        </p:nvSpPr>
        <p:spPr>
          <a:xfrm>
            <a:off x="5362956" y="1463040"/>
            <a:ext cx="1426464" cy="3063240"/>
          </a:xfrm>
          <a:prstGeom prst="roundRect">
            <a:avLst>
              <a:gd name="adj" fmla="val 5128"/>
            </a:avLst>
          </a:prstGeom>
          <a:solidFill>
            <a:srgbClr val="F3F5F9"/>
          </a:solidFill>
          <a:ln w="12700">
            <a:solidFill>
              <a:srgbClr val="F3F5F9"/>
            </a:solidFill>
            <a:prstDash val="solid"/>
          </a:ln>
        </p:spPr>
      </p:sp>
      <p:sp>
        <p:nvSpPr>
          <p:cNvPr id="28" name="Extract features circle"/>
          <p:cNvSpPr/>
          <p:nvPr/>
        </p:nvSpPr>
        <p:spPr>
          <a:xfrm>
            <a:off x="5792724" y="1691640"/>
            <a:ext cx="566928" cy="566928"/>
          </a:xfrm>
          <a:prstGeom prst="ellipse">
            <a:avLst/>
          </a:prstGeom>
          <a:solidFill>
            <a:srgbClr val="1B2440"/>
          </a:solidFill>
          <a:ln w="12700">
            <a:solidFill>
              <a:srgbClr val="1B2440"/>
            </a:solidFill>
            <a:prstDash val="solid"/>
          </a:ln>
        </p:spPr>
      </p:sp>
      <p:pic>
        <p:nvPicPr>
          <p:cNvPr id="29" name="Extract features icon" descr="preencoded.png">    </p:cNvPr>
          <p:cNvPicPr>
            <a:picLocks noChangeAspect="1"/>
          </p:cNvPicPr>
          <p:nvPr/>
        </p:nvPicPr>
        <p:blipFill>
          <a:blip r:embed="rId4"/>
          <a:stretch>
            <a:fillRect/>
          </a:stretch>
        </p:blipFill>
        <p:spPr>
          <a:xfrm>
            <a:off x="5928787" y="1827703"/>
            <a:ext cx="294803" cy="294803"/>
          </a:xfrm>
          <a:prstGeom prst="rect">
            <a:avLst/>
          </a:prstGeom>
        </p:spPr>
      </p:pic>
      <p:sp>
        <p:nvSpPr>
          <p:cNvPr id="30" name="Text 24"/>
          <p:cNvSpPr txBox="1"/>
          <p:nvPr/>
        </p:nvSpPr>
        <p:spPr>
          <a:xfrm>
            <a:off x="5472684" y="1554480"/>
            <a:ext cx="365760" cy="274320"/>
          </a:xfrm>
          <a:prstGeom prst="rect">
            <a:avLst/>
          </a:prstGeom>
          <a:noFill/>
          <a:ln/>
        </p:spPr>
        <p:txBody>
          <a:bodyPr wrap="square" lIns="0" tIns="0" rIns="0" bIns="0" rtlCol="0" anchor="t"/>
          <a:lstStyle/>
          <a:p>
            <a:pPr indent="0" marL="0">
              <a:buNone/>
            </a:pPr>
            <a:r>
              <a:rPr lang="en-US" sz="1100" b="1" dirty="0">
                <a:solidFill>
                  <a:srgbClr val="5B6475"/>
                </a:solidFill>
                <a:latin typeface="Calibri" pitchFamily="34" charset="0"/>
                <a:ea typeface="Calibri" pitchFamily="34" charset="-122"/>
                <a:cs typeface="Calibri" pitchFamily="34" charset="-120"/>
              </a:rPr>
              <a:t>4</a:t>
            </a:r>
            <a:endParaRPr lang="en-US" sz="1100" dirty="0"/>
          </a:p>
        </p:txBody>
      </p:sp>
      <p:sp>
        <p:nvSpPr>
          <p:cNvPr id="31" name="Text 25"/>
          <p:cNvSpPr txBox="1"/>
          <p:nvPr/>
        </p:nvSpPr>
        <p:spPr>
          <a:xfrm>
            <a:off x="5454396" y="2377440"/>
            <a:ext cx="1243584" cy="457200"/>
          </a:xfrm>
          <a:prstGeom prst="rect">
            <a:avLst/>
          </a:prstGeom>
          <a:noFill/>
          <a:ln/>
        </p:spPr>
        <p:txBody>
          <a:bodyPr wrap="square" lIns="0" tIns="0" rIns="0" bIns="0" rtlCol="0" anchor="ctr"/>
          <a:lstStyle/>
          <a:p>
            <a:pPr algn="ctr" indent="0" marL="0">
              <a:buNone/>
            </a:pPr>
            <a:r>
              <a:rPr lang="en-US" sz="1500" b="1" dirty="0">
                <a:solidFill>
                  <a:srgbClr val="1B2440"/>
                </a:solidFill>
                <a:latin typeface="Cambria" pitchFamily="34" charset="0"/>
                <a:ea typeface="Cambria" pitchFamily="34" charset="-122"/>
                <a:cs typeface="Cambria" pitchFamily="34" charset="-120"/>
              </a:rPr>
              <a:t>Extract features</a:t>
            </a:r>
            <a:endParaRPr lang="en-US" sz="1500" dirty="0"/>
          </a:p>
        </p:txBody>
      </p:sp>
      <p:sp>
        <p:nvSpPr>
          <p:cNvPr id="32" name="Text 26"/>
          <p:cNvSpPr txBox="1"/>
          <p:nvPr/>
        </p:nvSpPr>
        <p:spPr>
          <a:xfrm>
            <a:off x="5472684" y="2880360"/>
            <a:ext cx="1207008" cy="114300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Similarity, concept coverage, completeness, length</a:t>
            </a:r>
            <a:endParaRPr lang="en-US" sz="1200" dirty="0"/>
          </a:p>
        </p:txBody>
      </p:sp>
      <p:sp>
        <p:nvSpPr>
          <p:cNvPr id="33" name="Text 27"/>
          <p:cNvSpPr txBox="1"/>
          <p:nvPr/>
        </p:nvSpPr>
        <p:spPr>
          <a:xfrm>
            <a:off x="5408676" y="4114800"/>
            <a:ext cx="1335024" cy="274320"/>
          </a:xfrm>
          <a:prstGeom prst="rect">
            <a:avLst/>
          </a:prstGeom>
          <a:noFill/>
          <a:ln/>
        </p:spPr>
        <p:txBody>
          <a:bodyPr wrap="square" lIns="0" tIns="0" rIns="0" bIns="0" rtlCol="0" anchor="t"/>
          <a:lstStyle/>
          <a:p>
            <a:pPr algn="ctr" indent="0" marL="0">
              <a:buNone/>
            </a:pPr>
            <a:r>
              <a:rPr lang="en-US" sz="1000" dirty="0">
                <a:solidFill>
                  <a:srgbClr val="5B6475"/>
                </a:solidFill>
                <a:latin typeface="Courier New" pitchFamily="34" charset="0"/>
                <a:ea typeface="Courier New" pitchFamily="34" charset="-122"/>
                <a:cs typeface="Courier New" pitchFamily="34" charset="-120"/>
              </a:rPr>
              <a:t>core.py</a:t>
            </a:r>
            <a:endParaRPr lang="en-US" sz="1000" dirty="0"/>
          </a:p>
        </p:txBody>
      </p:sp>
      <p:sp>
        <p:nvSpPr>
          <p:cNvPr id="34" name="Shape 28"/>
          <p:cNvSpPr/>
          <p:nvPr/>
        </p:nvSpPr>
        <p:spPr>
          <a:xfrm>
            <a:off x="6807708" y="2994660"/>
            <a:ext cx="141732" cy="914"/>
          </a:xfrm>
          <a:prstGeom prst="line">
            <a:avLst/>
          </a:prstGeom>
          <a:noFill/>
          <a:ln w="19050">
            <a:solidFill>
              <a:srgbClr val="1B2440"/>
            </a:solidFill>
            <a:prstDash val="solid"/>
            <a:tailEnd type="triangle"/>
          </a:ln>
        </p:spPr>
      </p:sp>
      <p:sp>
        <p:nvSpPr>
          <p:cNvPr id="35" name="Train scorer stage"/>
          <p:cNvSpPr/>
          <p:nvPr/>
        </p:nvSpPr>
        <p:spPr>
          <a:xfrm>
            <a:off x="6967728" y="1463040"/>
            <a:ext cx="1426464" cy="3063240"/>
          </a:xfrm>
          <a:prstGeom prst="roundRect">
            <a:avLst>
              <a:gd name="adj" fmla="val 5128"/>
            </a:avLst>
          </a:prstGeom>
          <a:solidFill>
            <a:srgbClr val="1B2440"/>
          </a:solidFill>
          <a:ln w="12700">
            <a:solidFill>
              <a:srgbClr val="1B2440"/>
            </a:solidFill>
            <a:prstDash val="solid"/>
          </a:ln>
        </p:spPr>
      </p:sp>
      <p:sp>
        <p:nvSpPr>
          <p:cNvPr id="36" name="Train scorer circle"/>
          <p:cNvSpPr/>
          <p:nvPr/>
        </p:nvSpPr>
        <p:spPr>
          <a:xfrm>
            <a:off x="7397496" y="1691640"/>
            <a:ext cx="566928" cy="566928"/>
          </a:xfrm>
          <a:prstGeom prst="ellipse">
            <a:avLst/>
          </a:prstGeom>
          <a:solidFill>
            <a:srgbClr val="C8414F"/>
          </a:solidFill>
          <a:ln w="12700">
            <a:solidFill>
              <a:srgbClr val="C8414F"/>
            </a:solidFill>
            <a:prstDash val="solid"/>
          </a:ln>
        </p:spPr>
      </p:sp>
      <p:pic>
        <p:nvPicPr>
          <p:cNvPr id="37" name="Train scorer icon" descr="preencoded.png">    </p:cNvPr>
          <p:cNvPicPr>
            <a:picLocks noChangeAspect="1"/>
          </p:cNvPicPr>
          <p:nvPr/>
        </p:nvPicPr>
        <p:blipFill>
          <a:blip r:embed="rId5"/>
          <a:stretch>
            <a:fillRect/>
          </a:stretch>
        </p:blipFill>
        <p:spPr>
          <a:xfrm>
            <a:off x="7533559" y="1827703"/>
            <a:ext cx="294803" cy="294803"/>
          </a:xfrm>
          <a:prstGeom prst="rect">
            <a:avLst/>
          </a:prstGeom>
        </p:spPr>
      </p:pic>
      <p:sp>
        <p:nvSpPr>
          <p:cNvPr id="38" name="Text 31"/>
          <p:cNvSpPr txBox="1"/>
          <p:nvPr/>
        </p:nvSpPr>
        <p:spPr>
          <a:xfrm>
            <a:off x="7077456" y="1554480"/>
            <a:ext cx="365760" cy="274320"/>
          </a:xfrm>
          <a:prstGeom prst="rect">
            <a:avLst/>
          </a:prstGeom>
          <a:noFill/>
          <a:ln/>
        </p:spPr>
        <p:txBody>
          <a:bodyPr wrap="square" lIns="0" tIns="0" rIns="0" bIns="0" rtlCol="0" anchor="t"/>
          <a:lstStyle/>
          <a:p>
            <a:pPr indent="0" marL="0">
              <a:buNone/>
            </a:pPr>
            <a:r>
              <a:rPr lang="en-US" sz="1100" b="1" dirty="0">
                <a:solidFill>
                  <a:srgbClr val="8C97B3"/>
                </a:solidFill>
                <a:latin typeface="Calibri" pitchFamily="34" charset="0"/>
                <a:ea typeface="Calibri" pitchFamily="34" charset="-122"/>
                <a:cs typeface="Calibri" pitchFamily="34" charset="-120"/>
              </a:rPr>
              <a:t>5</a:t>
            </a:r>
            <a:endParaRPr lang="en-US" sz="1100" dirty="0"/>
          </a:p>
        </p:txBody>
      </p:sp>
      <p:sp>
        <p:nvSpPr>
          <p:cNvPr id="39" name="Text 32"/>
          <p:cNvSpPr txBox="1"/>
          <p:nvPr/>
        </p:nvSpPr>
        <p:spPr>
          <a:xfrm>
            <a:off x="7059168" y="2377440"/>
            <a:ext cx="1243584"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Train scorer</a:t>
            </a:r>
            <a:endParaRPr lang="en-US" sz="1500" dirty="0"/>
          </a:p>
        </p:txBody>
      </p:sp>
      <p:sp>
        <p:nvSpPr>
          <p:cNvPr id="40" name="Text 33"/>
          <p:cNvSpPr txBox="1"/>
          <p:nvPr/>
        </p:nvSpPr>
        <p:spPr>
          <a:xfrm>
            <a:off x="7077456" y="2880360"/>
            <a:ext cx="1207008" cy="1143000"/>
          </a:xfrm>
          <a:prstGeom prst="rect">
            <a:avLst/>
          </a:prstGeom>
          <a:noFill/>
          <a:ln/>
        </p:spPr>
        <p:txBody>
          <a:bodyPr wrap="square" lIns="0" tIns="0" rIns="0" bIns="0" rtlCol="0" anchor="t"/>
          <a:lstStyle/>
          <a:p>
            <a:pPr algn="ctr" indent="0" marL="0">
              <a:buNone/>
            </a:pPr>
            <a:r>
              <a:rPr lang="en-US" sz="1200" dirty="0">
                <a:solidFill>
                  <a:srgbClr val="D7DDEA"/>
                </a:solidFill>
                <a:latin typeface="Calibri" pitchFamily="34" charset="0"/>
                <a:ea typeface="Calibri" pitchFamily="34" charset="-122"/>
                <a:cs typeface="Calibri" pitchFamily="34" charset="-120"/>
              </a:rPr>
              <a:t>Regressors learn from teacher marks, one question held out</a:t>
            </a:r>
            <a:endParaRPr lang="en-US" sz="1200" dirty="0"/>
          </a:p>
        </p:txBody>
      </p:sp>
      <p:sp>
        <p:nvSpPr>
          <p:cNvPr id="41" name="Text 34"/>
          <p:cNvSpPr txBox="1"/>
          <p:nvPr/>
        </p:nvSpPr>
        <p:spPr>
          <a:xfrm>
            <a:off x="7013448" y="4114800"/>
            <a:ext cx="1335024" cy="274320"/>
          </a:xfrm>
          <a:prstGeom prst="rect">
            <a:avLst/>
          </a:prstGeom>
          <a:noFill/>
          <a:ln/>
        </p:spPr>
        <p:txBody>
          <a:bodyPr wrap="square" lIns="0" tIns="0" rIns="0" bIns="0" rtlCol="0" anchor="t"/>
          <a:lstStyle/>
          <a:p>
            <a:pPr algn="ctr" indent="0" marL="0">
              <a:buNone/>
            </a:pPr>
            <a:r>
              <a:rPr lang="en-US" sz="1000" dirty="0">
                <a:solidFill>
                  <a:srgbClr val="C9D2E6"/>
                </a:solidFill>
                <a:latin typeface="Courier New" pitchFamily="34" charset="0"/>
                <a:ea typeface="Courier New" pitchFamily="34" charset="-122"/>
                <a:cs typeface="Courier New" pitchFamily="34" charset="-120"/>
              </a:rPr>
              <a:t>train.py</a:t>
            </a:r>
            <a:endParaRPr lang="en-US" sz="1000" dirty="0"/>
          </a:p>
        </p:txBody>
      </p:sp>
      <p:sp>
        <p:nvSpPr>
          <p:cNvPr id="42" name="Shape 35"/>
          <p:cNvSpPr/>
          <p:nvPr/>
        </p:nvSpPr>
        <p:spPr>
          <a:xfrm>
            <a:off x="8412480" y="2994660"/>
            <a:ext cx="141732" cy="914"/>
          </a:xfrm>
          <a:prstGeom prst="line">
            <a:avLst/>
          </a:prstGeom>
          <a:noFill/>
          <a:ln w="19050">
            <a:solidFill>
              <a:srgbClr val="1B2440"/>
            </a:solidFill>
            <a:prstDash val="solid"/>
            <a:tailEnd type="triangle"/>
          </a:ln>
        </p:spPr>
      </p:sp>
      <p:sp>
        <p:nvSpPr>
          <p:cNvPr id="43" name="Evaluate stage"/>
          <p:cNvSpPr/>
          <p:nvPr/>
        </p:nvSpPr>
        <p:spPr>
          <a:xfrm>
            <a:off x="8572500" y="1463040"/>
            <a:ext cx="1426464" cy="3063240"/>
          </a:xfrm>
          <a:prstGeom prst="roundRect">
            <a:avLst>
              <a:gd name="adj" fmla="val 5128"/>
            </a:avLst>
          </a:prstGeom>
          <a:solidFill>
            <a:srgbClr val="F3F5F9"/>
          </a:solidFill>
          <a:ln w="12700">
            <a:solidFill>
              <a:srgbClr val="F3F5F9"/>
            </a:solidFill>
            <a:prstDash val="solid"/>
          </a:ln>
        </p:spPr>
      </p:sp>
      <p:sp>
        <p:nvSpPr>
          <p:cNvPr id="44" name="Evaluate circle"/>
          <p:cNvSpPr/>
          <p:nvPr/>
        </p:nvSpPr>
        <p:spPr>
          <a:xfrm>
            <a:off x="9002268" y="1691640"/>
            <a:ext cx="566928" cy="566928"/>
          </a:xfrm>
          <a:prstGeom prst="ellipse">
            <a:avLst/>
          </a:prstGeom>
          <a:solidFill>
            <a:srgbClr val="1B2440"/>
          </a:solidFill>
          <a:ln w="12700">
            <a:solidFill>
              <a:srgbClr val="1B2440"/>
            </a:solidFill>
            <a:prstDash val="solid"/>
          </a:ln>
        </p:spPr>
      </p:sp>
      <p:pic>
        <p:nvPicPr>
          <p:cNvPr id="45" name="Evaluate icon" descr="preencoded.png">    </p:cNvPr>
          <p:cNvPicPr>
            <a:picLocks noChangeAspect="1"/>
          </p:cNvPicPr>
          <p:nvPr/>
        </p:nvPicPr>
        <p:blipFill>
          <a:blip r:embed="rId6"/>
          <a:stretch>
            <a:fillRect/>
          </a:stretch>
        </p:blipFill>
        <p:spPr>
          <a:xfrm>
            <a:off x="9138331" y="1827703"/>
            <a:ext cx="294803" cy="294803"/>
          </a:xfrm>
          <a:prstGeom prst="rect">
            <a:avLst/>
          </a:prstGeom>
        </p:spPr>
      </p:pic>
      <p:sp>
        <p:nvSpPr>
          <p:cNvPr id="46" name="Text 38"/>
          <p:cNvSpPr txBox="1"/>
          <p:nvPr/>
        </p:nvSpPr>
        <p:spPr>
          <a:xfrm>
            <a:off x="8682228" y="1554480"/>
            <a:ext cx="365760" cy="274320"/>
          </a:xfrm>
          <a:prstGeom prst="rect">
            <a:avLst/>
          </a:prstGeom>
          <a:noFill/>
          <a:ln/>
        </p:spPr>
        <p:txBody>
          <a:bodyPr wrap="square" lIns="0" tIns="0" rIns="0" bIns="0" rtlCol="0" anchor="t"/>
          <a:lstStyle/>
          <a:p>
            <a:pPr indent="0" marL="0">
              <a:buNone/>
            </a:pPr>
            <a:r>
              <a:rPr lang="en-US" sz="1100" b="1" dirty="0">
                <a:solidFill>
                  <a:srgbClr val="5B6475"/>
                </a:solidFill>
                <a:latin typeface="Calibri" pitchFamily="34" charset="0"/>
                <a:ea typeface="Calibri" pitchFamily="34" charset="-122"/>
                <a:cs typeface="Calibri" pitchFamily="34" charset="-120"/>
              </a:rPr>
              <a:t>6</a:t>
            </a:r>
            <a:endParaRPr lang="en-US" sz="1100" dirty="0"/>
          </a:p>
        </p:txBody>
      </p:sp>
      <p:sp>
        <p:nvSpPr>
          <p:cNvPr id="47" name="Text 39"/>
          <p:cNvSpPr txBox="1"/>
          <p:nvPr/>
        </p:nvSpPr>
        <p:spPr>
          <a:xfrm>
            <a:off x="8663940" y="2377440"/>
            <a:ext cx="1243584" cy="457200"/>
          </a:xfrm>
          <a:prstGeom prst="rect">
            <a:avLst/>
          </a:prstGeom>
          <a:noFill/>
          <a:ln/>
        </p:spPr>
        <p:txBody>
          <a:bodyPr wrap="square" lIns="0" tIns="0" rIns="0" bIns="0" rtlCol="0" anchor="ctr"/>
          <a:lstStyle/>
          <a:p>
            <a:pPr algn="ctr" indent="0" marL="0">
              <a:buNone/>
            </a:pPr>
            <a:r>
              <a:rPr lang="en-US" sz="1500" b="1" dirty="0">
                <a:solidFill>
                  <a:srgbClr val="1B2440"/>
                </a:solidFill>
                <a:latin typeface="Cambria" pitchFamily="34" charset="0"/>
                <a:ea typeface="Cambria" pitchFamily="34" charset="-122"/>
                <a:cs typeface="Cambria" pitchFamily="34" charset="-120"/>
              </a:rPr>
              <a:t>Evaluate</a:t>
            </a:r>
            <a:endParaRPr lang="en-US" sz="1500" dirty="0"/>
          </a:p>
        </p:txBody>
      </p:sp>
      <p:sp>
        <p:nvSpPr>
          <p:cNvPr id="48" name="Text 40"/>
          <p:cNvSpPr txBox="1"/>
          <p:nvPr/>
        </p:nvSpPr>
        <p:spPr>
          <a:xfrm>
            <a:off x="8682228" y="2880360"/>
            <a:ext cx="1207008" cy="114300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MAE, RMSE, correlation, QWK and concept F1</a:t>
            </a:r>
            <a:endParaRPr lang="en-US" sz="1200" dirty="0"/>
          </a:p>
        </p:txBody>
      </p:sp>
      <p:sp>
        <p:nvSpPr>
          <p:cNvPr id="49" name="Text 41"/>
          <p:cNvSpPr txBox="1"/>
          <p:nvPr/>
        </p:nvSpPr>
        <p:spPr>
          <a:xfrm>
            <a:off x="8618220" y="4114800"/>
            <a:ext cx="1335024" cy="274320"/>
          </a:xfrm>
          <a:prstGeom prst="rect">
            <a:avLst/>
          </a:prstGeom>
          <a:noFill/>
          <a:ln/>
        </p:spPr>
        <p:txBody>
          <a:bodyPr wrap="square" lIns="0" tIns="0" rIns="0" bIns="0" rtlCol="0" anchor="t"/>
          <a:lstStyle/>
          <a:p>
            <a:pPr algn="ctr" indent="0" marL="0">
              <a:buNone/>
            </a:pPr>
            <a:r>
              <a:rPr lang="en-US" sz="1000" dirty="0">
                <a:solidFill>
                  <a:srgbClr val="5B6475"/>
                </a:solidFill>
                <a:latin typeface="Courier New" pitchFamily="34" charset="0"/>
                <a:ea typeface="Courier New" pitchFamily="34" charset="-122"/>
                <a:cs typeface="Courier New" pitchFamily="34" charset="-120"/>
              </a:rPr>
              <a:t>evaluate.py</a:t>
            </a:r>
            <a:endParaRPr lang="en-US" sz="1000" dirty="0"/>
          </a:p>
        </p:txBody>
      </p:sp>
      <p:sp>
        <p:nvSpPr>
          <p:cNvPr id="50" name="Shape 42"/>
          <p:cNvSpPr/>
          <p:nvPr/>
        </p:nvSpPr>
        <p:spPr>
          <a:xfrm>
            <a:off x="10017252" y="2994660"/>
            <a:ext cx="141732" cy="914"/>
          </a:xfrm>
          <a:prstGeom prst="line">
            <a:avLst/>
          </a:prstGeom>
          <a:noFill/>
          <a:ln w="19050">
            <a:solidFill>
              <a:srgbClr val="1B2440"/>
            </a:solidFill>
            <a:prstDash val="solid"/>
            <a:tailEnd type="triangle"/>
          </a:ln>
        </p:spPr>
      </p:sp>
      <p:sp>
        <p:nvSpPr>
          <p:cNvPr id="51" name="Deploy stage"/>
          <p:cNvSpPr/>
          <p:nvPr/>
        </p:nvSpPr>
        <p:spPr>
          <a:xfrm>
            <a:off x="10177272" y="1463040"/>
            <a:ext cx="1426464" cy="3063240"/>
          </a:xfrm>
          <a:prstGeom prst="roundRect">
            <a:avLst>
              <a:gd name="adj" fmla="val 5128"/>
            </a:avLst>
          </a:prstGeom>
          <a:solidFill>
            <a:srgbClr val="F3F5F9"/>
          </a:solidFill>
          <a:ln w="12700">
            <a:solidFill>
              <a:srgbClr val="F3F5F9"/>
            </a:solidFill>
            <a:prstDash val="solid"/>
          </a:ln>
        </p:spPr>
      </p:sp>
      <p:sp>
        <p:nvSpPr>
          <p:cNvPr id="52" name="Deploy circle"/>
          <p:cNvSpPr/>
          <p:nvPr/>
        </p:nvSpPr>
        <p:spPr>
          <a:xfrm>
            <a:off x="10607040" y="1691640"/>
            <a:ext cx="566928" cy="566928"/>
          </a:xfrm>
          <a:prstGeom prst="ellipse">
            <a:avLst/>
          </a:prstGeom>
          <a:solidFill>
            <a:srgbClr val="1B2440"/>
          </a:solidFill>
          <a:ln w="12700">
            <a:solidFill>
              <a:srgbClr val="1B2440"/>
            </a:solidFill>
            <a:prstDash val="solid"/>
          </a:ln>
        </p:spPr>
      </p:sp>
      <p:pic>
        <p:nvPicPr>
          <p:cNvPr id="53" name="Deploy icon" descr="preencoded.png">    </p:cNvPr>
          <p:cNvPicPr>
            <a:picLocks noChangeAspect="1"/>
          </p:cNvPicPr>
          <p:nvPr/>
        </p:nvPicPr>
        <p:blipFill>
          <a:blip r:embed="rId7"/>
          <a:stretch>
            <a:fillRect/>
          </a:stretch>
        </p:blipFill>
        <p:spPr>
          <a:xfrm>
            <a:off x="10743103" y="1827703"/>
            <a:ext cx="294803" cy="294803"/>
          </a:xfrm>
          <a:prstGeom prst="rect">
            <a:avLst/>
          </a:prstGeom>
        </p:spPr>
      </p:pic>
      <p:sp>
        <p:nvSpPr>
          <p:cNvPr id="54" name="Text 45"/>
          <p:cNvSpPr txBox="1"/>
          <p:nvPr/>
        </p:nvSpPr>
        <p:spPr>
          <a:xfrm>
            <a:off x="10287000" y="1554480"/>
            <a:ext cx="365760" cy="274320"/>
          </a:xfrm>
          <a:prstGeom prst="rect">
            <a:avLst/>
          </a:prstGeom>
          <a:noFill/>
          <a:ln/>
        </p:spPr>
        <p:txBody>
          <a:bodyPr wrap="square" lIns="0" tIns="0" rIns="0" bIns="0" rtlCol="0" anchor="t"/>
          <a:lstStyle/>
          <a:p>
            <a:pPr indent="0" marL="0">
              <a:buNone/>
            </a:pPr>
            <a:r>
              <a:rPr lang="en-US" sz="1100" b="1" dirty="0">
                <a:solidFill>
                  <a:srgbClr val="5B6475"/>
                </a:solidFill>
                <a:latin typeface="Calibri" pitchFamily="34" charset="0"/>
                <a:ea typeface="Calibri" pitchFamily="34" charset="-122"/>
                <a:cs typeface="Calibri" pitchFamily="34" charset="-120"/>
              </a:rPr>
              <a:t>7</a:t>
            </a:r>
            <a:endParaRPr lang="en-US" sz="1100" dirty="0"/>
          </a:p>
        </p:txBody>
      </p:sp>
      <p:sp>
        <p:nvSpPr>
          <p:cNvPr id="55" name="Text 46"/>
          <p:cNvSpPr txBox="1"/>
          <p:nvPr/>
        </p:nvSpPr>
        <p:spPr>
          <a:xfrm>
            <a:off x="10268712" y="2377440"/>
            <a:ext cx="1243584" cy="457200"/>
          </a:xfrm>
          <a:prstGeom prst="rect">
            <a:avLst/>
          </a:prstGeom>
          <a:noFill/>
          <a:ln/>
        </p:spPr>
        <p:txBody>
          <a:bodyPr wrap="square" lIns="0" tIns="0" rIns="0" bIns="0" rtlCol="0" anchor="ctr"/>
          <a:lstStyle/>
          <a:p>
            <a:pPr algn="ctr" indent="0" marL="0">
              <a:buNone/>
            </a:pPr>
            <a:r>
              <a:rPr lang="en-US" sz="1500" b="1" dirty="0">
                <a:solidFill>
                  <a:srgbClr val="1B2440"/>
                </a:solidFill>
                <a:latin typeface="Cambria" pitchFamily="34" charset="0"/>
                <a:ea typeface="Cambria" pitchFamily="34" charset="-122"/>
                <a:cs typeface="Cambria" pitchFamily="34" charset="-120"/>
              </a:rPr>
              <a:t>Deploy</a:t>
            </a:r>
            <a:endParaRPr lang="en-US" sz="1500" dirty="0"/>
          </a:p>
        </p:txBody>
      </p:sp>
      <p:sp>
        <p:nvSpPr>
          <p:cNvPr id="56" name="Text 47"/>
          <p:cNvSpPr txBox="1"/>
          <p:nvPr/>
        </p:nvSpPr>
        <p:spPr>
          <a:xfrm>
            <a:off x="10287000" y="2880360"/>
            <a:ext cx="1207008" cy="114300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Streamlit app for typed, batch and handwritten answers</a:t>
            </a:r>
            <a:endParaRPr lang="en-US" sz="1200" dirty="0"/>
          </a:p>
        </p:txBody>
      </p:sp>
      <p:sp>
        <p:nvSpPr>
          <p:cNvPr id="57" name="Text 48"/>
          <p:cNvSpPr txBox="1"/>
          <p:nvPr/>
        </p:nvSpPr>
        <p:spPr>
          <a:xfrm>
            <a:off x="10222992" y="4114800"/>
            <a:ext cx="1335024" cy="274320"/>
          </a:xfrm>
          <a:prstGeom prst="rect">
            <a:avLst/>
          </a:prstGeom>
          <a:noFill/>
          <a:ln/>
        </p:spPr>
        <p:txBody>
          <a:bodyPr wrap="square" lIns="0" tIns="0" rIns="0" bIns="0" rtlCol="0" anchor="t"/>
          <a:lstStyle/>
          <a:p>
            <a:pPr algn="ctr" indent="0" marL="0">
              <a:buNone/>
            </a:pPr>
            <a:r>
              <a:rPr lang="en-US" sz="1000" dirty="0">
                <a:solidFill>
                  <a:srgbClr val="5B6475"/>
                </a:solidFill>
                <a:latin typeface="Courier New" pitchFamily="34" charset="0"/>
                <a:ea typeface="Courier New" pitchFamily="34" charset="-122"/>
                <a:cs typeface="Courier New" pitchFamily="34" charset="-120"/>
              </a:rPr>
              <a:t>app.py</a:t>
            </a:r>
            <a:endParaRPr lang="en-US" sz="1000" dirty="0"/>
          </a:p>
        </p:txBody>
      </p:sp>
      <p:sp>
        <p:nvSpPr>
          <p:cNvPr id="58" name="Data preparation phase"/>
          <p:cNvSpPr/>
          <p:nvPr/>
        </p:nvSpPr>
        <p:spPr>
          <a:xfrm>
            <a:off x="548640" y="4709160"/>
            <a:ext cx="3031236" cy="384048"/>
          </a:xfrm>
          <a:prstGeom prst="roundRect">
            <a:avLst>
              <a:gd name="adj" fmla="val 14286"/>
            </a:avLst>
          </a:prstGeom>
          <a:solidFill>
            <a:srgbClr val="E6EBF4"/>
          </a:solidFill>
          <a:ln w="12700">
            <a:solidFill>
              <a:srgbClr val="E6EBF4"/>
            </a:solidFill>
            <a:prstDash val="solid"/>
          </a:ln>
        </p:spPr>
      </p:sp>
      <p:sp>
        <p:nvSpPr>
          <p:cNvPr id="59" name="Text 50"/>
          <p:cNvSpPr txBox="1"/>
          <p:nvPr/>
        </p:nvSpPr>
        <p:spPr>
          <a:xfrm>
            <a:off x="548640" y="4709160"/>
            <a:ext cx="3031236" cy="384048"/>
          </a:xfrm>
          <a:prstGeom prst="rect">
            <a:avLst/>
          </a:prstGeom>
          <a:noFill/>
          <a:ln/>
        </p:spPr>
        <p:txBody>
          <a:bodyPr wrap="square" lIns="0" tIns="0" rIns="0" bIns="0" rtlCol="0" anchor="ctr"/>
          <a:lstStyle/>
          <a:p>
            <a:pPr algn="ctr" indent="0" marL="0">
              <a:buNone/>
            </a:pPr>
            <a:r>
              <a:rPr lang="en-US" sz="1300" b="1" dirty="0">
                <a:solidFill>
                  <a:srgbClr val="1B2440"/>
                </a:solidFill>
                <a:latin typeface="Calibri" pitchFamily="34" charset="0"/>
                <a:ea typeface="Calibri" pitchFamily="34" charset="-122"/>
                <a:cs typeface="Calibri" pitchFamily="34" charset="-120"/>
              </a:rPr>
              <a:t>Data preparation</a:t>
            </a:r>
            <a:endParaRPr lang="en-US" sz="1300" dirty="0"/>
          </a:p>
        </p:txBody>
      </p:sp>
      <p:sp>
        <p:nvSpPr>
          <p:cNvPr id="60" name="Modelling phase"/>
          <p:cNvSpPr/>
          <p:nvPr/>
        </p:nvSpPr>
        <p:spPr>
          <a:xfrm>
            <a:off x="3758184" y="4709160"/>
            <a:ext cx="4636008" cy="384048"/>
          </a:xfrm>
          <a:prstGeom prst="roundRect">
            <a:avLst>
              <a:gd name="adj" fmla="val 14286"/>
            </a:avLst>
          </a:prstGeom>
          <a:solidFill>
            <a:srgbClr val="E6EBF4"/>
          </a:solidFill>
          <a:ln w="12700">
            <a:solidFill>
              <a:srgbClr val="E6EBF4"/>
            </a:solidFill>
            <a:prstDash val="solid"/>
          </a:ln>
        </p:spPr>
      </p:sp>
      <p:sp>
        <p:nvSpPr>
          <p:cNvPr id="61" name="Text 52"/>
          <p:cNvSpPr txBox="1"/>
          <p:nvPr/>
        </p:nvSpPr>
        <p:spPr>
          <a:xfrm>
            <a:off x="3758184" y="4709160"/>
            <a:ext cx="4636008" cy="384048"/>
          </a:xfrm>
          <a:prstGeom prst="rect">
            <a:avLst/>
          </a:prstGeom>
          <a:noFill/>
          <a:ln/>
        </p:spPr>
        <p:txBody>
          <a:bodyPr wrap="square" lIns="0" tIns="0" rIns="0" bIns="0" rtlCol="0" anchor="ctr"/>
          <a:lstStyle/>
          <a:p>
            <a:pPr algn="ctr" indent="0" marL="0">
              <a:buNone/>
            </a:pPr>
            <a:r>
              <a:rPr lang="en-US" sz="1300" b="1" dirty="0">
                <a:solidFill>
                  <a:srgbClr val="1B2440"/>
                </a:solidFill>
                <a:latin typeface="Calibri" pitchFamily="34" charset="0"/>
                <a:ea typeface="Calibri" pitchFamily="34" charset="-122"/>
                <a:cs typeface="Calibri" pitchFamily="34" charset="-120"/>
              </a:rPr>
              <a:t>Modelling</a:t>
            </a:r>
            <a:endParaRPr lang="en-US" sz="1300" dirty="0"/>
          </a:p>
        </p:txBody>
      </p:sp>
      <p:sp>
        <p:nvSpPr>
          <p:cNvPr id="62" name="Validation and deployment phase"/>
          <p:cNvSpPr/>
          <p:nvPr/>
        </p:nvSpPr>
        <p:spPr>
          <a:xfrm>
            <a:off x="8572500" y="4709160"/>
            <a:ext cx="3031236" cy="384048"/>
          </a:xfrm>
          <a:prstGeom prst="roundRect">
            <a:avLst>
              <a:gd name="adj" fmla="val 14286"/>
            </a:avLst>
          </a:prstGeom>
          <a:solidFill>
            <a:srgbClr val="E6EBF4"/>
          </a:solidFill>
          <a:ln w="12700">
            <a:solidFill>
              <a:srgbClr val="E6EBF4"/>
            </a:solidFill>
            <a:prstDash val="solid"/>
          </a:ln>
        </p:spPr>
      </p:sp>
      <p:sp>
        <p:nvSpPr>
          <p:cNvPr id="63" name="Text 54"/>
          <p:cNvSpPr txBox="1"/>
          <p:nvPr/>
        </p:nvSpPr>
        <p:spPr>
          <a:xfrm>
            <a:off x="8572500" y="4709160"/>
            <a:ext cx="3031236" cy="384048"/>
          </a:xfrm>
          <a:prstGeom prst="rect">
            <a:avLst/>
          </a:prstGeom>
          <a:noFill/>
          <a:ln/>
        </p:spPr>
        <p:txBody>
          <a:bodyPr wrap="square" lIns="0" tIns="0" rIns="0" bIns="0" rtlCol="0" anchor="ctr"/>
          <a:lstStyle/>
          <a:p>
            <a:pPr algn="ctr" indent="0" marL="0">
              <a:buNone/>
            </a:pPr>
            <a:r>
              <a:rPr lang="en-US" sz="1300" b="1" dirty="0">
                <a:solidFill>
                  <a:srgbClr val="1B2440"/>
                </a:solidFill>
                <a:latin typeface="Calibri" pitchFamily="34" charset="0"/>
                <a:ea typeface="Calibri" pitchFamily="34" charset="-122"/>
                <a:cs typeface="Calibri" pitchFamily="34" charset="-120"/>
              </a:rPr>
              <a:t>Validation and deployment</a:t>
            </a:r>
            <a:endParaRPr lang="en-US" sz="1300" dirty="0"/>
          </a:p>
        </p:txBody>
      </p:sp>
      <p:sp>
        <p:nvSpPr>
          <p:cNvPr id="64" name="pipeline note"/>
          <p:cNvSpPr/>
          <p:nvPr/>
        </p:nvSpPr>
        <p:spPr>
          <a:xfrm>
            <a:off x="548640" y="5349240"/>
            <a:ext cx="11064240" cy="731520"/>
          </a:xfrm>
          <a:prstGeom prst="roundRect">
            <a:avLst>
              <a:gd name="adj" fmla="val 10000"/>
            </a:avLst>
          </a:prstGeom>
          <a:solidFill>
            <a:srgbClr val="F3F5F9"/>
          </a:solidFill>
          <a:ln w="12700">
            <a:solidFill>
              <a:srgbClr val="F3F5F9"/>
            </a:solidFill>
            <a:prstDash val="solid"/>
          </a:ln>
        </p:spPr>
      </p:sp>
      <p:sp>
        <p:nvSpPr>
          <p:cNvPr id="65" name="Text 56"/>
          <p:cNvSpPr txBox="1"/>
          <p:nvPr/>
        </p:nvSpPr>
        <p:spPr>
          <a:xfrm>
            <a:off x="822960" y="5349240"/>
            <a:ext cx="10515600" cy="731520"/>
          </a:xfrm>
          <a:prstGeom prst="rect">
            <a:avLst/>
          </a:prstGeom>
          <a:noFill/>
          <a:ln/>
        </p:spPr>
        <p:txBody>
          <a:bodyPr wrap="square" lIns="0" tIns="0" rIns="0" bIns="0" rtlCol="0" anchor="ctr"/>
          <a:lstStyle/>
          <a:p>
            <a:pPr indent="0" marL="0">
              <a:buNone/>
            </a:pPr>
            <a:r>
              <a:rPr lang="en-US" sz="1400" b="1" dirty="0">
                <a:solidFill>
                  <a:srgbClr val="1B2440"/>
                </a:solidFill>
                <a:latin typeface="Calibri" pitchFamily="34" charset="0"/>
                <a:ea typeface="Calibri" pitchFamily="34" charset="-122"/>
                <a:cs typeface="Calibri" pitchFamily="34" charset="-120"/>
              </a:rPr>
              <a:t>Iterative loop: </a:t>
            </a:r>
            <a:pPr indent="0" marL="0">
              <a:buNone/>
            </a:pPr>
            <a:r>
              <a:rPr lang="en-US" sz="1400" dirty="0">
                <a:solidFill>
                  <a:srgbClr val="1F2937"/>
                </a:solidFill>
                <a:latin typeface="Calibri" pitchFamily="34" charset="0"/>
                <a:ea typeface="Calibri" pitchFamily="34" charset="-122"/>
                <a:cs typeface="Calibri" pitchFamily="34" charset="-120"/>
              </a:rPr>
              <a:t>as more teacher-marked answers are collected, steps 1 and 4–6 are re-run, and the app picks up the newly trained scorer automatically.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B2440"/>
                </a:solidFill>
                <a:latin typeface="Cambria" pitchFamily="34" charset="0"/>
                <a:ea typeface="Cambria" pitchFamily="34" charset="-122"/>
                <a:cs typeface="Cambria" pitchFamily="34" charset="-120"/>
              </a:rPr>
              <a:t>Architecture: three signals feed one scoring engine</a:t>
            </a:r>
            <a:endParaRPr lang="en-US" sz="3200" dirty="0"/>
          </a:p>
        </p:txBody>
      </p:sp>
      <p:sp>
        <p:nvSpPr>
          <p:cNvPr id="3" name="Typed answer"/>
          <p:cNvSpPr/>
          <p:nvPr/>
        </p:nvSpPr>
        <p:spPr>
          <a:xfrm>
            <a:off x="548640" y="1600200"/>
            <a:ext cx="1920240" cy="777240"/>
          </a:xfrm>
          <a:prstGeom prst="roundRect">
            <a:avLst>
              <a:gd name="adj" fmla="val 9412"/>
            </a:avLst>
          </a:prstGeom>
          <a:solidFill>
            <a:srgbClr val="F3F5F9"/>
          </a:solidFill>
          <a:ln w="12700">
            <a:solidFill>
              <a:srgbClr val="F3F5F9"/>
            </a:solidFill>
            <a:prstDash val="solid"/>
          </a:ln>
        </p:spPr>
      </p:sp>
      <p:sp>
        <p:nvSpPr>
          <p:cNvPr id="4" name="Text 2"/>
          <p:cNvSpPr txBox="1"/>
          <p:nvPr/>
        </p:nvSpPr>
        <p:spPr>
          <a:xfrm>
            <a:off x="685800" y="1600200"/>
            <a:ext cx="1645920" cy="777240"/>
          </a:xfrm>
          <a:prstGeom prst="rect">
            <a:avLst/>
          </a:prstGeom>
          <a:noFill/>
          <a:ln/>
        </p:spPr>
        <p:txBody>
          <a:bodyPr wrap="square" lIns="0" tIns="0" rIns="0" bIns="0" rtlCol="0" anchor="ctr"/>
          <a:lstStyle/>
          <a:p>
            <a:pPr algn="ctr" indent="0" marL="0">
              <a:buNone/>
            </a:pPr>
            <a:r>
              <a:rPr lang="en-US" sz="1400" b="1" dirty="0">
                <a:solidFill>
                  <a:srgbClr val="1B2440"/>
                </a:solidFill>
                <a:latin typeface="Calibri" pitchFamily="34" charset="0"/>
                <a:ea typeface="Calibri" pitchFamily="34" charset="-122"/>
                <a:cs typeface="Calibri" pitchFamily="34" charset="-120"/>
              </a:rPr>
              <a:t>Typed answer</a:t>
            </a:r>
            <a:endParaRPr lang="en-US" sz="1400" dirty="0"/>
          </a:p>
        </p:txBody>
      </p:sp>
      <p:sp>
        <p:nvSpPr>
          <p:cNvPr id="5" name="Handwritten photo"/>
          <p:cNvSpPr/>
          <p:nvPr/>
        </p:nvSpPr>
        <p:spPr>
          <a:xfrm>
            <a:off x="548640" y="2606040"/>
            <a:ext cx="1920240" cy="914400"/>
          </a:xfrm>
          <a:prstGeom prst="roundRect">
            <a:avLst>
              <a:gd name="adj" fmla="val 8000"/>
            </a:avLst>
          </a:prstGeom>
          <a:solidFill>
            <a:srgbClr val="F3F5F9"/>
          </a:solidFill>
          <a:ln w="12700">
            <a:solidFill>
              <a:srgbClr val="F3F5F9"/>
            </a:solidFill>
            <a:prstDash val="solid"/>
          </a:ln>
        </p:spPr>
      </p:sp>
      <p:sp>
        <p:nvSpPr>
          <p:cNvPr id="6" name="Text 4"/>
          <p:cNvSpPr txBox="1"/>
          <p:nvPr/>
        </p:nvSpPr>
        <p:spPr>
          <a:xfrm>
            <a:off x="685800" y="2606040"/>
            <a:ext cx="1645920" cy="914400"/>
          </a:xfrm>
          <a:prstGeom prst="rect">
            <a:avLst/>
          </a:prstGeom>
          <a:noFill/>
          <a:ln/>
        </p:spPr>
        <p:txBody>
          <a:bodyPr wrap="square" lIns="0" tIns="0" rIns="0" bIns="0" rtlCol="0" anchor="ctr"/>
          <a:lstStyle/>
          <a:p>
            <a:pPr algn="ctr" indent="0" marL="0">
              <a:buNone/>
            </a:pPr>
            <a:r>
              <a:rPr lang="en-US" sz="1400" b="1" dirty="0">
                <a:solidFill>
                  <a:srgbClr val="1B2440"/>
                </a:solidFill>
                <a:latin typeface="Calibri" pitchFamily="34" charset="0"/>
                <a:ea typeface="Calibri" pitchFamily="34" charset="-122"/>
                <a:cs typeface="Calibri" pitchFamily="34" charset="-120"/>
              </a:rPr>
              <a:t>Handwritten photo</a:t>
            </a:r>
            <a:endParaRPr lang="en-US" sz="1400" dirty="0"/>
          </a:p>
          <a:p>
            <a:pPr algn="ctr" indent="0" marL="0">
              <a:buNone/>
            </a:pPr>
            <a:r>
              <a:rPr lang="en-US" sz="1100" dirty="0">
                <a:solidFill>
                  <a:srgbClr val="5B6475"/>
                </a:solidFill>
                <a:latin typeface="Calibri" pitchFamily="34" charset="0"/>
                <a:ea typeface="Calibri" pitchFamily="34" charset="-122"/>
                <a:cs typeface="Calibri" pitchFamily="34" charset="-120"/>
              </a:rPr>
              <a:t>→ TrOCR transcription</a:t>
            </a:r>
            <a:endParaRPr lang="en-US" sz="1400" dirty="0"/>
          </a:p>
        </p:txBody>
      </p:sp>
      <p:sp>
        <p:nvSpPr>
          <p:cNvPr id="7" name="Reference answer"/>
          <p:cNvSpPr/>
          <p:nvPr/>
        </p:nvSpPr>
        <p:spPr>
          <a:xfrm>
            <a:off x="548640" y="3749040"/>
            <a:ext cx="1920240" cy="914400"/>
          </a:xfrm>
          <a:prstGeom prst="roundRect">
            <a:avLst>
              <a:gd name="adj" fmla="val 8000"/>
            </a:avLst>
          </a:prstGeom>
          <a:solidFill>
            <a:srgbClr val="F3F5F9"/>
          </a:solidFill>
          <a:ln w="12700">
            <a:solidFill>
              <a:srgbClr val="F3F5F9"/>
            </a:solidFill>
            <a:prstDash val="solid"/>
          </a:ln>
        </p:spPr>
      </p:sp>
      <p:sp>
        <p:nvSpPr>
          <p:cNvPr id="8" name="Text 6"/>
          <p:cNvSpPr txBox="1"/>
          <p:nvPr/>
        </p:nvSpPr>
        <p:spPr>
          <a:xfrm>
            <a:off x="685800" y="3749040"/>
            <a:ext cx="1645920" cy="914400"/>
          </a:xfrm>
          <a:prstGeom prst="rect">
            <a:avLst/>
          </a:prstGeom>
          <a:noFill/>
          <a:ln/>
        </p:spPr>
        <p:txBody>
          <a:bodyPr wrap="square" lIns="0" tIns="0" rIns="0" bIns="0" rtlCol="0" anchor="ctr"/>
          <a:lstStyle/>
          <a:p>
            <a:pPr algn="ctr" indent="0" marL="0">
              <a:buNone/>
            </a:pPr>
            <a:r>
              <a:rPr lang="en-US" sz="1400" b="1" dirty="0">
                <a:solidFill>
                  <a:srgbClr val="1B2440"/>
                </a:solidFill>
                <a:latin typeface="Calibri" pitchFamily="34" charset="0"/>
                <a:ea typeface="Calibri" pitchFamily="34" charset="-122"/>
                <a:cs typeface="Calibri" pitchFamily="34" charset="-120"/>
              </a:rPr>
              <a:t>Reference answer</a:t>
            </a:r>
            <a:endParaRPr lang="en-US" sz="1400" dirty="0"/>
          </a:p>
          <a:p>
            <a:pPr algn="ctr" indent="0" marL="0">
              <a:buNone/>
            </a:pPr>
            <a:r>
              <a:rPr lang="en-US" sz="1100" dirty="0">
                <a:solidFill>
                  <a:srgbClr val="5B6475"/>
                </a:solidFill>
                <a:latin typeface="Calibri" pitchFamily="34" charset="0"/>
                <a:ea typeface="Calibri" pitchFamily="34" charset="-122"/>
                <a:cs typeface="Calibri" pitchFamily="34" charset="-120"/>
              </a:rPr>
              <a:t>+ rubric concepts</a:t>
            </a:r>
            <a:endParaRPr lang="en-US" sz="1400" dirty="0"/>
          </a:p>
        </p:txBody>
      </p:sp>
      <p:sp>
        <p:nvSpPr>
          <p:cNvPr id="9" name="Preprocessing"/>
          <p:cNvSpPr/>
          <p:nvPr/>
        </p:nvSpPr>
        <p:spPr>
          <a:xfrm>
            <a:off x="2880360" y="2606040"/>
            <a:ext cx="1828800" cy="914400"/>
          </a:xfrm>
          <a:prstGeom prst="roundRect">
            <a:avLst>
              <a:gd name="adj" fmla="val 8000"/>
            </a:avLst>
          </a:prstGeom>
          <a:solidFill>
            <a:srgbClr val="F3F5F9"/>
          </a:solidFill>
          <a:ln w="12700">
            <a:solidFill>
              <a:srgbClr val="F3F5F9"/>
            </a:solidFill>
            <a:prstDash val="solid"/>
          </a:ln>
        </p:spPr>
      </p:sp>
      <p:sp>
        <p:nvSpPr>
          <p:cNvPr id="10" name="Text 8"/>
          <p:cNvSpPr txBox="1"/>
          <p:nvPr/>
        </p:nvSpPr>
        <p:spPr>
          <a:xfrm>
            <a:off x="3017520" y="2606040"/>
            <a:ext cx="1554480" cy="914400"/>
          </a:xfrm>
          <a:prstGeom prst="rect">
            <a:avLst/>
          </a:prstGeom>
          <a:noFill/>
          <a:ln/>
        </p:spPr>
        <p:txBody>
          <a:bodyPr wrap="square" lIns="0" tIns="0" rIns="0" bIns="0" rtlCol="0" anchor="ctr"/>
          <a:lstStyle/>
          <a:p>
            <a:pPr algn="ctr" indent="0" marL="0">
              <a:buNone/>
            </a:pPr>
            <a:r>
              <a:rPr lang="en-US" sz="1400" b="1" dirty="0">
                <a:solidFill>
                  <a:srgbClr val="1B2440"/>
                </a:solidFill>
                <a:latin typeface="Calibri" pitchFamily="34" charset="0"/>
                <a:ea typeface="Calibri" pitchFamily="34" charset="-122"/>
                <a:cs typeface="Calibri" pitchFamily="34" charset="-120"/>
              </a:rPr>
              <a:t>Preprocessing</a:t>
            </a:r>
            <a:endParaRPr lang="en-US" sz="1400" dirty="0"/>
          </a:p>
          <a:p>
            <a:pPr algn="ctr" indent="0" marL="0">
              <a:buNone/>
            </a:pPr>
            <a:r>
              <a:rPr lang="en-US" sz="1100" dirty="0">
                <a:solidFill>
                  <a:srgbClr val="5B6475"/>
                </a:solidFill>
                <a:latin typeface="Calibri" pitchFamily="34" charset="0"/>
                <a:ea typeface="Calibri" pitchFamily="34" charset="-122"/>
                <a:cs typeface="Calibri" pitchFamily="34" charset="-120"/>
              </a:rPr>
              <a:t>normalise, split, stem</a:t>
            </a:r>
            <a:endParaRPr lang="en-US" sz="1400" dirty="0"/>
          </a:p>
        </p:txBody>
      </p:sp>
      <p:sp>
        <p:nvSpPr>
          <p:cNvPr id="11" name="Sentence-BERT"/>
          <p:cNvSpPr/>
          <p:nvPr/>
        </p:nvSpPr>
        <p:spPr>
          <a:xfrm>
            <a:off x="5120640" y="2377440"/>
            <a:ext cx="1920240" cy="1371600"/>
          </a:xfrm>
          <a:prstGeom prst="roundRect">
            <a:avLst>
              <a:gd name="adj" fmla="val 5333"/>
            </a:avLst>
          </a:prstGeom>
          <a:solidFill>
            <a:srgbClr val="1B2440"/>
          </a:solidFill>
          <a:ln w="12700">
            <a:solidFill>
              <a:srgbClr val="1B2440"/>
            </a:solidFill>
            <a:prstDash val="solid"/>
          </a:ln>
        </p:spPr>
      </p:sp>
      <p:sp>
        <p:nvSpPr>
          <p:cNvPr id="12" name="Text 10"/>
          <p:cNvSpPr txBox="1"/>
          <p:nvPr/>
        </p:nvSpPr>
        <p:spPr>
          <a:xfrm>
            <a:off x="5257800" y="2377440"/>
            <a:ext cx="1645920" cy="13716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Sentence-BERT</a:t>
            </a:r>
            <a:endParaRPr lang="en-US" sz="1400" dirty="0"/>
          </a:p>
          <a:p>
            <a:pPr algn="ctr" indent="0" marL="0">
              <a:buNone/>
            </a:pPr>
            <a:r>
              <a:rPr lang="en-US" sz="1100" dirty="0">
                <a:solidFill>
                  <a:srgbClr val="C9D2E6"/>
                </a:solidFill>
                <a:latin typeface="Calibri" pitchFamily="34" charset="0"/>
                <a:ea typeface="Calibri" pitchFamily="34" charset="-122"/>
                <a:cs typeface="Calibri" pitchFamily="34" charset="-120"/>
              </a:rPr>
              <a:t>transformer encoder</a:t>
            </a:r>
            <a:endParaRPr lang="en-US" sz="1400" dirty="0"/>
          </a:p>
        </p:txBody>
      </p:sp>
      <p:sp>
        <p:nvSpPr>
          <p:cNvPr id="13" name="Semantic similarity"/>
          <p:cNvSpPr/>
          <p:nvPr/>
        </p:nvSpPr>
        <p:spPr>
          <a:xfrm>
            <a:off x="7452360" y="1463040"/>
            <a:ext cx="2103120" cy="868680"/>
          </a:xfrm>
          <a:prstGeom prst="roundRect">
            <a:avLst>
              <a:gd name="adj" fmla="val 8421"/>
            </a:avLst>
          </a:prstGeom>
          <a:solidFill>
            <a:srgbClr val="F3F5F9"/>
          </a:solidFill>
          <a:ln w="12700">
            <a:solidFill>
              <a:srgbClr val="F3F5F9"/>
            </a:solidFill>
            <a:prstDash val="solid"/>
          </a:ln>
        </p:spPr>
      </p:sp>
      <p:sp>
        <p:nvSpPr>
          <p:cNvPr id="14" name="Text 12"/>
          <p:cNvSpPr txBox="1"/>
          <p:nvPr/>
        </p:nvSpPr>
        <p:spPr>
          <a:xfrm>
            <a:off x="7589520" y="1463040"/>
            <a:ext cx="1828800" cy="868680"/>
          </a:xfrm>
          <a:prstGeom prst="rect">
            <a:avLst/>
          </a:prstGeom>
          <a:noFill/>
          <a:ln/>
        </p:spPr>
        <p:txBody>
          <a:bodyPr wrap="square" lIns="0" tIns="0" rIns="0" bIns="0" rtlCol="0" anchor="ctr"/>
          <a:lstStyle/>
          <a:p>
            <a:pPr algn="ctr" indent="0" marL="0">
              <a:buNone/>
            </a:pPr>
            <a:r>
              <a:rPr lang="en-US" sz="1400" b="1" dirty="0">
                <a:solidFill>
                  <a:srgbClr val="1B2440"/>
                </a:solidFill>
                <a:latin typeface="Calibri" pitchFamily="34" charset="0"/>
                <a:ea typeface="Calibri" pitchFamily="34" charset="-122"/>
                <a:cs typeface="Calibri" pitchFamily="34" charset="-120"/>
              </a:rPr>
              <a:t>Semantic similarity</a:t>
            </a:r>
            <a:endParaRPr lang="en-US" sz="1400" dirty="0"/>
          </a:p>
          <a:p>
            <a:pPr algn="ctr" indent="0" marL="0">
              <a:buNone/>
            </a:pPr>
            <a:r>
              <a:rPr lang="en-US" sz="1100" dirty="0">
                <a:solidFill>
                  <a:srgbClr val="5B6475"/>
                </a:solidFill>
                <a:latin typeface="Calibri" pitchFamily="34" charset="0"/>
                <a:ea typeface="Calibri" pitchFamily="34" charset="-122"/>
                <a:cs typeface="Calibri" pitchFamily="34" charset="-120"/>
              </a:rPr>
              <a:t>cosine to reference</a:t>
            </a:r>
            <a:endParaRPr lang="en-US" sz="1400" dirty="0"/>
          </a:p>
        </p:txBody>
      </p:sp>
      <p:sp>
        <p:nvSpPr>
          <p:cNvPr id="15" name="Concept coverage"/>
          <p:cNvSpPr/>
          <p:nvPr/>
        </p:nvSpPr>
        <p:spPr>
          <a:xfrm>
            <a:off x="7452360" y="2624328"/>
            <a:ext cx="2103120" cy="868680"/>
          </a:xfrm>
          <a:prstGeom prst="roundRect">
            <a:avLst>
              <a:gd name="adj" fmla="val 8421"/>
            </a:avLst>
          </a:prstGeom>
          <a:solidFill>
            <a:srgbClr val="F3F5F9"/>
          </a:solidFill>
          <a:ln w="12700">
            <a:solidFill>
              <a:srgbClr val="F3F5F9"/>
            </a:solidFill>
            <a:prstDash val="solid"/>
          </a:ln>
        </p:spPr>
      </p:sp>
      <p:sp>
        <p:nvSpPr>
          <p:cNvPr id="16" name="Text 14"/>
          <p:cNvSpPr txBox="1"/>
          <p:nvPr/>
        </p:nvSpPr>
        <p:spPr>
          <a:xfrm>
            <a:off x="7589520" y="2624328"/>
            <a:ext cx="1828800" cy="868680"/>
          </a:xfrm>
          <a:prstGeom prst="rect">
            <a:avLst/>
          </a:prstGeom>
          <a:noFill/>
          <a:ln/>
        </p:spPr>
        <p:txBody>
          <a:bodyPr wrap="square" lIns="0" tIns="0" rIns="0" bIns="0" rtlCol="0" anchor="ctr"/>
          <a:lstStyle/>
          <a:p>
            <a:pPr algn="ctr" indent="0" marL="0">
              <a:buNone/>
            </a:pPr>
            <a:r>
              <a:rPr lang="en-US" sz="1400" b="1" dirty="0">
                <a:solidFill>
                  <a:srgbClr val="1B2440"/>
                </a:solidFill>
                <a:latin typeface="Calibri" pitchFamily="34" charset="0"/>
                <a:ea typeface="Calibri" pitchFamily="34" charset="-122"/>
                <a:cs typeface="Calibri" pitchFamily="34" charset="-120"/>
              </a:rPr>
              <a:t>Concept coverage</a:t>
            </a:r>
            <a:endParaRPr lang="en-US" sz="1400" dirty="0"/>
          </a:p>
          <a:p>
            <a:pPr algn="ctr" indent="0" marL="0">
              <a:buNone/>
            </a:pPr>
            <a:r>
              <a:rPr lang="en-US" sz="1100" dirty="0">
                <a:solidFill>
                  <a:srgbClr val="5B6475"/>
                </a:solidFill>
                <a:latin typeface="Calibri" pitchFamily="34" charset="0"/>
                <a:ea typeface="Calibri" pitchFamily="34" charset="-122"/>
                <a:cs typeface="Calibri" pitchFamily="34" charset="-120"/>
              </a:rPr>
              <a:t>weighted rubric hits</a:t>
            </a:r>
            <a:endParaRPr lang="en-US" sz="1400" dirty="0"/>
          </a:p>
        </p:txBody>
      </p:sp>
      <p:sp>
        <p:nvSpPr>
          <p:cNvPr id="17" name="Completeness"/>
          <p:cNvSpPr/>
          <p:nvPr/>
        </p:nvSpPr>
        <p:spPr>
          <a:xfrm>
            <a:off x="7452360" y="3785616"/>
            <a:ext cx="2103120" cy="868680"/>
          </a:xfrm>
          <a:prstGeom prst="roundRect">
            <a:avLst>
              <a:gd name="adj" fmla="val 8421"/>
            </a:avLst>
          </a:prstGeom>
          <a:solidFill>
            <a:srgbClr val="F3F5F9"/>
          </a:solidFill>
          <a:ln w="12700">
            <a:solidFill>
              <a:srgbClr val="F3F5F9"/>
            </a:solidFill>
            <a:prstDash val="solid"/>
          </a:ln>
        </p:spPr>
      </p:sp>
      <p:sp>
        <p:nvSpPr>
          <p:cNvPr id="18" name="Text 16"/>
          <p:cNvSpPr txBox="1"/>
          <p:nvPr/>
        </p:nvSpPr>
        <p:spPr>
          <a:xfrm>
            <a:off x="7589520" y="3785616"/>
            <a:ext cx="1828800" cy="868680"/>
          </a:xfrm>
          <a:prstGeom prst="rect">
            <a:avLst/>
          </a:prstGeom>
          <a:noFill/>
          <a:ln/>
        </p:spPr>
        <p:txBody>
          <a:bodyPr wrap="square" lIns="0" tIns="0" rIns="0" bIns="0" rtlCol="0" anchor="ctr"/>
          <a:lstStyle/>
          <a:p>
            <a:pPr algn="ctr" indent="0" marL="0">
              <a:buNone/>
            </a:pPr>
            <a:r>
              <a:rPr lang="en-US" sz="1400" b="1" dirty="0">
                <a:solidFill>
                  <a:srgbClr val="1B2440"/>
                </a:solidFill>
                <a:latin typeface="Calibri" pitchFamily="34" charset="0"/>
                <a:ea typeface="Calibri" pitchFamily="34" charset="-122"/>
                <a:cs typeface="Calibri" pitchFamily="34" charset="-120"/>
              </a:rPr>
              <a:t>Completeness</a:t>
            </a:r>
            <a:endParaRPr lang="en-US" sz="1400" dirty="0"/>
          </a:p>
          <a:p>
            <a:pPr algn="ctr" indent="0" marL="0">
              <a:buNone/>
            </a:pPr>
            <a:r>
              <a:rPr lang="en-US" sz="1100" dirty="0">
                <a:solidFill>
                  <a:srgbClr val="5B6475"/>
                </a:solidFill>
                <a:latin typeface="Calibri" pitchFamily="34" charset="0"/>
                <a:ea typeface="Calibri" pitchFamily="34" charset="-122"/>
                <a:cs typeface="Calibri" pitchFamily="34" charset="-120"/>
              </a:rPr>
              <a:t>reference sentences matched</a:t>
            </a:r>
            <a:endParaRPr lang="en-US" sz="1400" dirty="0"/>
          </a:p>
        </p:txBody>
      </p:sp>
      <p:sp>
        <p:nvSpPr>
          <p:cNvPr id="19" name="Scoring engine"/>
          <p:cNvSpPr/>
          <p:nvPr/>
        </p:nvSpPr>
        <p:spPr>
          <a:xfrm>
            <a:off x="9966960" y="2011680"/>
            <a:ext cx="1691640" cy="914400"/>
          </a:xfrm>
          <a:prstGeom prst="roundRect">
            <a:avLst>
              <a:gd name="adj" fmla="val 8000"/>
            </a:avLst>
          </a:prstGeom>
          <a:solidFill>
            <a:srgbClr val="1B2440"/>
          </a:solidFill>
          <a:ln w="12700">
            <a:solidFill>
              <a:srgbClr val="1B2440"/>
            </a:solidFill>
            <a:prstDash val="solid"/>
          </a:ln>
        </p:spPr>
      </p:sp>
      <p:sp>
        <p:nvSpPr>
          <p:cNvPr id="20" name="Text 18"/>
          <p:cNvSpPr txBox="1"/>
          <p:nvPr/>
        </p:nvSpPr>
        <p:spPr>
          <a:xfrm>
            <a:off x="10104120" y="2011680"/>
            <a:ext cx="141732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Scoring engine</a:t>
            </a:r>
            <a:endParaRPr lang="en-US" sz="1400" dirty="0"/>
          </a:p>
          <a:p>
            <a:pPr algn="ctr" indent="0" marL="0">
              <a:buNone/>
            </a:pPr>
            <a:r>
              <a:rPr lang="en-US" sz="1100" dirty="0">
                <a:solidFill>
                  <a:srgbClr val="C9D2E6"/>
                </a:solidFill>
                <a:latin typeface="Calibri" pitchFamily="34" charset="0"/>
                <a:ea typeface="Calibri" pitchFamily="34" charset="-122"/>
                <a:cs typeface="Calibri" pitchFamily="34" charset="-120"/>
              </a:rPr>
              <a:t>learned regressor</a:t>
            </a:r>
            <a:endParaRPr lang="en-US" sz="1400" dirty="0"/>
          </a:p>
        </p:txBody>
      </p:sp>
      <p:sp>
        <p:nvSpPr>
          <p:cNvPr id="21" name="Marks"/>
          <p:cNvSpPr/>
          <p:nvPr/>
        </p:nvSpPr>
        <p:spPr>
          <a:xfrm>
            <a:off x="9966960" y="3429000"/>
            <a:ext cx="1691640" cy="1234440"/>
          </a:xfrm>
          <a:prstGeom prst="roundRect">
            <a:avLst>
              <a:gd name="adj" fmla="val 5926"/>
            </a:avLst>
          </a:prstGeom>
          <a:solidFill>
            <a:srgbClr val="C8414F"/>
          </a:solidFill>
          <a:ln w="12700">
            <a:solidFill>
              <a:srgbClr val="C8414F"/>
            </a:solidFill>
            <a:prstDash val="solid"/>
          </a:ln>
        </p:spPr>
      </p:sp>
      <p:sp>
        <p:nvSpPr>
          <p:cNvPr id="22" name="Text 20"/>
          <p:cNvSpPr txBox="1"/>
          <p:nvPr/>
        </p:nvSpPr>
        <p:spPr>
          <a:xfrm>
            <a:off x="10104120" y="3429000"/>
            <a:ext cx="1417320" cy="12344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Marks</a:t>
            </a:r>
            <a:endParaRPr lang="en-US" sz="1400" dirty="0"/>
          </a:p>
          <a:p>
            <a:pPr algn="ctr" indent="0" marL="0">
              <a:buNone/>
            </a:pPr>
            <a:r>
              <a:rPr lang="en-US" sz="1100" dirty="0">
                <a:solidFill>
                  <a:srgbClr val="C9D2E6"/>
                </a:solidFill>
                <a:latin typeface="Calibri" pitchFamily="34" charset="0"/>
                <a:ea typeface="Calibri" pitchFamily="34" charset="-122"/>
                <a:cs typeface="Calibri" pitchFamily="34" charset="-120"/>
              </a:rPr>
              <a:t>+ checklist + feedback</a:t>
            </a:r>
            <a:endParaRPr lang="en-US" sz="1400" dirty="0"/>
          </a:p>
        </p:txBody>
      </p:sp>
      <p:sp>
        <p:nvSpPr>
          <p:cNvPr id="23" name="Shape 21"/>
          <p:cNvSpPr/>
          <p:nvPr/>
        </p:nvSpPr>
        <p:spPr>
          <a:xfrm>
            <a:off x="2468880" y="1984248"/>
            <a:ext cx="411480" cy="941832"/>
          </a:xfrm>
          <a:prstGeom prst="line">
            <a:avLst/>
          </a:prstGeom>
          <a:noFill/>
          <a:ln w="19050">
            <a:solidFill>
              <a:srgbClr val="5B6475"/>
            </a:solidFill>
            <a:prstDash val="solid"/>
            <a:tailEnd type="triangle"/>
          </a:ln>
        </p:spPr>
      </p:sp>
      <p:sp>
        <p:nvSpPr>
          <p:cNvPr id="24" name="Shape 22"/>
          <p:cNvSpPr/>
          <p:nvPr/>
        </p:nvSpPr>
        <p:spPr>
          <a:xfrm>
            <a:off x="2468880" y="3063240"/>
            <a:ext cx="411480" cy="914"/>
          </a:xfrm>
          <a:prstGeom prst="line">
            <a:avLst/>
          </a:prstGeom>
          <a:noFill/>
          <a:ln w="19050">
            <a:solidFill>
              <a:srgbClr val="5B6475"/>
            </a:solidFill>
            <a:prstDash val="solid"/>
            <a:tailEnd type="triangle"/>
          </a:ln>
        </p:spPr>
      </p:sp>
      <p:sp>
        <p:nvSpPr>
          <p:cNvPr id="25" name="Shape 23"/>
          <p:cNvSpPr/>
          <p:nvPr/>
        </p:nvSpPr>
        <p:spPr>
          <a:xfrm flipV="1">
            <a:off x="2468880" y="3200400"/>
            <a:ext cx="411480" cy="1005840"/>
          </a:xfrm>
          <a:prstGeom prst="line">
            <a:avLst/>
          </a:prstGeom>
          <a:noFill/>
          <a:ln w="19050">
            <a:solidFill>
              <a:srgbClr val="5B6475"/>
            </a:solidFill>
            <a:prstDash val="solid"/>
            <a:tailEnd type="triangle"/>
          </a:ln>
        </p:spPr>
      </p:sp>
      <p:sp>
        <p:nvSpPr>
          <p:cNvPr id="26" name="Shape 24"/>
          <p:cNvSpPr/>
          <p:nvPr/>
        </p:nvSpPr>
        <p:spPr>
          <a:xfrm>
            <a:off x="4709160" y="3063240"/>
            <a:ext cx="411480" cy="914"/>
          </a:xfrm>
          <a:prstGeom prst="line">
            <a:avLst/>
          </a:prstGeom>
          <a:noFill/>
          <a:ln w="19050">
            <a:solidFill>
              <a:srgbClr val="5B6475"/>
            </a:solidFill>
            <a:prstDash val="solid"/>
            <a:tailEnd type="triangle"/>
          </a:ln>
        </p:spPr>
      </p:sp>
      <p:sp>
        <p:nvSpPr>
          <p:cNvPr id="27" name="Shape 25"/>
          <p:cNvSpPr/>
          <p:nvPr/>
        </p:nvSpPr>
        <p:spPr>
          <a:xfrm flipV="1">
            <a:off x="7040880" y="1892808"/>
            <a:ext cx="411480" cy="941832"/>
          </a:xfrm>
          <a:prstGeom prst="line">
            <a:avLst/>
          </a:prstGeom>
          <a:noFill/>
          <a:ln w="19050">
            <a:solidFill>
              <a:srgbClr val="5B6475"/>
            </a:solidFill>
            <a:prstDash val="solid"/>
            <a:tailEnd type="triangle"/>
          </a:ln>
        </p:spPr>
      </p:sp>
      <p:sp>
        <p:nvSpPr>
          <p:cNvPr id="28" name="Shape 26"/>
          <p:cNvSpPr/>
          <p:nvPr/>
        </p:nvSpPr>
        <p:spPr>
          <a:xfrm>
            <a:off x="7040880" y="3063240"/>
            <a:ext cx="411480" cy="914"/>
          </a:xfrm>
          <a:prstGeom prst="line">
            <a:avLst/>
          </a:prstGeom>
          <a:noFill/>
          <a:ln w="19050">
            <a:solidFill>
              <a:srgbClr val="5B6475"/>
            </a:solidFill>
            <a:prstDash val="solid"/>
            <a:tailEnd type="triangle"/>
          </a:ln>
        </p:spPr>
      </p:sp>
      <p:sp>
        <p:nvSpPr>
          <p:cNvPr id="29" name="Shape 27"/>
          <p:cNvSpPr/>
          <p:nvPr/>
        </p:nvSpPr>
        <p:spPr>
          <a:xfrm>
            <a:off x="7040880" y="3291840"/>
            <a:ext cx="411480" cy="914400"/>
          </a:xfrm>
          <a:prstGeom prst="line">
            <a:avLst/>
          </a:prstGeom>
          <a:noFill/>
          <a:ln w="19050">
            <a:solidFill>
              <a:srgbClr val="5B6475"/>
            </a:solidFill>
            <a:prstDash val="solid"/>
            <a:tailEnd type="triangle"/>
          </a:ln>
        </p:spPr>
      </p:sp>
      <p:sp>
        <p:nvSpPr>
          <p:cNvPr id="30" name="Shape 28"/>
          <p:cNvSpPr/>
          <p:nvPr/>
        </p:nvSpPr>
        <p:spPr>
          <a:xfrm>
            <a:off x="9555480" y="1892808"/>
            <a:ext cx="411480" cy="438912"/>
          </a:xfrm>
          <a:prstGeom prst="line">
            <a:avLst/>
          </a:prstGeom>
          <a:noFill/>
          <a:ln w="19050">
            <a:solidFill>
              <a:srgbClr val="5B6475"/>
            </a:solidFill>
            <a:prstDash val="solid"/>
            <a:tailEnd type="triangle"/>
          </a:ln>
        </p:spPr>
      </p:sp>
      <p:sp>
        <p:nvSpPr>
          <p:cNvPr id="31" name="Shape 29"/>
          <p:cNvSpPr/>
          <p:nvPr/>
        </p:nvSpPr>
        <p:spPr>
          <a:xfrm flipV="1">
            <a:off x="9555480" y="2514600"/>
            <a:ext cx="411480" cy="548640"/>
          </a:xfrm>
          <a:prstGeom prst="line">
            <a:avLst/>
          </a:prstGeom>
          <a:noFill/>
          <a:ln w="19050">
            <a:solidFill>
              <a:srgbClr val="5B6475"/>
            </a:solidFill>
            <a:prstDash val="solid"/>
            <a:tailEnd type="triangle"/>
          </a:ln>
        </p:spPr>
      </p:sp>
      <p:sp>
        <p:nvSpPr>
          <p:cNvPr id="32" name="Shape 30"/>
          <p:cNvSpPr/>
          <p:nvPr/>
        </p:nvSpPr>
        <p:spPr>
          <a:xfrm flipV="1">
            <a:off x="9555480" y="2697480"/>
            <a:ext cx="411480" cy="1508760"/>
          </a:xfrm>
          <a:prstGeom prst="line">
            <a:avLst/>
          </a:prstGeom>
          <a:noFill/>
          <a:ln w="19050">
            <a:solidFill>
              <a:srgbClr val="5B6475"/>
            </a:solidFill>
            <a:prstDash val="solid"/>
            <a:tailEnd type="triangle"/>
          </a:ln>
        </p:spPr>
      </p:sp>
      <p:sp>
        <p:nvSpPr>
          <p:cNvPr id="33" name="Shape 31"/>
          <p:cNvSpPr/>
          <p:nvPr/>
        </p:nvSpPr>
        <p:spPr>
          <a:xfrm>
            <a:off x="10808208" y="2926080"/>
            <a:ext cx="914" cy="502920"/>
          </a:xfrm>
          <a:prstGeom prst="line">
            <a:avLst/>
          </a:prstGeom>
          <a:noFill/>
          <a:ln w="19050">
            <a:solidFill>
              <a:srgbClr val="5B6475"/>
            </a:solidFill>
            <a:prstDash val="solid"/>
            <a:tailEnd type="triangle"/>
          </a:ln>
        </p:spPr>
      </p:sp>
      <p:sp>
        <p:nvSpPr>
          <p:cNvPr id="34" name="architecture note"/>
          <p:cNvSpPr/>
          <p:nvPr/>
        </p:nvSpPr>
        <p:spPr>
          <a:xfrm>
            <a:off x="548640" y="5074920"/>
            <a:ext cx="11109960" cy="1005840"/>
          </a:xfrm>
          <a:prstGeom prst="roundRect">
            <a:avLst>
              <a:gd name="adj" fmla="val 7273"/>
            </a:avLst>
          </a:prstGeom>
          <a:solidFill>
            <a:srgbClr val="F3F5F9"/>
          </a:solidFill>
          <a:ln w="12700">
            <a:solidFill>
              <a:srgbClr val="F3F5F9"/>
            </a:solidFill>
            <a:prstDash val="solid"/>
          </a:ln>
        </p:spPr>
      </p:sp>
      <p:sp>
        <p:nvSpPr>
          <p:cNvPr id="35" name="deep learning circle"/>
          <p:cNvSpPr/>
          <p:nvPr/>
        </p:nvSpPr>
        <p:spPr>
          <a:xfrm>
            <a:off x="777240" y="5257800"/>
            <a:ext cx="640080" cy="640080"/>
          </a:xfrm>
          <a:prstGeom prst="ellipse">
            <a:avLst/>
          </a:prstGeom>
          <a:solidFill>
            <a:srgbClr val="1B2440"/>
          </a:solidFill>
          <a:ln w="12700">
            <a:solidFill>
              <a:srgbClr val="1B2440"/>
            </a:solidFill>
            <a:prstDash val="solid"/>
          </a:ln>
        </p:spPr>
      </p:sp>
      <p:pic>
        <p:nvPicPr>
          <p:cNvPr id="36" name="deep learning icon" descr="preencoded.png">    </p:cNvPr>
          <p:cNvPicPr>
            <a:picLocks noChangeAspect="1"/>
          </p:cNvPicPr>
          <p:nvPr/>
        </p:nvPicPr>
        <p:blipFill>
          <a:blip r:embed="rId1"/>
          <a:stretch>
            <a:fillRect/>
          </a:stretch>
        </p:blipFill>
        <p:spPr>
          <a:xfrm>
            <a:off x="930859" y="5411419"/>
            <a:ext cx="332842" cy="332842"/>
          </a:xfrm>
          <a:prstGeom prst="rect">
            <a:avLst/>
          </a:prstGeom>
        </p:spPr>
      </p:pic>
      <p:sp>
        <p:nvSpPr>
          <p:cNvPr id="37" name="Text 34"/>
          <p:cNvSpPr txBox="1"/>
          <p:nvPr/>
        </p:nvSpPr>
        <p:spPr>
          <a:xfrm>
            <a:off x="1645920" y="5212080"/>
            <a:ext cx="9784080" cy="7772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Deep learning sits in the two pretrained transformers: Sentence-BERT turns text into meaning vectors, and TrOCR reads handwriting. The scoring engine is a smaller model trained on teacher marks to weigh the three signals.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B2440"/>
                </a:solidFill>
                <a:latin typeface="Cambria" pitchFamily="34" charset="0"/>
                <a:ea typeface="Cambria" pitchFamily="34" charset="-122"/>
                <a:cs typeface="Cambria" pitchFamily="34" charset="-120"/>
              </a:rPr>
              <a:t>Stage 1: Sentence-BERT measures meaning, not word overlap</a:t>
            </a:r>
            <a:endParaRPr lang="en-US" sz="3200" dirty="0"/>
          </a:p>
        </p:txBody>
      </p:sp>
      <p:sp>
        <p:nvSpPr>
          <p:cNvPr id="3" name="Text 1"/>
          <p:cNvSpPr txBox="1"/>
          <p:nvPr/>
        </p:nvSpPr>
        <p:spPr>
          <a:xfrm>
            <a:off x="548640" y="1508760"/>
            <a:ext cx="512064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Each answer becomes a 384-number vector (an embedding) from the pretrained all-MiniLM-L6-v2 model.</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Answers that mean the same thing point in the same direction, even with different wording.</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Cosine similarity compares the directions; it is rescaled to 0–100% so scores from different models line up.</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The same embeddings are reused for concept matching and completeness.</a:t>
            </a:r>
            <a:endParaRPr lang="en-US" sz="1600" dirty="0"/>
          </a:p>
        </p:txBody>
      </p:sp>
      <p:sp>
        <p:nvSpPr>
          <p:cNvPr id="4" name="Reference vector"/>
          <p:cNvSpPr/>
          <p:nvPr/>
        </p:nvSpPr>
        <p:spPr>
          <a:xfrm>
            <a:off x="6309360" y="1554480"/>
            <a:ext cx="5303520" cy="868680"/>
          </a:xfrm>
          <a:prstGeom prst="roundRect">
            <a:avLst>
              <a:gd name="adj" fmla="val 8421"/>
            </a:avLst>
          </a:prstGeom>
          <a:solidFill>
            <a:srgbClr val="F3F5F9"/>
          </a:solidFill>
          <a:ln w="12700">
            <a:solidFill>
              <a:srgbClr val="F3F5F9"/>
            </a:solidFill>
            <a:prstDash val="solid"/>
          </a:ln>
        </p:spPr>
      </p:sp>
      <p:sp>
        <p:nvSpPr>
          <p:cNvPr id="5" name="Text 3"/>
          <p:cNvSpPr txBox="1"/>
          <p:nvPr/>
        </p:nvSpPr>
        <p:spPr>
          <a:xfrm>
            <a:off x="6537960" y="1554480"/>
            <a:ext cx="1828800" cy="868680"/>
          </a:xfrm>
          <a:prstGeom prst="rect">
            <a:avLst/>
          </a:prstGeom>
          <a:noFill/>
          <a:ln/>
        </p:spPr>
        <p:txBody>
          <a:bodyPr wrap="square" lIns="0" tIns="0" rIns="0" bIns="0" rtlCol="0" anchor="ctr"/>
          <a:lstStyle/>
          <a:p>
            <a:pPr indent="0" marL="0">
              <a:buNone/>
            </a:pPr>
            <a:r>
              <a:rPr lang="en-US" sz="1400" b="1" dirty="0">
                <a:solidFill>
                  <a:srgbClr val="1B2440"/>
                </a:solidFill>
                <a:latin typeface="Calibri" pitchFamily="34" charset="0"/>
                <a:ea typeface="Calibri" pitchFamily="34" charset="-122"/>
                <a:cs typeface="Calibri" pitchFamily="34" charset="-120"/>
              </a:rPr>
              <a:t>Reference</a:t>
            </a:r>
            <a:endParaRPr lang="en-US" sz="1400" dirty="0"/>
          </a:p>
        </p:txBody>
      </p:sp>
      <p:sp>
        <p:nvSpPr>
          <p:cNvPr id="6" name="Text 4"/>
          <p:cNvSpPr txBox="1"/>
          <p:nvPr/>
        </p:nvSpPr>
        <p:spPr>
          <a:xfrm>
            <a:off x="8321040" y="1554480"/>
            <a:ext cx="3108960" cy="868680"/>
          </a:xfrm>
          <a:prstGeom prst="rect">
            <a:avLst/>
          </a:prstGeom>
          <a:noFill/>
          <a:ln/>
        </p:spPr>
        <p:txBody>
          <a:bodyPr wrap="square" lIns="0" tIns="0" rIns="0" bIns="0" rtlCol="0" anchor="ctr"/>
          <a:lstStyle/>
          <a:p>
            <a:pPr indent="0" marL="0">
              <a:buNone/>
            </a:pPr>
            <a:r>
              <a:rPr lang="en-US" sz="1500" dirty="0">
                <a:solidFill>
                  <a:srgbClr val="1F2937"/>
                </a:solidFill>
                <a:latin typeface="Courier New" pitchFamily="34" charset="0"/>
                <a:ea typeface="Courier New" pitchFamily="34" charset="-122"/>
                <a:cs typeface="Courier New" pitchFamily="34" charset="-120"/>
              </a:rPr>
              <a:t>[0.19, −0.40, 0.75, …]</a:t>
            </a:r>
            <a:endParaRPr lang="en-US" sz="1500" dirty="0"/>
          </a:p>
        </p:txBody>
      </p:sp>
      <p:sp>
        <p:nvSpPr>
          <p:cNvPr id="7" name="Student vector"/>
          <p:cNvSpPr/>
          <p:nvPr/>
        </p:nvSpPr>
        <p:spPr>
          <a:xfrm>
            <a:off x="6309360" y="2606040"/>
            <a:ext cx="5303520" cy="868680"/>
          </a:xfrm>
          <a:prstGeom prst="roundRect">
            <a:avLst>
              <a:gd name="adj" fmla="val 8421"/>
            </a:avLst>
          </a:prstGeom>
          <a:solidFill>
            <a:srgbClr val="F3F5F9"/>
          </a:solidFill>
          <a:ln w="12700">
            <a:solidFill>
              <a:srgbClr val="F3F5F9"/>
            </a:solidFill>
            <a:prstDash val="solid"/>
          </a:ln>
        </p:spPr>
      </p:sp>
      <p:sp>
        <p:nvSpPr>
          <p:cNvPr id="8" name="Text 6"/>
          <p:cNvSpPr txBox="1"/>
          <p:nvPr/>
        </p:nvSpPr>
        <p:spPr>
          <a:xfrm>
            <a:off x="6537960" y="2606040"/>
            <a:ext cx="1828800" cy="868680"/>
          </a:xfrm>
          <a:prstGeom prst="rect">
            <a:avLst/>
          </a:prstGeom>
          <a:noFill/>
          <a:ln/>
        </p:spPr>
        <p:txBody>
          <a:bodyPr wrap="square" lIns="0" tIns="0" rIns="0" bIns="0" rtlCol="0" anchor="ctr"/>
          <a:lstStyle/>
          <a:p>
            <a:pPr indent="0" marL="0">
              <a:buNone/>
            </a:pPr>
            <a:r>
              <a:rPr lang="en-US" sz="1400" b="1" dirty="0">
                <a:solidFill>
                  <a:srgbClr val="1B2440"/>
                </a:solidFill>
                <a:latin typeface="Calibri" pitchFamily="34" charset="0"/>
                <a:ea typeface="Calibri" pitchFamily="34" charset="-122"/>
                <a:cs typeface="Calibri" pitchFamily="34" charset="-120"/>
              </a:rPr>
              <a:t>Student</a:t>
            </a:r>
            <a:endParaRPr lang="en-US" sz="1400" dirty="0"/>
          </a:p>
        </p:txBody>
      </p:sp>
      <p:sp>
        <p:nvSpPr>
          <p:cNvPr id="9" name="Text 7"/>
          <p:cNvSpPr txBox="1"/>
          <p:nvPr/>
        </p:nvSpPr>
        <p:spPr>
          <a:xfrm>
            <a:off x="8321040" y="2606040"/>
            <a:ext cx="3108960" cy="868680"/>
          </a:xfrm>
          <a:prstGeom prst="rect">
            <a:avLst/>
          </a:prstGeom>
          <a:noFill/>
          <a:ln/>
        </p:spPr>
        <p:txBody>
          <a:bodyPr wrap="square" lIns="0" tIns="0" rIns="0" bIns="0" rtlCol="0" anchor="ctr"/>
          <a:lstStyle/>
          <a:p>
            <a:pPr indent="0" marL="0">
              <a:buNone/>
            </a:pPr>
            <a:r>
              <a:rPr lang="en-US" sz="1500" dirty="0">
                <a:solidFill>
                  <a:srgbClr val="1F2937"/>
                </a:solidFill>
                <a:latin typeface="Courier New" pitchFamily="34" charset="0"/>
                <a:ea typeface="Courier New" pitchFamily="34" charset="-122"/>
                <a:cs typeface="Courier New" pitchFamily="34" charset="-120"/>
              </a:rPr>
              <a:t>[0.21, −0.43, 0.78, …]</a:t>
            </a:r>
            <a:endParaRPr lang="en-US" sz="1500" dirty="0"/>
          </a:p>
        </p:txBody>
      </p:sp>
      <p:sp>
        <p:nvSpPr>
          <p:cNvPr id="10" name="cosine formula"/>
          <p:cNvSpPr/>
          <p:nvPr/>
        </p:nvSpPr>
        <p:spPr>
          <a:xfrm>
            <a:off x="6309360" y="3749040"/>
            <a:ext cx="5303520" cy="1143000"/>
          </a:xfrm>
          <a:prstGeom prst="roundRect">
            <a:avLst>
              <a:gd name="adj" fmla="val 6400"/>
            </a:avLst>
          </a:prstGeom>
          <a:solidFill>
            <a:srgbClr val="1B2440"/>
          </a:solidFill>
          <a:ln w="12700">
            <a:solidFill>
              <a:srgbClr val="1B2440"/>
            </a:solidFill>
            <a:prstDash val="solid"/>
          </a:ln>
        </p:spPr>
      </p:sp>
      <p:sp>
        <p:nvSpPr>
          <p:cNvPr id="11" name="Text 9"/>
          <p:cNvSpPr txBox="1"/>
          <p:nvPr/>
        </p:nvSpPr>
        <p:spPr>
          <a:xfrm>
            <a:off x="6537960" y="3749040"/>
            <a:ext cx="4937760" cy="1143000"/>
          </a:xfrm>
          <a:prstGeom prst="rect">
            <a:avLst/>
          </a:prstGeom>
          <a:noFill/>
          <a:ln/>
        </p:spPr>
        <p:txBody>
          <a:bodyPr wrap="square" lIns="0" tIns="0" rIns="0" bIns="0" rtlCol="0" anchor="ctr"/>
          <a:lstStyle/>
          <a:p>
            <a:pPr indent="0" marL="0">
              <a:buNone/>
            </a:pPr>
            <a:r>
              <a:rPr lang="en-US" sz="2000" dirty="0">
                <a:solidFill>
                  <a:srgbClr val="FFFFFF"/>
                </a:solidFill>
                <a:latin typeface="Cambria" pitchFamily="34" charset="0"/>
                <a:ea typeface="Cambria" pitchFamily="34" charset="-122"/>
                <a:cs typeface="Cambria" pitchFamily="34" charset="-120"/>
              </a:rPr>
              <a:t>cos θ = (r · s) / (‖r‖ ‖s‖)</a:t>
            </a:r>
            <a:endParaRPr lang="en-US" sz="1400" dirty="0"/>
          </a:p>
          <a:p>
            <a:pPr indent="0" marL="0">
              <a:buNone/>
            </a:pPr>
            <a:r>
              <a:rPr lang="en-US" sz="1300" dirty="0">
                <a:solidFill>
                  <a:srgbClr val="C9D2E6"/>
                </a:solidFill>
                <a:latin typeface="Calibri" pitchFamily="34" charset="0"/>
                <a:ea typeface="Calibri" pitchFamily="34" charset="-122"/>
                <a:cs typeface="Calibri" pitchFamily="34" charset="-120"/>
              </a:rPr>
              <a:t>≈ 0.9 similar meaning   ·   ≈ 0.3 different topic</a:t>
            </a:r>
            <a:endParaRPr lang="en-US" sz="1400" dirty="0"/>
          </a:p>
        </p:txBody>
      </p:sp>
      <p:sp>
        <p:nvSpPr>
          <p:cNvPr id="12" name="similarity caveat"/>
          <p:cNvSpPr/>
          <p:nvPr/>
        </p:nvSpPr>
        <p:spPr>
          <a:xfrm>
            <a:off x="548640" y="5166360"/>
            <a:ext cx="11064240" cy="914400"/>
          </a:xfrm>
          <a:prstGeom prst="roundRect">
            <a:avLst>
              <a:gd name="adj" fmla="val 8000"/>
            </a:avLst>
          </a:prstGeom>
          <a:solidFill>
            <a:srgbClr val="FBEAEC"/>
          </a:solidFill>
          <a:ln w="12700">
            <a:solidFill>
              <a:srgbClr val="FBEAEC"/>
            </a:solidFill>
            <a:prstDash val="solid"/>
          </a:ln>
        </p:spPr>
      </p:sp>
      <p:sp>
        <p:nvSpPr>
          <p:cNvPr id="13" name="caveat circle"/>
          <p:cNvSpPr/>
          <p:nvPr/>
        </p:nvSpPr>
        <p:spPr>
          <a:xfrm>
            <a:off x="777240" y="5303520"/>
            <a:ext cx="640080" cy="640080"/>
          </a:xfrm>
          <a:prstGeom prst="ellipse">
            <a:avLst/>
          </a:prstGeom>
          <a:solidFill>
            <a:srgbClr val="C8414F"/>
          </a:solidFill>
          <a:ln w="12700">
            <a:solidFill>
              <a:srgbClr val="C8414F"/>
            </a:solidFill>
            <a:prstDash val="solid"/>
          </a:ln>
        </p:spPr>
      </p:sp>
      <p:pic>
        <p:nvPicPr>
          <p:cNvPr id="14" name="caveat icon" descr="preencoded.png">    </p:cNvPr>
          <p:cNvPicPr>
            <a:picLocks noChangeAspect="1"/>
          </p:cNvPicPr>
          <p:nvPr/>
        </p:nvPicPr>
        <p:blipFill>
          <a:blip r:embed="rId1"/>
          <a:stretch>
            <a:fillRect/>
          </a:stretch>
        </p:blipFill>
        <p:spPr>
          <a:xfrm>
            <a:off x="930859" y="5457139"/>
            <a:ext cx="332842" cy="332842"/>
          </a:xfrm>
          <a:prstGeom prst="rect">
            <a:avLst/>
          </a:prstGeom>
        </p:spPr>
      </p:pic>
      <p:sp>
        <p:nvSpPr>
          <p:cNvPr id="15" name="Text 12"/>
          <p:cNvSpPr txBox="1"/>
          <p:nvPr/>
        </p:nvSpPr>
        <p:spPr>
          <a:xfrm>
            <a:off x="1645920" y="5166360"/>
            <a:ext cx="9784080" cy="9144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Similarity alone is not enough: a short answer with the right gist can score high while missing most of the points the teacher expects.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B2440"/>
                </a:solidFill>
                <a:latin typeface="Cambria" pitchFamily="34" charset="0"/>
                <a:ea typeface="Cambria" pitchFamily="34" charset="-122"/>
                <a:cs typeface="Cambria" pitchFamily="34" charset="-120"/>
              </a:rPr>
              <a:t>Stage 2: a rubric checks which key points are present</a:t>
            </a:r>
            <a:endParaRPr lang="en-US" sz="3200" dirty="0"/>
          </a:p>
        </p:txBody>
      </p:sp>
      <p:sp>
        <p:nvSpPr>
          <p:cNvPr id="3" name="Text 1"/>
          <p:cNvSpPr txBox="1"/>
          <p:nvPr/>
        </p:nvSpPr>
        <p:spPr>
          <a:xfrm>
            <a:off x="548640" y="1417320"/>
            <a:ext cx="5486400" cy="320040"/>
          </a:xfrm>
          <a:prstGeom prst="rect">
            <a:avLst/>
          </a:prstGeom>
          <a:noFill/>
          <a:ln/>
        </p:spPr>
        <p:txBody>
          <a:bodyPr wrap="square" lIns="0" tIns="0" rIns="0" bIns="0" rtlCol="0" anchor="t"/>
          <a:lstStyle/>
          <a:p>
            <a:pPr indent="0" marL="0">
              <a:buNone/>
            </a:pPr>
            <a:r>
              <a:rPr lang="en-US" sz="1400" b="1" dirty="0">
                <a:solidFill>
                  <a:srgbClr val="1B2440"/>
                </a:solidFill>
                <a:latin typeface="Calibri" pitchFamily="34" charset="0"/>
                <a:ea typeface="Calibri" pitchFamily="34" charset="-122"/>
                <a:cs typeface="Calibri" pitchFamily="34" charset="-120"/>
              </a:rPr>
              <a:t>Rubric for “Explain deadlock in an operating system.”</a:t>
            </a:r>
            <a:endParaRPr lang="en-US" sz="1400" dirty="0"/>
          </a:p>
        </p:txBody>
      </p:sp>
      <p:sp>
        <p:nvSpPr>
          <p:cNvPr id="4" name="waiting row"/>
          <p:cNvSpPr/>
          <p:nvPr/>
        </p:nvSpPr>
        <p:spPr>
          <a:xfrm>
            <a:off x="548640" y="1828800"/>
            <a:ext cx="5394960" cy="457200"/>
          </a:xfrm>
          <a:prstGeom prst="roundRect">
            <a:avLst>
              <a:gd name="adj" fmla="val 16000"/>
            </a:avLst>
          </a:prstGeom>
          <a:solidFill>
            <a:srgbClr val="F3F5F9"/>
          </a:solidFill>
          <a:ln w="12700">
            <a:solidFill>
              <a:srgbClr val="F3F5F9"/>
            </a:solidFill>
            <a:prstDash val="solid"/>
          </a:ln>
        </p:spPr>
      </p:sp>
      <p:sp>
        <p:nvSpPr>
          <p:cNvPr id="5" name="Text 3"/>
          <p:cNvSpPr txBox="1"/>
          <p:nvPr/>
        </p:nvSpPr>
        <p:spPr>
          <a:xfrm>
            <a:off x="731520" y="1828800"/>
            <a:ext cx="4023360" cy="4572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Processes blocked waiting for resources</a:t>
            </a:r>
            <a:endParaRPr lang="en-US" sz="1300" dirty="0"/>
          </a:p>
        </p:txBody>
      </p:sp>
      <p:sp>
        <p:nvSpPr>
          <p:cNvPr id="6" name="Text 4"/>
          <p:cNvSpPr txBox="1"/>
          <p:nvPr/>
        </p:nvSpPr>
        <p:spPr>
          <a:xfrm>
            <a:off x="4754880" y="1828800"/>
            <a:ext cx="1051560" cy="457200"/>
          </a:xfrm>
          <a:prstGeom prst="rect">
            <a:avLst/>
          </a:prstGeom>
          <a:noFill/>
          <a:ln/>
        </p:spPr>
        <p:txBody>
          <a:bodyPr wrap="square" lIns="0" tIns="0" rIns="0" bIns="0" rtlCol="0" anchor="ctr"/>
          <a:lstStyle/>
          <a:p>
            <a:pPr algn="r" indent="0" marL="0">
              <a:buNone/>
            </a:pPr>
            <a:r>
              <a:rPr lang="en-US" sz="1200" b="1" dirty="0">
                <a:solidFill>
                  <a:srgbClr val="C8414F"/>
                </a:solidFill>
                <a:latin typeface="Calibri" pitchFamily="34" charset="0"/>
                <a:ea typeface="Calibri" pitchFamily="34" charset="-122"/>
                <a:cs typeface="Calibri" pitchFamily="34" charset="-120"/>
              </a:rPr>
              <a:t>weight 2</a:t>
            </a:r>
            <a:endParaRPr lang="en-US" sz="1200" dirty="0"/>
          </a:p>
        </p:txBody>
      </p:sp>
      <p:sp>
        <p:nvSpPr>
          <p:cNvPr id="7" name="mutex row"/>
          <p:cNvSpPr/>
          <p:nvPr/>
        </p:nvSpPr>
        <p:spPr>
          <a:xfrm>
            <a:off x="548640" y="2395728"/>
            <a:ext cx="5394960" cy="457200"/>
          </a:xfrm>
          <a:prstGeom prst="roundRect">
            <a:avLst>
              <a:gd name="adj" fmla="val 16000"/>
            </a:avLst>
          </a:prstGeom>
          <a:solidFill>
            <a:srgbClr val="F3F5F9"/>
          </a:solidFill>
          <a:ln w="12700">
            <a:solidFill>
              <a:srgbClr val="F3F5F9"/>
            </a:solidFill>
            <a:prstDash val="solid"/>
          </a:ln>
        </p:spPr>
      </p:sp>
      <p:sp>
        <p:nvSpPr>
          <p:cNvPr id="8" name="Text 6"/>
          <p:cNvSpPr txBox="1"/>
          <p:nvPr/>
        </p:nvSpPr>
        <p:spPr>
          <a:xfrm>
            <a:off x="731520" y="2395728"/>
            <a:ext cx="4023360" cy="4572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Mutual exclusion</a:t>
            </a:r>
            <a:endParaRPr lang="en-US" sz="1300" dirty="0"/>
          </a:p>
        </p:txBody>
      </p:sp>
      <p:sp>
        <p:nvSpPr>
          <p:cNvPr id="9" name="Text 7"/>
          <p:cNvSpPr txBox="1"/>
          <p:nvPr/>
        </p:nvSpPr>
        <p:spPr>
          <a:xfrm>
            <a:off x="4754880" y="2395728"/>
            <a:ext cx="1051560" cy="457200"/>
          </a:xfrm>
          <a:prstGeom prst="rect">
            <a:avLst/>
          </a:prstGeom>
          <a:noFill/>
          <a:ln/>
        </p:spPr>
        <p:txBody>
          <a:bodyPr wrap="square" lIns="0" tIns="0" rIns="0" bIns="0" rtlCol="0" anchor="ctr"/>
          <a:lstStyle/>
          <a:p>
            <a:pPr algn="r" indent="0" marL="0">
              <a:buNone/>
            </a:pPr>
            <a:r>
              <a:rPr lang="en-US" sz="1200" dirty="0">
                <a:solidFill>
                  <a:srgbClr val="5B6475"/>
                </a:solidFill>
                <a:latin typeface="Calibri" pitchFamily="34" charset="0"/>
                <a:ea typeface="Calibri" pitchFamily="34" charset="-122"/>
                <a:cs typeface="Calibri" pitchFamily="34" charset="-120"/>
              </a:rPr>
              <a:t>weight 1</a:t>
            </a:r>
            <a:endParaRPr lang="en-US" sz="1200" dirty="0"/>
          </a:p>
        </p:txBody>
      </p:sp>
      <p:sp>
        <p:nvSpPr>
          <p:cNvPr id="10" name="hold_wait row"/>
          <p:cNvSpPr/>
          <p:nvPr/>
        </p:nvSpPr>
        <p:spPr>
          <a:xfrm>
            <a:off x="548640" y="2962656"/>
            <a:ext cx="5394960" cy="457200"/>
          </a:xfrm>
          <a:prstGeom prst="roundRect">
            <a:avLst>
              <a:gd name="adj" fmla="val 16000"/>
            </a:avLst>
          </a:prstGeom>
          <a:solidFill>
            <a:srgbClr val="F3F5F9"/>
          </a:solidFill>
          <a:ln w="12700">
            <a:solidFill>
              <a:srgbClr val="F3F5F9"/>
            </a:solidFill>
            <a:prstDash val="solid"/>
          </a:ln>
        </p:spPr>
      </p:sp>
      <p:sp>
        <p:nvSpPr>
          <p:cNvPr id="11" name="Text 9"/>
          <p:cNvSpPr txBox="1"/>
          <p:nvPr/>
        </p:nvSpPr>
        <p:spPr>
          <a:xfrm>
            <a:off x="731520" y="2962656"/>
            <a:ext cx="4023360" cy="4572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Hold and wait</a:t>
            </a:r>
            <a:endParaRPr lang="en-US" sz="1300" dirty="0"/>
          </a:p>
        </p:txBody>
      </p:sp>
      <p:sp>
        <p:nvSpPr>
          <p:cNvPr id="12" name="Text 10"/>
          <p:cNvSpPr txBox="1"/>
          <p:nvPr/>
        </p:nvSpPr>
        <p:spPr>
          <a:xfrm>
            <a:off x="4754880" y="2962656"/>
            <a:ext cx="1051560" cy="457200"/>
          </a:xfrm>
          <a:prstGeom prst="rect">
            <a:avLst/>
          </a:prstGeom>
          <a:noFill/>
          <a:ln/>
        </p:spPr>
        <p:txBody>
          <a:bodyPr wrap="square" lIns="0" tIns="0" rIns="0" bIns="0" rtlCol="0" anchor="ctr"/>
          <a:lstStyle/>
          <a:p>
            <a:pPr algn="r" indent="0" marL="0">
              <a:buNone/>
            </a:pPr>
            <a:r>
              <a:rPr lang="en-US" sz="1200" dirty="0">
                <a:solidFill>
                  <a:srgbClr val="5B6475"/>
                </a:solidFill>
                <a:latin typeface="Calibri" pitchFamily="34" charset="0"/>
                <a:ea typeface="Calibri" pitchFamily="34" charset="-122"/>
                <a:cs typeface="Calibri" pitchFamily="34" charset="-120"/>
              </a:rPr>
              <a:t>weight 1</a:t>
            </a:r>
            <a:endParaRPr lang="en-US" sz="1200" dirty="0"/>
          </a:p>
        </p:txBody>
      </p:sp>
      <p:sp>
        <p:nvSpPr>
          <p:cNvPr id="13" name="no_preempt row"/>
          <p:cNvSpPr/>
          <p:nvPr/>
        </p:nvSpPr>
        <p:spPr>
          <a:xfrm>
            <a:off x="548640" y="3529584"/>
            <a:ext cx="5394960" cy="457200"/>
          </a:xfrm>
          <a:prstGeom prst="roundRect">
            <a:avLst>
              <a:gd name="adj" fmla="val 16000"/>
            </a:avLst>
          </a:prstGeom>
          <a:solidFill>
            <a:srgbClr val="F3F5F9"/>
          </a:solidFill>
          <a:ln w="12700">
            <a:solidFill>
              <a:srgbClr val="F3F5F9"/>
            </a:solidFill>
            <a:prstDash val="solid"/>
          </a:ln>
        </p:spPr>
      </p:sp>
      <p:sp>
        <p:nvSpPr>
          <p:cNvPr id="14" name="Text 12"/>
          <p:cNvSpPr txBox="1"/>
          <p:nvPr/>
        </p:nvSpPr>
        <p:spPr>
          <a:xfrm>
            <a:off x="731520" y="3529584"/>
            <a:ext cx="4023360" cy="4572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No preemption</a:t>
            </a:r>
            <a:endParaRPr lang="en-US" sz="1300" dirty="0"/>
          </a:p>
        </p:txBody>
      </p:sp>
      <p:sp>
        <p:nvSpPr>
          <p:cNvPr id="15" name="Text 13"/>
          <p:cNvSpPr txBox="1"/>
          <p:nvPr/>
        </p:nvSpPr>
        <p:spPr>
          <a:xfrm>
            <a:off x="4754880" y="3529584"/>
            <a:ext cx="1051560" cy="457200"/>
          </a:xfrm>
          <a:prstGeom prst="rect">
            <a:avLst/>
          </a:prstGeom>
          <a:noFill/>
          <a:ln/>
        </p:spPr>
        <p:txBody>
          <a:bodyPr wrap="square" lIns="0" tIns="0" rIns="0" bIns="0" rtlCol="0" anchor="ctr"/>
          <a:lstStyle/>
          <a:p>
            <a:pPr algn="r" indent="0" marL="0">
              <a:buNone/>
            </a:pPr>
            <a:r>
              <a:rPr lang="en-US" sz="1200" dirty="0">
                <a:solidFill>
                  <a:srgbClr val="5B6475"/>
                </a:solidFill>
                <a:latin typeface="Calibri" pitchFamily="34" charset="0"/>
                <a:ea typeface="Calibri" pitchFamily="34" charset="-122"/>
                <a:cs typeface="Calibri" pitchFamily="34" charset="-120"/>
              </a:rPr>
              <a:t>weight 1</a:t>
            </a:r>
            <a:endParaRPr lang="en-US" sz="1200" dirty="0"/>
          </a:p>
        </p:txBody>
      </p:sp>
      <p:sp>
        <p:nvSpPr>
          <p:cNvPr id="16" name="circular row"/>
          <p:cNvSpPr/>
          <p:nvPr/>
        </p:nvSpPr>
        <p:spPr>
          <a:xfrm>
            <a:off x="548640" y="4096512"/>
            <a:ext cx="5394960" cy="457200"/>
          </a:xfrm>
          <a:prstGeom prst="roundRect">
            <a:avLst>
              <a:gd name="adj" fmla="val 16000"/>
            </a:avLst>
          </a:prstGeom>
          <a:solidFill>
            <a:srgbClr val="F3F5F9"/>
          </a:solidFill>
          <a:ln w="12700">
            <a:solidFill>
              <a:srgbClr val="F3F5F9"/>
            </a:solidFill>
            <a:prstDash val="solid"/>
          </a:ln>
        </p:spPr>
      </p:sp>
      <p:sp>
        <p:nvSpPr>
          <p:cNvPr id="17" name="Text 15"/>
          <p:cNvSpPr txBox="1"/>
          <p:nvPr/>
        </p:nvSpPr>
        <p:spPr>
          <a:xfrm>
            <a:off x="731520" y="4096512"/>
            <a:ext cx="4023360" cy="4572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Circular wait</a:t>
            </a:r>
            <a:endParaRPr lang="en-US" sz="1300" dirty="0"/>
          </a:p>
        </p:txBody>
      </p:sp>
      <p:sp>
        <p:nvSpPr>
          <p:cNvPr id="18" name="Text 16"/>
          <p:cNvSpPr txBox="1"/>
          <p:nvPr/>
        </p:nvSpPr>
        <p:spPr>
          <a:xfrm>
            <a:off x="4754880" y="4096512"/>
            <a:ext cx="1051560" cy="457200"/>
          </a:xfrm>
          <a:prstGeom prst="rect">
            <a:avLst/>
          </a:prstGeom>
          <a:noFill/>
          <a:ln/>
        </p:spPr>
        <p:txBody>
          <a:bodyPr wrap="square" lIns="0" tIns="0" rIns="0" bIns="0" rtlCol="0" anchor="ctr"/>
          <a:lstStyle/>
          <a:p>
            <a:pPr algn="r" indent="0" marL="0">
              <a:buNone/>
            </a:pPr>
            <a:r>
              <a:rPr lang="en-US" sz="1200" dirty="0">
                <a:solidFill>
                  <a:srgbClr val="5B6475"/>
                </a:solidFill>
                <a:latin typeface="Calibri" pitchFamily="34" charset="0"/>
                <a:ea typeface="Calibri" pitchFamily="34" charset="-122"/>
                <a:cs typeface="Calibri" pitchFamily="34" charset="-120"/>
              </a:rPr>
              <a:t>weight 1</a:t>
            </a:r>
            <a:endParaRPr lang="en-US" sz="1200" dirty="0"/>
          </a:p>
        </p:txBody>
      </p:sp>
      <p:sp>
        <p:nvSpPr>
          <p:cNvPr id="19" name="handling row"/>
          <p:cNvSpPr/>
          <p:nvPr/>
        </p:nvSpPr>
        <p:spPr>
          <a:xfrm>
            <a:off x="548640" y="4663440"/>
            <a:ext cx="5394960" cy="457200"/>
          </a:xfrm>
          <a:prstGeom prst="roundRect">
            <a:avLst>
              <a:gd name="adj" fmla="val 16000"/>
            </a:avLst>
          </a:prstGeom>
          <a:solidFill>
            <a:srgbClr val="F3F5F9"/>
          </a:solidFill>
          <a:ln w="12700">
            <a:solidFill>
              <a:srgbClr val="F3F5F9"/>
            </a:solidFill>
            <a:prstDash val="solid"/>
          </a:ln>
        </p:spPr>
      </p:sp>
      <p:sp>
        <p:nvSpPr>
          <p:cNvPr id="20" name="Text 18"/>
          <p:cNvSpPr txBox="1"/>
          <p:nvPr/>
        </p:nvSpPr>
        <p:spPr>
          <a:xfrm>
            <a:off x="731520" y="4663440"/>
            <a:ext cx="4023360" cy="4572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Handling: prevention / avoidance / detection</a:t>
            </a:r>
            <a:endParaRPr lang="en-US" sz="1300" dirty="0"/>
          </a:p>
        </p:txBody>
      </p:sp>
      <p:sp>
        <p:nvSpPr>
          <p:cNvPr id="21" name="Text 19"/>
          <p:cNvSpPr txBox="1"/>
          <p:nvPr/>
        </p:nvSpPr>
        <p:spPr>
          <a:xfrm>
            <a:off x="4754880" y="4663440"/>
            <a:ext cx="1051560" cy="457200"/>
          </a:xfrm>
          <a:prstGeom prst="rect">
            <a:avLst/>
          </a:prstGeom>
          <a:noFill/>
          <a:ln/>
        </p:spPr>
        <p:txBody>
          <a:bodyPr wrap="square" lIns="0" tIns="0" rIns="0" bIns="0" rtlCol="0" anchor="ctr"/>
          <a:lstStyle/>
          <a:p>
            <a:pPr algn="r" indent="0" marL="0">
              <a:buNone/>
            </a:pPr>
            <a:r>
              <a:rPr lang="en-US" sz="1200" dirty="0">
                <a:solidFill>
                  <a:srgbClr val="5B6475"/>
                </a:solidFill>
                <a:latin typeface="Calibri" pitchFamily="34" charset="0"/>
                <a:ea typeface="Calibri" pitchFamily="34" charset="-122"/>
                <a:cs typeface="Calibri" pitchFamily="34" charset="-120"/>
              </a:rPr>
              <a:t>weight 1</a:t>
            </a:r>
            <a:endParaRPr lang="en-US" sz="1200" dirty="0"/>
          </a:p>
        </p:txBody>
      </p:sp>
      <p:sp>
        <p:nvSpPr>
          <p:cNvPr id="22" name="Keyword match circle"/>
          <p:cNvSpPr/>
          <p:nvPr/>
        </p:nvSpPr>
        <p:spPr>
          <a:xfrm>
            <a:off x="6400800" y="1463040"/>
            <a:ext cx="640080" cy="640080"/>
          </a:xfrm>
          <a:prstGeom prst="ellipse">
            <a:avLst/>
          </a:prstGeom>
          <a:solidFill>
            <a:srgbClr val="1B2440"/>
          </a:solidFill>
          <a:ln w="12700">
            <a:solidFill>
              <a:srgbClr val="1B2440"/>
            </a:solidFill>
            <a:prstDash val="solid"/>
          </a:ln>
        </p:spPr>
      </p:sp>
      <p:pic>
        <p:nvPicPr>
          <p:cNvPr id="23" name="Keyword match icon" descr="preencoded.png">    </p:cNvPr>
          <p:cNvPicPr>
            <a:picLocks noChangeAspect="1"/>
          </p:cNvPicPr>
          <p:nvPr/>
        </p:nvPicPr>
        <p:blipFill>
          <a:blip r:embed="rId1"/>
          <a:stretch>
            <a:fillRect/>
          </a:stretch>
        </p:blipFill>
        <p:spPr>
          <a:xfrm>
            <a:off x="6554419" y="1616659"/>
            <a:ext cx="332842" cy="332842"/>
          </a:xfrm>
          <a:prstGeom prst="rect">
            <a:avLst/>
          </a:prstGeom>
        </p:spPr>
      </p:pic>
      <p:sp>
        <p:nvSpPr>
          <p:cNvPr id="24" name="Text 21"/>
          <p:cNvSpPr txBox="1"/>
          <p:nvPr/>
        </p:nvSpPr>
        <p:spPr>
          <a:xfrm>
            <a:off x="7223760" y="1463040"/>
            <a:ext cx="4389120" cy="365760"/>
          </a:xfrm>
          <a:prstGeom prst="rect">
            <a:avLst/>
          </a:prstGeom>
          <a:noFill/>
          <a:ln/>
        </p:spPr>
        <p:txBody>
          <a:bodyPr wrap="square" lIns="0" tIns="0" rIns="0" bIns="0" rtlCol="0" anchor="t"/>
          <a:lstStyle/>
          <a:p>
            <a:pPr indent="0" marL="0">
              <a:buNone/>
            </a:pPr>
            <a:r>
              <a:rPr lang="en-US" sz="1800" b="1" dirty="0">
                <a:solidFill>
                  <a:srgbClr val="1B2440"/>
                </a:solidFill>
                <a:latin typeface="Cambria" pitchFamily="34" charset="0"/>
                <a:ea typeface="Cambria" pitchFamily="34" charset="-122"/>
                <a:cs typeface="Cambria" pitchFamily="34" charset="-120"/>
              </a:rPr>
              <a:t>Keyword match</a:t>
            </a:r>
            <a:endParaRPr lang="en-US" sz="1800" dirty="0"/>
          </a:p>
        </p:txBody>
      </p:sp>
      <p:sp>
        <p:nvSpPr>
          <p:cNvPr id="25" name="Text 22"/>
          <p:cNvSpPr txBox="1"/>
          <p:nvPr/>
        </p:nvSpPr>
        <p:spPr>
          <a:xfrm>
            <a:off x="7223760" y="1874520"/>
            <a:ext cx="4389120" cy="10058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Text is lower-cased and stemmed, so “connection-oriented” matches “connection oriented” and “inserting” matches “insertion”.</a:t>
            </a:r>
            <a:endParaRPr lang="en-US" sz="1400" dirty="0"/>
          </a:p>
        </p:txBody>
      </p:sp>
      <p:sp>
        <p:nvSpPr>
          <p:cNvPr id="26" name="Semantic match circle"/>
          <p:cNvSpPr/>
          <p:nvPr/>
        </p:nvSpPr>
        <p:spPr>
          <a:xfrm>
            <a:off x="6400800" y="3017520"/>
            <a:ext cx="640080" cy="640080"/>
          </a:xfrm>
          <a:prstGeom prst="ellipse">
            <a:avLst/>
          </a:prstGeom>
          <a:solidFill>
            <a:srgbClr val="1B2440"/>
          </a:solidFill>
          <a:ln w="12700">
            <a:solidFill>
              <a:srgbClr val="1B2440"/>
            </a:solidFill>
            <a:prstDash val="solid"/>
          </a:ln>
        </p:spPr>
      </p:sp>
      <p:pic>
        <p:nvPicPr>
          <p:cNvPr id="27" name="Semantic match icon" descr="preencoded.png">    </p:cNvPr>
          <p:cNvPicPr>
            <a:picLocks noChangeAspect="1"/>
          </p:cNvPicPr>
          <p:nvPr/>
        </p:nvPicPr>
        <p:blipFill>
          <a:blip r:embed="rId2"/>
          <a:stretch>
            <a:fillRect/>
          </a:stretch>
        </p:blipFill>
        <p:spPr>
          <a:xfrm>
            <a:off x="6554419" y="3171139"/>
            <a:ext cx="332842" cy="332842"/>
          </a:xfrm>
          <a:prstGeom prst="rect">
            <a:avLst/>
          </a:prstGeom>
        </p:spPr>
      </p:pic>
      <p:sp>
        <p:nvSpPr>
          <p:cNvPr id="28" name="Text 24"/>
          <p:cNvSpPr txBox="1"/>
          <p:nvPr/>
        </p:nvSpPr>
        <p:spPr>
          <a:xfrm>
            <a:off x="7223760" y="3017520"/>
            <a:ext cx="4389120" cy="365760"/>
          </a:xfrm>
          <a:prstGeom prst="rect">
            <a:avLst/>
          </a:prstGeom>
          <a:noFill/>
          <a:ln/>
        </p:spPr>
        <p:txBody>
          <a:bodyPr wrap="square" lIns="0" tIns="0" rIns="0" bIns="0" rtlCol="0" anchor="t"/>
          <a:lstStyle/>
          <a:p>
            <a:pPr indent="0" marL="0">
              <a:buNone/>
            </a:pPr>
            <a:r>
              <a:rPr lang="en-US" sz="1800" b="1" dirty="0">
                <a:solidFill>
                  <a:srgbClr val="1B2440"/>
                </a:solidFill>
                <a:latin typeface="Cambria" pitchFamily="34" charset="0"/>
                <a:ea typeface="Cambria" pitchFamily="34" charset="-122"/>
                <a:cs typeface="Cambria" pitchFamily="34" charset="-120"/>
              </a:rPr>
              <a:t>Semantic match</a:t>
            </a:r>
            <a:endParaRPr lang="en-US" sz="1800" dirty="0"/>
          </a:p>
        </p:txBody>
      </p:sp>
      <p:sp>
        <p:nvSpPr>
          <p:cNvPr id="29" name="Text 25"/>
          <p:cNvSpPr txBox="1"/>
          <p:nvPr/>
        </p:nvSpPr>
        <p:spPr>
          <a:xfrm>
            <a:off x="7223760" y="3429000"/>
            <a:ext cx="4389120" cy="10058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If no keyword appears, each student sentence is compared with the concept using Sentence-BERT (cosine ≥ 0.55), which catches paraphrases.</a:t>
            </a:r>
            <a:endParaRPr lang="en-US" sz="1400" dirty="0"/>
          </a:p>
        </p:txBody>
      </p:sp>
      <p:sp>
        <p:nvSpPr>
          <p:cNvPr id="30" name="Weighted coverage circle"/>
          <p:cNvSpPr/>
          <p:nvPr/>
        </p:nvSpPr>
        <p:spPr>
          <a:xfrm>
            <a:off x="6400800" y="4572000"/>
            <a:ext cx="640080" cy="640080"/>
          </a:xfrm>
          <a:prstGeom prst="ellipse">
            <a:avLst/>
          </a:prstGeom>
          <a:solidFill>
            <a:srgbClr val="1B2440"/>
          </a:solidFill>
          <a:ln w="12700">
            <a:solidFill>
              <a:srgbClr val="1B2440"/>
            </a:solidFill>
            <a:prstDash val="solid"/>
          </a:ln>
        </p:spPr>
      </p:sp>
      <p:pic>
        <p:nvPicPr>
          <p:cNvPr id="31" name="Weighted coverage icon" descr="preencoded.png">    </p:cNvPr>
          <p:cNvPicPr>
            <a:picLocks noChangeAspect="1"/>
          </p:cNvPicPr>
          <p:nvPr/>
        </p:nvPicPr>
        <p:blipFill>
          <a:blip r:embed="rId3"/>
          <a:stretch>
            <a:fillRect/>
          </a:stretch>
        </p:blipFill>
        <p:spPr>
          <a:xfrm>
            <a:off x="6554419" y="4725619"/>
            <a:ext cx="332842" cy="332842"/>
          </a:xfrm>
          <a:prstGeom prst="rect">
            <a:avLst/>
          </a:prstGeom>
        </p:spPr>
      </p:pic>
      <p:sp>
        <p:nvSpPr>
          <p:cNvPr id="32" name="Text 27"/>
          <p:cNvSpPr txBox="1"/>
          <p:nvPr/>
        </p:nvSpPr>
        <p:spPr>
          <a:xfrm>
            <a:off x="7223760" y="4572000"/>
            <a:ext cx="4389120" cy="365760"/>
          </a:xfrm>
          <a:prstGeom prst="rect">
            <a:avLst/>
          </a:prstGeom>
          <a:noFill/>
          <a:ln/>
        </p:spPr>
        <p:txBody>
          <a:bodyPr wrap="square" lIns="0" tIns="0" rIns="0" bIns="0" rtlCol="0" anchor="t"/>
          <a:lstStyle/>
          <a:p>
            <a:pPr indent="0" marL="0">
              <a:buNone/>
            </a:pPr>
            <a:r>
              <a:rPr lang="en-US" sz="1800" b="1" dirty="0">
                <a:solidFill>
                  <a:srgbClr val="1B2440"/>
                </a:solidFill>
                <a:latin typeface="Cambria" pitchFamily="34" charset="0"/>
                <a:ea typeface="Cambria" pitchFamily="34" charset="-122"/>
                <a:cs typeface="Cambria" pitchFamily="34" charset="-120"/>
              </a:rPr>
              <a:t>Weighted coverage</a:t>
            </a:r>
            <a:endParaRPr lang="en-US" sz="1800" dirty="0"/>
          </a:p>
        </p:txBody>
      </p:sp>
      <p:sp>
        <p:nvSpPr>
          <p:cNvPr id="33" name="Text 28"/>
          <p:cNvSpPr txBox="1"/>
          <p:nvPr/>
        </p:nvSpPr>
        <p:spPr>
          <a:xfrm>
            <a:off x="7223760" y="4983480"/>
            <a:ext cx="4389120" cy="10058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Coverage = weight of concepts found ÷ total weight. Core ideas can carry more weight than details.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B2440"/>
                </a:solidFill>
                <a:latin typeface="Cambria" pitchFamily="34" charset="0"/>
                <a:ea typeface="Cambria" pitchFamily="34" charset="-122"/>
                <a:cs typeface="Cambria" pitchFamily="34" charset="-120"/>
              </a:rPr>
              <a:t>Stage 3: the signals expose different weaknesses</a:t>
            </a:r>
            <a:endParaRPr lang="en-US" sz="3200" dirty="0"/>
          </a:p>
        </p:txBody>
      </p:sp>
      <p:sp>
        <p:nvSpPr>
          <p:cNvPr id="3" name="Text 1"/>
          <p:cNvSpPr txBox="1"/>
          <p:nvPr/>
        </p:nvSpPr>
        <p:spPr>
          <a:xfrm>
            <a:off x="548640" y="1371600"/>
            <a:ext cx="11064240" cy="731520"/>
          </a:xfrm>
          <a:prstGeom prst="rect">
            <a:avLst/>
          </a:prstGeom>
          <a:noFill/>
          <a:ln/>
        </p:spPr>
        <p:txBody>
          <a:bodyPr wrap="square" lIns="0" tIns="0" rIns="0" bIns="0" rtlCol="0" anchor="t"/>
          <a:lstStyle/>
          <a:p>
            <a:pPr indent="0" marL="0">
              <a:buNone/>
            </a:pPr>
            <a:r>
              <a:rPr lang="en-US" sz="1500" dirty="0">
                <a:solidFill>
                  <a:srgbClr val="5B6475"/>
                </a:solidFill>
                <a:latin typeface="Calibri" pitchFamily="34" charset="0"/>
                <a:ea typeface="Calibri" pitchFamily="34" charset="-122"/>
                <a:cs typeface="Calibri" pitchFamily="34" charset="-120"/>
              </a:rPr>
              <a:t>Two answers to the deadlock question get the same mark for opposite reasons. Their similarity is almost equal; concept coverage shows which points each one has, and completeness (reference sentences matched, blended with length) shows both are too thin.</a:t>
            </a:r>
            <a:endParaRPr lang="en-US" sz="1500" dirty="0"/>
          </a:p>
        </p:txBody>
      </p:sp>
      <p:sp>
        <p:nvSpPr>
          <p:cNvPr id="4" name="Explains the idea, misses the conditions"/>
          <p:cNvSpPr/>
          <p:nvPr/>
        </p:nvSpPr>
        <p:spPr>
          <a:xfrm>
            <a:off x="548640" y="2286000"/>
            <a:ext cx="5394960" cy="3794760"/>
          </a:xfrm>
          <a:prstGeom prst="roundRect">
            <a:avLst>
              <a:gd name="adj" fmla="val 1928"/>
            </a:avLst>
          </a:prstGeom>
          <a:solidFill>
            <a:srgbClr val="F3F5F9"/>
          </a:solidFill>
          <a:ln w="12700">
            <a:solidFill>
              <a:srgbClr val="F3F5F9"/>
            </a:solidFill>
            <a:prstDash val="solid"/>
          </a:ln>
        </p:spPr>
      </p:sp>
      <p:sp>
        <p:nvSpPr>
          <p:cNvPr id="5" name="Text 3"/>
          <p:cNvSpPr txBox="1"/>
          <p:nvPr/>
        </p:nvSpPr>
        <p:spPr>
          <a:xfrm>
            <a:off x="822960" y="2468880"/>
            <a:ext cx="4846320" cy="365760"/>
          </a:xfrm>
          <a:prstGeom prst="rect">
            <a:avLst/>
          </a:prstGeom>
          <a:noFill/>
          <a:ln/>
        </p:spPr>
        <p:txBody>
          <a:bodyPr wrap="square" lIns="0" tIns="0" rIns="0" bIns="0" rtlCol="0" anchor="t"/>
          <a:lstStyle/>
          <a:p>
            <a:pPr indent="0" marL="0">
              <a:buNone/>
            </a:pPr>
            <a:r>
              <a:rPr lang="en-US" sz="1700" b="1" dirty="0">
                <a:solidFill>
                  <a:srgbClr val="1B2440"/>
                </a:solidFill>
                <a:latin typeface="Cambria" pitchFamily="34" charset="0"/>
                <a:ea typeface="Cambria" pitchFamily="34" charset="-122"/>
                <a:cs typeface="Cambria" pitchFamily="34" charset="-120"/>
              </a:rPr>
              <a:t>Explains the idea, misses the conditions</a:t>
            </a:r>
            <a:endParaRPr lang="en-US" sz="1700" dirty="0"/>
          </a:p>
        </p:txBody>
      </p:sp>
      <p:sp>
        <p:nvSpPr>
          <p:cNvPr id="6" name="Text 4"/>
          <p:cNvSpPr txBox="1"/>
          <p:nvPr/>
        </p:nvSpPr>
        <p:spPr>
          <a:xfrm>
            <a:off x="822960" y="2880360"/>
            <a:ext cx="4846320" cy="960120"/>
          </a:xfrm>
          <a:prstGeom prst="rect">
            <a:avLst/>
          </a:prstGeom>
          <a:noFill/>
          <a:ln/>
        </p:spPr>
        <p:txBody>
          <a:bodyPr wrap="square" lIns="0" tIns="0" rIns="0" bIns="0" rtlCol="0" anchor="t"/>
          <a:lstStyle/>
          <a:p>
            <a:pPr indent="0" marL="0">
              <a:buNone/>
            </a:pPr>
            <a:r>
              <a:rPr lang="en-US" sz="1300" i="1" dirty="0">
                <a:solidFill>
                  <a:srgbClr val="1F2937"/>
                </a:solidFill>
                <a:latin typeface="Calibri" pitchFamily="34" charset="0"/>
                <a:ea typeface="Calibri" pitchFamily="34" charset="-122"/>
                <a:cs typeface="Calibri" pitchFamily="34" charset="-120"/>
              </a:rPr>
              <a:t>“Deadlock occurs when processes wait for resources that are being used by other processes. The processes cannot continue their execution.”</a:t>
            </a:r>
            <a:endParaRPr lang="en-US" sz="1300" dirty="0"/>
          </a:p>
        </p:txBody>
      </p:sp>
      <p:sp>
        <p:nvSpPr>
          <p:cNvPr id="7" name="Text 5"/>
          <p:cNvSpPr txBox="1"/>
          <p:nvPr/>
        </p:nvSpPr>
        <p:spPr>
          <a:xfrm>
            <a:off x="822960" y="3977640"/>
            <a:ext cx="1737360" cy="274320"/>
          </a:xfrm>
          <a:prstGeom prst="rect">
            <a:avLst/>
          </a:prstGeom>
          <a:noFill/>
          <a:ln/>
        </p:spPr>
        <p:txBody>
          <a:bodyPr wrap="square" lIns="0" tIns="0" rIns="0" bIns="0" rtlCol="0" anchor="ctr"/>
          <a:lstStyle/>
          <a:p>
            <a:pPr indent="0" marL="0">
              <a:buNone/>
            </a:pPr>
            <a:r>
              <a:rPr lang="en-US" sz="1300" dirty="0">
                <a:solidFill>
                  <a:srgbClr val="5B6475"/>
                </a:solidFill>
                <a:latin typeface="Calibri" pitchFamily="34" charset="0"/>
                <a:ea typeface="Calibri" pitchFamily="34" charset="-122"/>
                <a:cs typeface="Calibri" pitchFamily="34" charset="-120"/>
              </a:rPr>
              <a:t>Similarity</a:t>
            </a:r>
            <a:endParaRPr lang="en-US" sz="1300" dirty="0"/>
          </a:p>
        </p:txBody>
      </p:sp>
      <p:sp>
        <p:nvSpPr>
          <p:cNvPr id="8" name="Shape 6"/>
          <p:cNvSpPr/>
          <p:nvPr/>
        </p:nvSpPr>
        <p:spPr>
          <a:xfrm>
            <a:off x="2606040" y="4041648"/>
            <a:ext cx="2377440" cy="146304"/>
          </a:xfrm>
          <a:prstGeom prst="rect">
            <a:avLst/>
          </a:prstGeom>
          <a:solidFill>
            <a:srgbClr val="D9DEE7"/>
          </a:solidFill>
          <a:ln w="12700">
            <a:solidFill>
              <a:srgbClr val="D9DEE7"/>
            </a:solidFill>
            <a:prstDash val="solid"/>
          </a:ln>
        </p:spPr>
      </p:sp>
      <p:sp>
        <p:nvSpPr>
          <p:cNvPr id="9" name="Shape 7"/>
          <p:cNvSpPr/>
          <p:nvPr/>
        </p:nvSpPr>
        <p:spPr>
          <a:xfrm>
            <a:off x="2606040" y="4041648"/>
            <a:ext cx="2146153" cy="146304"/>
          </a:xfrm>
          <a:prstGeom prst="rect">
            <a:avLst/>
          </a:prstGeom>
          <a:solidFill>
            <a:srgbClr val="2F5DA8"/>
          </a:solidFill>
          <a:ln w="12700">
            <a:solidFill>
              <a:srgbClr val="2F5DA8"/>
            </a:solidFill>
            <a:prstDash val="solid"/>
          </a:ln>
        </p:spPr>
      </p:sp>
      <p:sp>
        <p:nvSpPr>
          <p:cNvPr id="10" name="Text 8"/>
          <p:cNvSpPr txBox="1"/>
          <p:nvPr/>
        </p:nvSpPr>
        <p:spPr>
          <a:xfrm>
            <a:off x="5074920" y="3977640"/>
            <a:ext cx="594360" cy="274320"/>
          </a:xfrm>
          <a:prstGeom prst="rect">
            <a:avLst/>
          </a:prstGeom>
          <a:noFill/>
          <a:ln/>
        </p:spPr>
        <p:txBody>
          <a:bodyPr wrap="square" lIns="0" tIns="0" rIns="0" bIns="0" rtlCol="0" anchor="ctr"/>
          <a:lstStyle/>
          <a:p>
            <a:pPr algn="r" indent="0" marL="0">
              <a:buNone/>
            </a:pPr>
            <a:r>
              <a:rPr lang="en-US" sz="1300" b="1" dirty="0">
                <a:solidFill>
                  <a:srgbClr val="1F2937"/>
                </a:solidFill>
                <a:latin typeface="Calibri" pitchFamily="34" charset="0"/>
                <a:ea typeface="Calibri" pitchFamily="34" charset="-122"/>
                <a:cs typeface="Calibri" pitchFamily="34" charset="-120"/>
              </a:rPr>
              <a:t>90%</a:t>
            </a:r>
            <a:endParaRPr lang="en-US" sz="1300" dirty="0"/>
          </a:p>
        </p:txBody>
      </p:sp>
      <p:sp>
        <p:nvSpPr>
          <p:cNvPr id="11" name="Text 9"/>
          <p:cNvSpPr txBox="1"/>
          <p:nvPr/>
        </p:nvSpPr>
        <p:spPr>
          <a:xfrm>
            <a:off x="822960" y="4389120"/>
            <a:ext cx="1737360" cy="274320"/>
          </a:xfrm>
          <a:prstGeom prst="rect">
            <a:avLst/>
          </a:prstGeom>
          <a:noFill/>
          <a:ln/>
        </p:spPr>
        <p:txBody>
          <a:bodyPr wrap="square" lIns="0" tIns="0" rIns="0" bIns="0" rtlCol="0" anchor="ctr"/>
          <a:lstStyle/>
          <a:p>
            <a:pPr indent="0" marL="0">
              <a:buNone/>
            </a:pPr>
            <a:r>
              <a:rPr lang="en-US" sz="1300" dirty="0">
                <a:solidFill>
                  <a:srgbClr val="5B6475"/>
                </a:solidFill>
                <a:latin typeface="Calibri" pitchFamily="34" charset="0"/>
                <a:ea typeface="Calibri" pitchFamily="34" charset="-122"/>
                <a:cs typeface="Calibri" pitchFamily="34" charset="-120"/>
              </a:rPr>
              <a:t>Concept coverage</a:t>
            </a:r>
            <a:endParaRPr lang="en-US" sz="1300" dirty="0"/>
          </a:p>
        </p:txBody>
      </p:sp>
      <p:sp>
        <p:nvSpPr>
          <p:cNvPr id="12" name="Shape 10"/>
          <p:cNvSpPr/>
          <p:nvPr/>
        </p:nvSpPr>
        <p:spPr>
          <a:xfrm>
            <a:off x="2606040" y="4453128"/>
            <a:ext cx="2377440" cy="146304"/>
          </a:xfrm>
          <a:prstGeom prst="rect">
            <a:avLst/>
          </a:prstGeom>
          <a:solidFill>
            <a:srgbClr val="D9DEE7"/>
          </a:solidFill>
          <a:ln w="12700">
            <a:solidFill>
              <a:srgbClr val="D9DEE7"/>
            </a:solidFill>
            <a:prstDash val="solid"/>
          </a:ln>
        </p:spPr>
      </p:sp>
      <p:sp>
        <p:nvSpPr>
          <p:cNvPr id="13" name="Shape 11"/>
          <p:cNvSpPr/>
          <p:nvPr/>
        </p:nvSpPr>
        <p:spPr>
          <a:xfrm>
            <a:off x="2606040" y="4453128"/>
            <a:ext cx="679269" cy="146304"/>
          </a:xfrm>
          <a:prstGeom prst="rect">
            <a:avLst/>
          </a:prstGeom>
          <a:solidFill>
            <a:srgbClr val="2F5DA8"/>
          </a:solidFill>
          <a:ln w="12700">
            <a:solidFill>
              <a:srgbClr val="2F5DA8"/>
            </a:solidFill>
            <a:prstDash val="solid"/>
          </a:ln>
        </p:spPr>
      </p:sp>
      <p:sp>
        <p:nvSpPr>
          <p:cNvPr id="14" name="Text 12"/>
          <p:cNvSpPr txBox="1"/>
          <p:nvPr/>
        </p:nvSpPr>
        <p:spPr>
          <a:xfrm>
            <a:off x="5074920" y="4389120"/>
            <a:ext cx="594360" cy="274320"/>
          </a:xfrm>
          <a:prstGeom prst="rect">
            <a:avLst/>
          </a:prstGeom>
          <a:noFill/>
          <a:ln/>
        </p:spPr>
        <p:txBody>
          <a:bodyPr wrap="square" lIns="0" tIns="0" rIns="0" bIns="0" rtlCol="0" anchor="ctr"/>
          <a:lstStyle/>
          <a:p>
            <a:pPr algn="r" indent="0" marL="0">
              <a:buNone/>
            </a:pPr>
            <a:r>
              <a:rPr lang="en-US" sz="1300" b="1" dirty="0">
                <a:solidFill>
                  <a:srgbClr val="1F2937"/>
                </a:solidFill>
                <a:latin typeface="Calibri" pitchFamily="34" charset="0"/>
                <a:ea typeface="Calibri" pitchFamily="34" charset="-122"/>
                <a:cs typeface="Calibri" pitchFamily="34" charset="-120"/>
              </a:rPr>
              <a:t>29%</a:t>
            </a:r>
            <a:endParaRPr lang="en-US" sz="1300" dirty="0"/>
          </a:p>
        </p:txBody>
      </p:sp>
      <p:sp>
        <p:nvSpPr>
          <p:cNvPr id="15" name="Text 13"/>
          <p:cNvSpPr txBox="1"/>
          <p:nvPr/>
        </p:nvSpPr>
        <p:spPr>
          <a:xfrm>
            <a:off x="822960" y="4800600"/>
            <a:ext cx="1737360" cy="274320"/>
          </a:xfrm>
          <a:prstGeom prst="rect">
            <a:avLst/>
          </a:prstGeom>
          <a:noFill/>
          <a:ln/>
        </p:spPr>
        <p:txBody>
          <a:bodyPr wrap="square" lIns="0" tIns="0" rIns="0" bIns="0" rtlCol="0" anchor="ctr"/>
          <a:lstStyle/>
          <a:p>
            <a:pPr indent="0" marL="0">
              <a:buNone/>
            </a:pPr>
            <a:r>
              <a:rPr lang="en-US" sz="1300" dirty="0">
                <a:solidFill>
                  <a:srgbClr val="5B6475"/>
                </a:solidFill>
                <a:latin typeface="Calibri" pitchFamily="34" charset="0"/>
                <a:ea typeface="Calibri" pitchFamily="34" charset="-122"/>
                <a:cs typeface="Calibri" pitchFamily="34" charset="-120"/>
              </a:rPr>
              <a:t>Completeness</a:t>
            </a:r>
            <a:endParaRPr lang="en-US" sz="1300" dirty="0"/>
          </a:p>
        </p:txBody>
      </p:sp>
      <p:sp>
        <p:nvSpPr>
          <p:cNvPr id="16" name="Shape 14"/>
          <p:cNvSpPr/>
          <p:nvPr/>
        </p:nvSpPr>
        <p:spPr>
          <a:xfrm>
            <a:off x="2606040" y="4864608"/>
            <a:ext cx="2377440" cy="146304"/>
          </a:xfrm>
          <a:prstGeom prst="rect">
            <a:avLst/>
          </a:prstGeom>
          <a:solidFill>
            <a:srgbClr val="D9DEE7"/>
          </a:solidFill>
          <a:ln w="12700">
            <a:solidFill>
              <a:srgbClr val="D9DEE7"/>
            </a:solidFill>
            <a:prstDash val="solid"/>
          </a:ln>
        </p:spPr>
      </p:sp>
      <p:sp>
        <p:nvSpPr>
          <p:cNvPr id="17" name="Shape 15"/>
          <p:cNvSpPr/>
          <p:nvPr/>
        </p:nvSpPr>
        <p:spPr>
          <a:xfrm>
            <a:off x="2606040" y="4864608"/>
            <a:ext cx="1155568" cy="146304"/>
          </a:xfrm>
          <a:prstGeom prst="rect">
            <a:avLst/>
          </a:prstGeom>
          <a:solidFill>
            <a:srgbClr val="2F5DA8"/>
          </a:solidFill>
          <a:ln w="12700">
            <a:solidFill>
              <a:srgbClr val="2F5DA8"/>
            </a:solidFill>
            <a:prstDash val="solid"/>
          </a:ln>
        </p:spPr>
      </p:sp>
      <p:sp>
        <p:nvSpPr>
          <p:cNvPr id="18" name="Text 16"/>
          <p:cNvSpPr txBox="1"/>
          <p:nvPr/>
        </p:nvSpPr>
        <p:spPr>
          <a:xfrm>
            <a:off x="5074920" y="4800600"/>
            <a:ext cx="594360" cy="274320"/>
          </a:xfrm>
          <a:prstGeom prst="rect">
            <a:avLst/>
          </a:prstGeom>
          <a:noFill/>
          <a:ln/>
        </p:spPr>
        <p:txBody>
          <a:bodyPr wrap="square" lIns="0" tIns="0" rIns="0" bIns="0" rtlCol="0" anchor="ctr"/>
          <a:lstStyle/>
          <a:p>
            <a:pPr algn="r" indent="0" marL="0">
              <a:buNone/>
            </a:pPr>
            <a:r>
              <a:rPr lang="en-US" sz="1300" b="1" dirty="0">
                <a:solidFill>
                  <a:srgbClr val="1F2937"/>
                </a:solidFill>
                <a:latin typeface="Calibri" pitchFamily="34" charset="0"/>
                <a:ea typeface="Calibri" pitchFamily="34" charset="-122"/>
                <a:cs typeface="Calibri" pitchFamily="34" charset="-120"/>
              </a:rPr>
              <a:t>49%</a:t>
            </a:r>
            <a:endParaRPr lang="en-US" sz="1300" dirty="0"/>
          </a:p>
        </p:txBody>
      </p:sp>
      <p:sp>
        <p:nvSpPr>
          <p:cNvPr id="19" name="Text 17"/>
          <p:cNvSpPr txBox="1"/>
          <p:nvPr/>
        </p:nvSpPr>
        <p:spPr>
          <a:xfrm>
            <a:off x="822960" y="5349240"/>
            <a:ext cx="4846320" cy="457200"/>
          </a:xfrm>
          <a:prstGeom prst="rect">
            <a:avLst/>
          </a:prstGeom>
          <a:noFill/>
          <a:ln/>
        </p:spPr>
        <p:txBody>
          <a:bodyPr wrap="square" lIns="0" tIns="0" rIns="0" bIns="0" rtlCol="0" anchor="ctr"/>
          <a:lstStyle/>
          <a:p>
            <a:pPr indent="0" marL="0">
              <a:buNone/>
            </a:pPr>
            <a:r>
              <a:rPr lang="en-US" sz="1600" b="1" dirty="0">
                <a:solidFill>
                  <a:srgbClr val="1B2440"/>
                </a:solidFill>
                <a:latin typeface="Calibri" pitchFamily="34" charset="0"/>
                <a:ea typeface="Calibri" pitchFamily="34" charset="-122"/>
                <a:cs typeface="Calibri" pitchFamily="34" charset="-120"/>
              </a:rPr>
              <a:t>System 5.5</a:t>
            </a:r>
            <a:pPr indent="0" marL="0">
              <a:buNone/>
            </a:pPr>
            <a:r>
              <a:rPr lang="en-US" sz="1600" dirty="0">
                <a:solidFill>
                  <a:srgbClr val="5B6475"/>
                </a:solidFill>
                <a:latin typeface="Calibri" pitchFamily="34" charset="0"/>
                <a:ea typeface="Calibri" pitchFamily="34" charset="-122"/>
                <a:cs typeface="Calibri" pitchFamily="34" charset="-120"/>
              </a:rPr>
              <a:t>   ·   Teacher 5</a:t>
            </a:r>
            <a:endParaRPr lang="en-US" sz="1600" dirty="0"/>
          </a:p>
        </p:txBody>
      </p:sp>
      <p:sp>
        <p:nvSpPr>
          <p:cNvPr id="20" name="Lists the conditions, explains nothing"/>
          <p:cNvSpPr/>
          <p:nvPr/>
        </p:nvSpPr>
        <p:spPr>
          <a:xfrm>
            <a:off x="6217920" y="2286000"/>
            <a:ext cx="5394960" cy="3794760"/>
          </a:xfrm>
          <a:prstGeom prst="roundRect">
            <a:avLst>
              <a:gd name="adj" fmla="val 1928"/>
            </a:avLst>
          </a:prstGeom>
          <a:solidFill>
            <a:srgbClr val="F3F5F9"/>
          </a:solidFill>
          <a:ln w="12700">
            <a:solidFill>
              <a:srgbClr val="F3F5F9"/>
            </a:solidFill>
            <a:prstDash val="solid"/>
          </a:ln>
        </p:spPr>
      </p:sp>
      <p:sp>
        <p:nvSpPr>
          <p:cNvPr id="21" name="Text 19"/>
          <p:cNvSpPr txBox="1"/>
          <p:nvPr/>
        </p:nvSpPr>
        <p:spPr>
          <a:xfrm>
            <a:off x="6492240" y="2468880"/>
            <a:ext cx="4846320" cy="365760"/>
          </a:xfrm>
          <a:prstGeom prst="rect">
            <a:avLst/>
          </a:prstGeom>
          <a:noFill/>
          <a:ln/>
        </p:spPr>
        <p:txBody>
          <a:bodyPr wrap="square" lIns="0" tIns="0" rIns="0" bIns="0" rtlCol="0" anchor="t"/>
          <a:lstStyle/>
          <a:p>
            <a:pPr indent="0" marL="0">
              <a:buNone/>
            </a:pPr>
            <a:r>
              <a:rPr lang="en-US" sz="1700" b="1" dirty="0">
                <a:solidFill>
                  <a:srgbClr val="1B2440"/>
                </a:solidFill>
                <a:latin typeface="Cambria" pitchFamily="34" charset="0"/>
                <a:ea typeface="Cambria" pitchFamily="34" charset="-122"/>
                <a:cs typeface="Cambria" pitchFamily="34" charset="-120"/>
              </a:rPr>
              <a:t>Lists the conditions, explains nothing</a:t>
            </a:r>
            <a:endParaRPr lang="en-US" sz="1700" dirty="0"/>
          </a:p>
        </p:txBody>
      </p:sp>
      <p:sp>
        <p:nvSpPr>
          <p:cNvPr id="22" name="Text 20"/>
          <p:cNvSpPr txBox="1"/>
          <p:nvPr/>
        </p:nvSpPr>
        <p:spPr>
          <a:xfrm>
            <a:off x="6492240" y="2880360"/>
            <a:ext cx="4846320" cy="960120"/>
          </a:xfrm>
          <a:prstGeom prst="rect">
            <a:avLst/>
          </a:prstGeom>
          <a:noFill/>
          <a:ln/>
        </p:spPr>
        <p:txBody>
          <a:bodyPr wrap="square" lIns="0" tIns="0" rIns="0" bIns="0" rtlCol="0" anchor="t"/>
          <a:lstStyle/>
          <a:p>
            <a:pPr indent="0" marL="0">
              <a:buNone/>
            </a:pPr>
            <a:r>
              <a:rPr lang="en-US" sz="1300" i="1" dirty="0">
                <a:solidFill>
                  <a:srgbClr val="1F2937"/>
                </a:solidFill>
                <a:latin typeface="Calibri" pitchFamily="34" charset="0"/>
                <a:ea typeface="Calibri" pitchFamily="34" charset="-122"/>
                <a:cs typeface="Calibri" pitchFamily="34" charset="-120"/>
              </a:rPr>
              <a:t>“Deadlock means the system hangs. It has four conditions: mutual exclusion, hold and wait, no preemption and circular wait.”</a:t>
            </a:r>
            <a:endParaRPr lang="en-US" sz="1300" dirty="0"/>
          </a:p>
        </p:txBody>
      </p:sp>
      <p:sp>
        <p:nvSpPr>
          <p:cNvPr id="23" name="Text 21"/>
          <p:cNvSpPr txBox="1"/>
          <p:nvPr/>
        </p:nvSpPr>
        <p:spPr>
          <a:xfrm>
            <a:off x="6492240" y="3977640"/>
            <a:ext cx="1737360" cy="274320"/>
          </a:xfrm>
          <a:prstGeom prst="rect">
            <a:avLst/>
          </a:prstGeom>
          <a:noFill/>
          <a:ln/>
        </p:spPr>
        <p:txBody>
          <a:bodyPr wrap="square" lIns="0" tIns="0" rIns="0" bIns="0" rtlCol="0" anchor="ctr"/>
          <a:lstStyle/>
          <a:p>
            <a:pPr indent="0" marL="0">
              <a:buNone/>
            </a:pPr>
            <a:r>
              <a:rPr lang="en-US" sz="1300" dirty="0">
                <a:solidFill>
                  <a:srgbClr val="5B6475"/>
                </a:solidFill>
                <a:latin typeface="Calibri" pitchFamily="34" charset="0"/>
                <a:ea typeface="Calibri" pitchFamily="34" charset="-122"/>
                <a:cs typeface="Calibri" pitchFamily="34" charset="-120"/>
              </a:rPr>
              <a:t>Similarity</a:t>
            </a:r>
            <a:endParaRPr lang="en-US" sz="1300" dirty="0"/>
          </a:p>
        </p:txBody>
      </p:sp>
      <p:sp>
        <p:nvSpPr>
          <p:cNvPr id="24" name="Shape 22"/>
          <p:cNvSpPr/>
          <p:nvPr/>
        </p:nvSpPr>
        <p:spPr>
          <a:xfrm>
            <a:off x="8275320" y="4041648"/>
            <a:ext cx="2377440" cy="146304"/>
          </a:xfrm>
          <a:prstGeom prst="rect">
            <a:avLst/>
          </a:prstGeom>
          <a:solidFill>
            <a:srgbClr val="D9DEE7"/>
          </a:solidFill>
          <a:ln w="12700">
            <a:solidFill>
              <a:srgbClr val="D9DEE7"/>
            </a:solidFill>
            <a:prstDash val="solid"/>
          </a:ln>
        </p:spPr>
      </p:sp>
      <p:sp>
        <p:nvSpPr>
          <p:cNvPr id="25" name="Shape 23"/>
          <p:cNvSpPr/>
          <p:nvPr/>
        </p:nvSpPr>
        <p:spPr>
          <a:xfrm>
            <a:off x="8275320" y="4041648"/>
            <a:ext cx="2248985" cy="146304"/>
          </a:xfrm>
          <a:prstGeom prst="rect">
            <a:avLst/>
          </a:prstGeom>
          <a:solidFill>
            <a:srgbClr val="2F5DA8"/>
          </a:solidFill>
          <a:ln w="12700">
            <a:solidFill>
              <a:srgbClr val="2F5DA8"/>
            </a:solidFill>
            <a:prstDash val="solid"/>
          </a:ln>
        </p:spPr>
      </p:sp>
      <p:sp>
        <p:nvSpPr>
          <p:cNvPr id="26" name="Text 24"/>
          <p:cNvSpPr txBox="1"/>
          <p:nvPr/>
        </p:nvSpPr>
        <p:spPr>
          <a:xfrm>
            <a:off x="10744200" y="3977640"/>
            <a:ext cx="594360" cy="274320"/>
          </a:xfrm>
          <a:prstGeom prst="rect">
            <a:avLst/>
          </a:prstGeom>
          <a:noFill/>
          <a:ln/>
        </p:spPr>
        <p:txBody>
          <a:bodyPr wrap="square" lIns="0" tIns="0" rIns="0" bIns="0" rtlCol="0" anchor="ctr"/>
          <a:lstStyle/>
          <a:p>
            <a:pPr algn="r" indent="0" marL="0">
              <a:buNone/>
            </a:pPr>
            <a:r>
              <a:rPr lang="en-US" sz="1300" b="1" dirty="0">
                <a:solidFill>
                  <a:srgbClr val="1F2937"/>
                </a:solidFill>
                <a:latin typeface="Calibri" pitchFamily="34" charset="0"/>
                <a:ea typeface="Calibri" pitchFamily="34" charset="-122"/>
                <a:cs typeface="Calibri" pitchFamily="34" charset="-120"/>
              </a:rPr>
              <a:t>95%</a:t>
            </a:r>
            <a:endParaRPr lang="en-US" sz="1300" dirty="0"/>
          </a:p>
        </p:txBody>
      </p:sp>
      <p:sp>
        <p:nvSpPr>
          <p:cNvPr id="27" name="Text 25"/>
          <p:cNvSpPr txBox="1"/>
          <p:nvPr/>
        </p:nvSpPr>
        <p:spPr>
          <a:xfrm>
            <a:off x="6492240" y="4389120"/>
            <a:ext cx="1737360" cy="274320"/>
          </a:xfrm>
          <a:prstGeom prst="rect">
            <a:avLst/>
          </a:prstGeom>
          <a:noFill/>
          <a:ln/>
        </p:spPr>
        <p:txBody>
          <a:bodyPr wrap="square" lIns="0" tIns="0" rIns="0" bIns="0" rtlCol="0" anchor="ctr"/>
          <a:lstStyle/>
          <a:p>
            <a:pPr indent="0" marL="0">
              <a:buNone/>
            </a:pPr>
            <a:r>
              <a:rPr lang="en-US" sz="1300" dirty="0">
                <a:solidFill>
                  <a:srgbClr val="5B6475"/>
                </a:solidFill>
                <a:latin typeface="Calibri" pitchFamily="34" charset="0"/>
                <a:ea typeface="Calibri" pitchFamily="34" charset="-122"/>
                <a:cs typeface="Calibri" pitchFamily="34" charset="-120"/>
              </a:rPr>
              <a:t>Concept coverage</a:t>
            </a:r>
            <a:endParaRPr lang="en-US" sz="1300" dirty="0"/>
          </a:p>
        </p:txBody>
      </p:sp>
      <p:sp>
        <p:nvSpPr>
          <p:cNvPr id="28" name="Shape 26"/>
          <p:cNvSpPr/>
          <p:nvPr/>
        </p:nvSpPr>
        <p:spPr>
          <a:xfrm>
            <a:off x="8275320" y="4453128"/>
            <a:ext cx="2377440" cy="146304"/>
          </a:xfrm>
          <a:prstGeom prst="rect">
            <a:avLst/>
          </a:prstGeom>
          <a:solidFill>
            <a:srgbClr val="D9DEE7"/>
          </a:solidFill>
          <a:ln w="12700">
            <a:solidFill>
              <a:srgbClr val="D9DEE7"/>
            </a:solidFill>
            <a:prstDash val="solid"/>
          </a:ln>
        </p:spPr>
      </p:sp>
      <p:sp>
        <p:nvSpPr>
          <p:cNvPr id="29" name="Shape 27"/>
          <p:cNvSpPr/>
          <p:nvPr/>
        </p:nvSpPr>
        <p:spPr>
          <a:xfrm>
            <a:off x="8275320" y="4453128"/>
            <a:ext cx="2037806" cy="146304"/>
          </a:xfrm>
          <a:prstGeom prst="rect">
            <a:avLst/>
          </a:prstGeom>
          <a:solidFill>
            <a:srgbClr val="2F5DA8"/>
          </a:solidFill>
          <a:ln w="12700">
            <a:solidFill>
              <a:srgbClr val="2F5DA8"/>
            </a:solidFill>
            <a:prstDash val="solid"/>
          </a:ln>
        </p:spPr>
      </p:sp>
      <p:sp>
        <p:nvSpPr>
          <p:cNvPr id="30" name="Text 28"/>
          <p:cNvSpPr txBox="1"/>
          <p:nvPr/>
        </p:nvSpPr>
        <p:spPr>
          <a:xfrm>
            <a:off x="10744200" y="4389120"/>
            <a:ext cx="594360" cy="274320"/>
          </a:xfrm>
          <a:prstGeom prst="rect">
            <a:avLst/>
          </a:prstGeom>
          <a:noFill/>
          <a:ln/>
        </p:spPr>
        <p:txBody>
          <a:bodyPr wrap="square" lIns="0" tIns="0" rIns="0" bIns="0" rtlCol="0" anchor="ctr"/>
          <a:lstStyle/>
          <a:p>
            <a:pPr algn="r" indent="0" marL="0">
              <a:buNone/>
            </a:pPr>
            <a:r>
              <a:rPr lang="en-US" sz="1300" b="1" dirty="0">
                <a:solidFill>
                  <a:srgbClr val="1F2937"/>
                </a:solidFill>
                <a:latin typeface="Calibri" pitchFamily="34" charset="0"/>
                <a:ea typeface="Calibri" pitchFamily="34" charset="-122"/>
                <a:cs typeface="Calibri" pitchFamily="34" charset="-120"/>
              </a:rPr>
              <a:t>86%</a:t>
            </a:r>
            <a:endParaRPr lang="en-US" sz="1300" dirty="0"/>
          </a:p>
        </p:txBody>
      </p:sp>
      <p:sp>
        <p:nvSpPr>
          <p:cNvPr id="31" name="Text 29"/>
          <p:cNvSpPr txBox="1"/>
          <p:nvPr/>
        </p:nvSpPr>
        <p:spPr>
          <a:xfrm>
            <a:off x="6492240" y="4800600"/>
            <a:ext cx="1737360" cy="274320"/>
          </a:xfrm>
          <a:prstGeom prst="rect">
            <a:avLst/>
          </a:prstGeom>
          <a:noFill/>
          <a:ln/>
        </p:spPr>
        <p:txBody>
          <a:bodyPr wrap="square" lIns="0" tIns="0" rIns="0" bIns="0" rtlCol="0" anchor="ctr"/>
          <a:lstStyle/>
          <a:p>
            <a:pPr indent="0" marL="0">
              <a:buNone/>
            </a:pPr>
            <a:r>
              <a:rPr lang="en-US" sz="1300" dirty="0">
                <a:solidFill>
                  <a:srgbClr val="5B6475"/>
                </a:solidFill>
                <a:latin typeface="Calibri" pitchFamily="34" charset="0"/>
                <a:ea typeface="Calibri" pitchFamily="34" charset="-122"/>
                <a:cs typeface="Calibri" pitchFamily="34" charset="-120"/>
              </a:rPr>
              <a:t>Completeness</a:t>
            </a:r>
            <a:endParaRPr lang="en-US" sz="1300" dirty="0"/>
          </a:p>
        </p:txBody>
      </p:sp>
      <p:sp>
        <p:nvSpPr>
          <p:cNvPr id="32" name="Shape 30"/>
          <p:cNvSpPr/>
          <p:nvPr/>
        </p:nvSpPr>
        <p:spPr>
          <a:xfrm>
            <a:off x="8275320" y="4864608"/>
            <a:ext cx="2377440" cy="146304"/>
          </a:xfrm>
          <a:prstGeom prst="rect">
            <a:avLst/>
          </a:prstGeom>
          <a:solidFill>
            <a:srgbClr val="D9DEE7"/>
          </a:solidFill>
          <a:ln w="12700">
            <a:solidFill>
              <a:srgbClr val="D9DEE7"/>
            </a:solidFill>
            <a:prstDash val="solid"/>
          </a:ln>
        </p:spPr>
      </p:sp>
      <p:sp>
        <p:nvSpPr>
          <p:cNvPr id="33" name="Shape 31"/>
          <p:cNvSpPr/>
          <p:nvPr/>
        </p:nvSpPr>
        <p:spPr>
          <a:xfrm>
            <a:off x="8275320" y="4864608"/>
            <a:ext cx="1155598" cy="146304"/>
          </a:xfrm>
          <a:prstGeom prst="rect">
            <a:avLst/>
          </a:prstGeom>
          <a:solidFill>
            <a:srgbClr val="2F5DA8"/>
          </a:solidFill>
          <a:ln w="12700">
            <a:solidFill>
              <a:srgbClr val="2F5DA8"/>
            </a:solidFill>
            <a:prstDash val="solid"/>
          </a:ln>
        </p:spPr>
      </p:sp>
      <p:sp>
        <p:nvSpPr>
          <p:cNvPr id="34" name="Text 32"/>
          <p:cNvSpPr txBox="1"/>
          <p:nvPr/>
        </p:nvSpPr>
        <p:spPr>
          <a:xfrm>
            <a:off x="10744200" y="4800600"/>
            <a:ext cx="594360" cy="274320"/>
          </a:xfrm>
          <a:prstGeom prst="rect">
            <a:avLst/>
          </a:prstGeom>
          <a:noFill/>
          <a:ln/>
        </p:spPr>
        <p:txBody>
          <a:bodyPr wrap="square" lIns="0" tIns="0" rIns="0" bIns="0" rtlCol="0" anchor="ctr"/>
          <a:lstStyle/>
          <a:p>
            <a:pPr algn="r" indent="0" marL="0">
              <a:buNone/>
            </a:pPr>
            <a:r>
              <a:rPr lang="en-US" sz="1300" b="1" dirty="0">
                <a:solidFill>
                  <a:srgbClr val="1F2937"/>
                </a:solidFill>
                <a:latin typeface="Calibri" pitchFamily="34" charset="0"/>
                <a:ea typeface="Calibri" pitchFamily="34" charset="-122"/>
                <a:cs typeface="Calibri" pitchFamily="34" charset="-120"/>
              </a:rPr>
              <a:t>49%</a:t>
            </a:r>
            <a:endParaRPr lang="en-US" sz="1300" dirty="0"/>
          </a:p>
        </p:txBody>
      </p:sp>
      <p:sp>
        <p:nvSpPr>
          <p:cNvPr id="35" name="Text 33"/>
          <p:cNvSpPr txBox="1"/>
          <p:nvPr/>
        </p:nvSpPr>
        <p:spPr>
          <a:xfrm>
            <a:off x="6492240" y="5349240"/>
            <a:ext cx="4846320" cy="457200"/>
          </a:xfrm>
          <a:prstGeom prst="rect">
            <a:avLst/>
          </a:prstGeom>
          <a:noFill/>
          <a:ln/>
        </p:spPr>
        <p:txBody>
          <a:bodyPr wrap="square" lIns="0" tIns="0" rIns="0" bIns="0" rtlCol="0" anchor="ctr"/>
          <a:lstStyle/>
          <a:p>
            <a:pPr indent="0" marL="0">
              <a:buNone/>
            </a:pPr>
            <a:r>
              <a:rPr lang="en-US" sz="1600" b="1" dirty="0">
                <a:solidFill>
                  <a:srgbClr val="1B2440"/>
                </a:solidFill>
                <a:latin typeface="Calibri" pitchFamily="34" charset="0"/>
                <a:ea typeface="Calibri" pitchFamily="34" charset="-122"/>
                <a:cs typeface="Calibri" pitchFamily="34" charset="-120"/>
              </a:rPr>
              <a:t>System 5.5</a:t>
            </a:r>
            <a:pPr indent="0" marL="0">
              <a:buNone/>
            </a:pPr>
            <a:r>
              <a:rPr lang="en-US" sz="1600" dirty="0">
                <a:solidFill>
                  <a:srgbClr val="5B6475"/>
                </a:solidFill>
                <a:latin typeface="Calibri" pitchFamily="34" charset="0"/>
                <a:ea typeface="Calibri" pitchFamily="34" charset="-122"/>
                <a:cs typeface="Calibri" pitchFamily="34" charset="-120"/>
              </a:rPr>
              <a:t>   ·   Teacher 5.5</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B2440"/>
                </a:solidFill>
                <a:latin typeface="Cambria" pitchFamily="34" charset="0"/>
                <a:ea typeface="Cambria" pitchFamily="34" charset="-122"/>
                <a:cs typeface="Cambria" pitchFamily="34" charset="-120"/>
              </a:rPr>
              <a:t>The scoring engine learns how teachers weigh the signals</a:t>
            </a:r>
            <a:endParaRPr lang="en-US" sz="3200" dirty="0"/>
          </a:p>
        </p:txBody>
      </p:sp>
      <p:sp>
        <p:nvSpPr>
          <p:cNvPr id="3" name="baseline formula"/>
          <p:cNvSpPr/>
          <p:nvPr/>
        </p:nvSpPr>
        <p:spPr>
          <a:xfrm>
            <a:off x="548640" y="1463040"/>
            <a:ext cx="5394960" cy="2057400"/>
          </a:xfrm>
          <a:prstGeom prst="roundRect">
            <a:avLst>
              <a:gd name="adj" fmla="val 3556"/>
            </a:avLst>
          </a:prstGeom>
          <a:solidFill>
            <a:srgbClr val="F3F5F9"/>
          </a:solidFill>
          <a:ln w="12700">
            <a:solidFill>
              <a:srgbClr val="F3F5F9"/>
            </a:solidFill>
            <a:prstDash val="solid"/>
          </a:ln>
        </p:spPr>
      </p:sp>
      <p:sp>
        <p:nvSpPr>
          <p:cNvPr id="4" name="Text 2"/>
          <p:cNvSpPr txBox="1"/>
          <p:nvPr/>
        </p:nvSpPr>
        <p:spPr>
          <a:xfrm>
            <a:off x="822960" y="1645920"/>
            <a:ext cx="4846320" cy="365760"/>
          </a:xfrm>
          <a:prstGeom prst="rect">
            <a:avLst/>
          </a:prstGeom>
          <a:noFill/>
          <a:ln/>
        </p:spPr>
        <p:txBody>
          <a:bodyPr wrap="square" lIns="0" tIns="0" rIns="0" bIns="0" rtlCol="0" anchor="t"/>
          <a:lstStyle/>
          <a:p>
            <a:pPr indent="0" marL="0">
              <a:buNone/>
            </a:pPr>
            <a:r>
              <a:rPr lang="en-US" sz="1800" b="1" dirty="0">
                <a:solidFill>
                  <a:srgbClr val="1B2440"/>
                </a:solidFill>
                <a:latin typeface="Cambria" pitchFamily="34" charset="0"/>
                <a:ea typeface="Cambria" pitchFamily="34" charset="-122"/>
                <a:cs typeface="Cambria" pitchFamily="34" charset="-120"/>
              </a:rPr>
              <a:t>Baseline: fixed formula</a:t>
            </a:r>
            <a:endParaRPr lang="en-US" sz="1800" dirty="0"/>
          </a:p>
        </p:txBody>
      </p:sp>
      <p:sp>
        <p:nvSpPr>
          <p:cNvPr id="5" name="Text 3"/>
          <p:cNvSpPr txBox="1"/>
          <p:nvPr/>
        </p:nvSpPr>
        <p:spPr>
          <a:xfrm>
            <a:off x="822960" y="2148840"/>
            <a:ext cx="4846320" cy="548640"/>
          </a:xfrm>
          <a:prstGeom prst="rect">
            <a:avLst/>
          </a:prstGeom>
          <a:noFill/>
          <a:ln/>
        </p:spPr>
        <p:txBody>
          <a:bodyPr wrap="square" lIns="0" tIns="0" rIns="0" bIns="0" rtlCol="0" anchor="t"/>
          <a:lstStyle/>
          <a:p>
            <a:pPr indent="0" marL="0">
              <a:buNone/>
            </a:pPr>
            <a:r>
              <a:rPr lang="en-US" sz="1400" dirty="0">
                <a:solidFill>
                  <a:srgbClr val="1F2937"/>
                </a:solidFill>
                <a:latin typeface="Courier New" pitchFamily="34" charset="0"/>
                <a:ea typeface="Courier New" pitchFamily="34" charset="-122"/>
                <a:cs typeface="Courier New" pitchFamily="34" charset="-120"/>
              </a:rPr>
              <a:t>Score = 10 × (0.5·similarity + 0.3·coverage + 0.2·completeness)</a:t>
            </a:r>
            <a:endParaRPr lang="en-US" sz="1400" dirty="0"/>
          </a:p>
        </p:txBody>
      </p:sp>
      <p:sp>
        <p:nvSpPr>
          <p:cNvPr id="6" name="Text 4"/>
          <p:cNvSpPr txBox="1"/>
          <p:nvPr/>
        </p:nvSpPr>
        <p:spPr>
          <a:xfrm>
            <a:off x="822960" y="2834640"/>
            <a:ext cx="4846320" cy="457200"/>
          </a:xfrm>
          <a:prstGeom prst="rect">
            <a:avLst/>
          </a:prstGeom>
          <a:noFill/>
          <a:ln/>
        </p:spPr>
        <p:txBody>
          <a:bodyPr wrap="square" lIns="0" tIns="0" rIns="0" bIns="0" rtlCol="0" anchor="t"/>
          <a:lstStyle/>
          <a:p>
            <a:pPr indent="0" marL="0">
              <a:buNone/>
            </a:pPr>
            <a:r>
              <a:rPr lang="en-US" sz="1400" dirty="0">
                <a:solidFill>
                  <a:srgbClr val="5B6475"/>
                </a:solidFill>
                <a:latin typeface="Calibri" pitchFamily="34" charset="0"/>
                <a:ea typeface="Calibri" pitchFamily="34" charset="-122"/>
                <a:cs typeface="Calibri" pitchFamily="34" charset="-120"/>
              </a:rPr>
              <a:t>Transparent, but the weights are guesses.</a:t>
            </a:r>
            <a:endParaRPr lang="en-US" sz="1400" dirty="0"/>
          </a:p>
        </p:txBody>
      </p:sp>
      <p:sp>
        <p:nvSpPr>
          <p:cNvPr id="7" name="learned scorer"/>
          <p:cNvSpPr/>
          <p:nvPr/>
        </p:nvSpPr>
        <p:spPr>
          <a:xfrm>
            <a:off x="548640" y="3703320"/>
            <a:ext cx="5394960" cy="2377440"/>
          </a:xfrm>
          <a:prstGeom prst="roundRect">
            <a:avLst>
              <a:gd name="adj" fmla="val 3077"/>
            </a:avLst>
          </a:prstGeom>
          <a:solidFill>
            <a:srgbClr val="1B2440"/>
          </a:solidFill>
          <a:ln w="12700">
            <a:solidFill>
              <a:srgbClr val="1B2440"/>
            </a:solidFill>
            <a:prstDash val="solid"/>
          </a:ln>
        </p:spPr>
      </p:sp>
      <p:sp>
        <p:nvSpPr>
          <p:cNvPr id="8" name="Text 6"/>
          <p:cNvSpPr txBox="1"/>
          <p:nvPr/>
        </p:nvSpPr>
        <p:spPr>
          <a:xfrm>
            <a:off x="822960" y="3886200"/>
            <a:ext cx="484632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Learned scorer</a:t>
            </a:r>
            <a:endParaRPr lang="en-US" sz="1800" dirty="0"/>
          </a:p>
        </p:txBody>
      </p:sp>
      <p:sp>
        <p:nvSpPr>
          <p:cNvPr id="9" name="Text 7"/>
          <p:cNvSpPr txBox="1"/>
          <p:nvPr/>
        </p:nvSpPr>
        <p:spPr>
          <a:xfrm>
            <a:off x="822960" y="4343400"/>
            <a:ext cx="48920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6 features: similarity, raw cosine, coverage, keyword-only share, completeness, length ratio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Ridge, random forest and gradient boosting compared; the lowest-error model is saved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Selected: random forest</a:t>
            </a:r>
            <a:endParaRPr lang="en-US" sz="1400" dirty="0"/>
          </a:p>
        </p:txBody>
      </p:sp>
      <p:sp>
        <p:nvSpPr>
          <p:cNvPr id="10" name="Text 8"/>
          <p:cNvSpPr txBox="1"/>
          <p:nvPr/>
        </p:nvSpPr>
        <p:spPr>
          <a:xfrm>
            <a:off x="6400800" y="1463040"/>
            <a:ext cx="5212080" cy="365760"/>
          </a:xfrm>
          <a:prstGeom prst="rect">
            <a:avLst/>
          </a:prstGeom>
          <a:noFill/>
          <a:ln/>
        </p:spPr>
        <p:txBody>
          <a:bodyPr wrap="square" lIns="0" tIns="0" rIns="0" bIns="0" rtlCol="0" anchor="t"/>
          <a:lstStyle/>
          <a:p>
            <a:pPr indent="0" marL="0">
              <a:buNone/>
            </a:pPr>
            <a:r>
              <a:rPr lang="en-US" sz="1800" b="1" dirty="0">
                <a:solidFill>
                  <a:srgbClr val="1B2440"/>
                </a:solidFill>
                <a:latin typeface="Cambria" pitchFamily="34" charset="0"/>
                <a:ea typeface="Cambria" pitchFamily="34" charset="-122"/>
                <a:cs typeface="Cambria" pitchFamily="34" charset="-120"/>
              </a:rPr>
              <a:t>Validation: leave one question out</a:t>
            </a:r>
            <a:endParaRPr lang="en-US" sz="1800" dirty="0"/>
          </a:p>
        </p:txBody>
      </p:sp>
      <p:sp>
        <p:nvSpPr>
          <p:cNvPr id="11" name="Text 9"/>
          <p:cNvSpPr txBox="1"/>
          <p:nvPr/>
        </p:nvSpPr>
        <p:spPr>
          <a:xfrm>
            <a:off x="6400800" y="1920240"/>
            <a:ext cx="5212080" cy="10972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The model is trained on five questions and tested on the sixth, then the test question rotates. It is always marked on a question it has never seen, as it would be in a real exam.</a:t>
            </a:r>
            <a:endParaRPr lang="en-US" sz="1400" dirty="0"/>
          </a:p>
        </p:txBody>
      </p:sp>
      <p:sp>
        <p:nvSpPr>
          <p:cNvPr id="12" name="Text 10"/>
          <p:cNvSpPr txBox="1"/>
          <p:nvPr/>
        </p:nvSpPr>
        <p:spPr>
          <a:xfrm>
            <a:off x="6400800" y="3246120"/>
            <a:ext cx="822960" cy="32004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Fold 1</a:t>
            </a:r>
            <a:endParaRPr lang="en-US" sz="1100" dirty="0"/>
          </a:p>
        </p:txBody>
      </p:sp>
      <p:sp>
        <p:nvSpPr>
          <p:cNvPr id="13" name="Shape 11"/>
          <p:cNvSpPr/>
          <p:nvPr/>
        </p:nvSpPr>
        <p:spPr>
          <a:xfrm>
            <a:off x="7269480" y="3246120"/>
            <a:ext cx="640080" cy="320040"/>
          </a:xfrm>
          <a:prstGeom prst="roundRect">
            <a:avLst>
              <a:gd name="adj" fmla="val 14286"/>
            </a:avLst>
          </a:prstGeom>
          <a:solidFill>
            <a:srgbClr val="C8414F"/>
          </a:solidFill>
          <a:ln w="12700">
            <a:solidFill>
              <a:srgbClr val="C8414F"/>
            </a:solidFill>
            <a:prstDash val="solid"/>
          </a:ln>
        </p:spPr>
      </p:sp>
      <p:sp>
        <p:nvSpPr>
          <p:cNvPr id="14" name="Text 12"/>
          <p:cNvSpPr txBox="1"/>
          <p:nvPr/>
        </p:nvSpPr>
        <p:spPr>
          <a:xfrm>
            <a:off x="7269480" y="3246120"/>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Q1</a:t>
            </a:r>
            <a:endParaRPr lang="en-US" sz="1000" dirty="0"/>
          </a:p>
        </p:txBody>
      </p:sp>
      <p:sp>
        <p:nvSpPr>
          <p:cNvPr id="15" name="Shape 13"/>
          <p:cNvSpPr/>
          <p:nvPr/>
        </p:nvSpPr>
        <p:spPr>
          <a:xfrm>
            <a:off x="7982712" y="3246120"/>
            <a:ext cx="640080" cy="320040"/>
          </a:xfrm>
          <a:prstGeom prst="roundRect">
            <a:avLst>
              <a:gd name="adj" fmla="val 14286"/>
            </a:avLst>
          </a:prstGeom>
          <a:solidFill>
            <a:srgbClr val="A9BDE0"/>
          </a:solidFill>
          <a:ln w="12700">
            <a:solidFill>
              <a:srgbClr val="A9BDE0"/>
            </a:solidFill>
            <a:prstDash val="solid"/>
          </a:ln>
        </p:spPr>
      </p:sp>
      <p:sp>
        <p:nvSpPr>
          <p:cNvPr id="16" name="Text 14"/>
          <p:cNvSpPr txBox="1"/>
          <p:nvPr/>
        </p:nvSpPr>
        <p:spPr>
          <a:xfrm>
            <a:off x="7982712" y="324612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Q2</a:t>
            </a:r>
            <a:endParaRPr lang="en-US" sz="1000" dirty="0"/>
          </a:p>
        </p:txBody>
      </p:sp>
      <p:sp>
        <p:nvSpPr>
          <p:cNvPr id="17" name="Shape 15"/>
          <p:cNvSpPr/>
          <p:nvPr/>
        </p:nvSpPr>
        <p:spPr>
          <a:xfrm>
            <a:off x="8695944" y="3246120"/>
            <a:ext cx="640080" cy="320040"/>
          </a:xfrm>
          <a:prstGeom prst="roundRect">
            <a:avLst>
              <a:gd name="adj" fmla="val 14286"/>
            </a:avLst>
          </a:prstGeom>
          <a:solidFill>
            <a:srgbClr val="A9BDE0"/>
          </a:solidFill>
          <a:ln w="12700">
            <a:solidFill>
              <a:srgbClr val="A9BDE0"/>
            </a:solidFill>
            <a:prstDash val="solid"/>
          </a:ln>
        </p:spPr>
      </p:sp>
      <p:sp>
        <p:nvSpPr>
          <p:cNvPr id="18" name="Text 16"/>
          <p:cNvSpPr txBox="1"/>
          <p:nvPr/>
        </p:nvSpPr>
        <p:spPr>
          <a:xfrm>
            <a:off x="8695944" y="324612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Q3</a:t>
            </a:r>
            <a:endParaRPr lang="en-US" sz="1000" dirty="0"/>
          </a:p>
        </p:txBody>
      </p:sp>
      <p:sp>
        <p:nvSpPr>
          <p:cNvPr id="19" name="Shape 17"/>
          <p:cNvSpPr/>
          <p:nvPr/>
        </p:nvSpPr>
        <p:spPr>
          <a:xfrm>
            <a:off x="9409176" y="3246120"/>
            <a:ext cx="640080" cy="320040"/>
          </a:xfrm>
          <a:prstGeom prst="roundRect">
            <a:avLst>
              <a:gd name="adj" fmla="val 14286"/>
            </a:avLst>
          </a:prstGeom>
          <a:solidFill>
            <a:srgbClr val="A9BDE0"/>
          </a:solidFill>
          <a:ln w="12700">
            <a:solidFill>
              <a:srgbClr val="A9BDE0"/>
            </a:solidFill>
            <a:prstDash val="solid"/>
          </a:ln>
        </p:spPr>
      </p:sp>
      <p:sp>
        <p:nvSpPr>
          <p:cNvPr id="20" name="Text 18"/>
          <p:cNvSpPr txBox="1"/>
          <p:nvPr/>
        </p:nvSpPr>
        <p:spPr>
          <a:xfrm>
            <a:off x="9409176" y="324612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Q4</a:t>
            </a:r>
            <a:endParaRPr lang="en-US" sz="1000" dirty="0"/>
          </a:p>
        </p:txBody>
      </p:sp>
      <p:sp>
        <p:nvSpPr>
          <p:cNvPr id="21" name="Shape 19"/>
          <p:cNvSpPr/>
          <p:nvPr/>
        </p:nvSpPr>
        <p:spPr>
          <a:xfrm>
            <a:off x="10122408" y="3246120"/>
            <a:ext cx="640080" cy="320040"/>
          </a:xfrm>
          <a:prstGeom prst="roundRect">
            <a:avLst>
              <a:gd name="adj" fmla="val 14286"/>
            </a:avLst>
          </a:prstGeom>
          <a:solidFill>
            <a:srgbClr val="A9BDE0"/>
          </a:solidFill>
          <a:ln w="12700">
            <a:solidFill>
              <a:srgbClr val="A9BDE0"/>
            </a:solidFill>
            <a:prstDash val="solid"/>
          </a:ln>
        </p:spPr>
      </p:sp>
      <p:sp>
        <p:nvSpPr>
          <p:cNvPr id="22" name="Text 20"/>
          <p:cNvSpPr txBox="1"/>
          <p:nvPr/>
        </p:nvSpPr>
        <p:spPr>
          <a:xfrm>
            <a:off x="10122408" y="324612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Q5</a:t>
            </a:r>
            <a:endParaRPr lang="en-US" sz="1000" dirty="0"/>
          </a:p>
        </p:txBody>
      </p:sp>
      <p:sp>
        <p:nvSpPr>
          <p:cNvPr id="23" name="Shape 21"/>
          <p:cNvSpPr/>
          <p:nvPr/>
        </p:nvSpPr>
        <p:spPr>
          <a:xfrm>
            <a:off x="10835640" y="3246120"/>
            <a:ext cx="640080" cy="320040"/>
          </a:xfrm>
          <a:prstGeom prst="roundRect">
            <a:avLst>
              <a:gd name="adj" fmla="val 14286"/>
            </a:avLst>
          </a:prstGeom>
          <a:solidFill>
            <a:srgbClr val="A9BDE0"/>
          </a:solidFill>
          <a:ln w="12700">
            <a:solidFill>
              <a:srgbClr val="A9BDE0"/>
            </a:solidFill>
            <a:prstDash val="solid"/>
          </a:ln>
        </p:spPr>
      </p:sp>
      <p:sp>
        <p:nvSpPr>
          <p:cNvPr id="24" name="Text 22"/>
          <p:cNvSpPr txBox="1"/>
          <p:nvPr/>
        </p:nvSpPr>
        <p:spPr>
          <a:xfrm>
            <a:off x="10835640" y="324612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Q6</a:t>
            </a:r>
            <a:endParaRPr lang="en-US" sz="1000" dirty="0"/>
          </a:p>
        </p:txBody>
      </p:sp>
      <p:sp>
        <p:nvSpPr>
          <p:cNvPr id="25" name="Text 23"/>
          <p:cNvSpPr txBox="1"/>
          <p:nvPr/>
        </p:nvSpPr>
        <p:spPr>
          <a:xfrm>
            <a:off x="6400800" y="3657600"/>
            <a:ext cx="822960" cy="32004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Fold 2</a:t>
            </a:r>
            <a:endParaRPr lang="en-US" sz="1100" dirty="0"/>
          </a:p>
        </p:txBody>
      </p:sp>
      <p:sp>
        <p:nvSpPr>
          <p:cNvPr id="26" name="Shape 24"/>
          <p:cNvSpPr/>
          <p:nvPr/>
        </p:nvSpPr>
        <p:spPr>
          <a:xfrm>
            <a:off x="7269480" y="3657600"/>
            <a:ext cx="640080" cy="320040"/>
          </a:xfrm>
          <a:prstGeom prst="roundRect">
            <a:avLst>
              <a:gd name="adj" fmla="val 14286"/>
            </a:avLst>
          </a:prstGeom>
          <a:solidFill>
            <a:srgbClr val="A9BDE0"/>
          </a:solidFill>
          <a:ln w="12700">
            <a:solidFill>
              <a:srgbClr val="A9BDE0"/>
            </a:solidFill>
            <a:prstDash val="solid"/>
          </a:ln>
        </p:spPr>
      </p:sp>
      <p:sp>
        <p:nvSpPr>
          <p:cNvPr id="27" name="Text 25"/>
          <p:cNvSpPr txBox="1"/>
          <p:nvPr/>
        </p:nvSpPr>
        <p:spPr>
          <a:xfrm>
            <a:off x="7269480" y="365760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Q1</a:t>
            </a:r>
            <a:endParaRPr lang="en-US" sz="1000" dirty="0"/>
          </a:p>
        </p:txBody>
      </p:sp>
      <p:sp>
        <p:nvSpPr>
          <p:cNvPr id="28" name="Shape 26"/>
          <p:cNvSpPr/>
          <p:nvPr/>
        </p:nvSpPr>
        <p:spPr>
          <a:xfrm>
            <a:off x="7982712" y="3657600"/>
            <a:ext cx="640080" cy="320040"/>
          </a:xfrm>
          <a:prstGeom prst="roundRect">
            <a:avLst>
              <a:gd name="adj" fmla="val 14286"/>
            </a:avLst>
          </a:prstGeom>
          <a:solidFill>
            <a:srgbClr val="C8414F"/>
          </a:solidFill>
          <a:ln w="12700">
            <a:solidFill>
              <a:srgbClr val="C8414F"/>
            </a:solidFill>
            <a:prstDash val="solid"/>
          </a:ln>
        </p:spPr>
      </p:sp>
      <p:sp>
        <p:nvSpPr>
          <p:cNvPr id="29" name="Text 27"/>
          <p:cNvSpPr txBox="1"/>
          <p:nvPr/>
        </p:nvSpPr>
        <p:spPr>
          <a:xfrm>
            <a:off x="7982712" y="3657600"/>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Q2</a:t>
            </a:r>
            <a:endParaRPr lang="en-US" sz="1000" dirty="0"/>
          </a:p>
        </p:txBody>
      </p:sp>
      <p:sp>
        <p:nvSpPr>
          <p:cNvPr id="30" name="Shape 28"/>
          <p:cNvSpPr/>
          <p:nvPr/>
        </p:nvSpPr>
        <p:spPr>
          <a:xfrm>
            <a:off x="8695944" y="3657600"/>
            <a:ext cx="640080" cy="320040"/>
          </a:xfrm>
          <a:prstGeom prst="roundRect">
            <a:avLst>
              <a:gd name="adj" fmla="val 14286"/>
            </a:avLst>
          </a:prstGeom>
          <a:solidFill>
            <a:srgbClr val="A9BDE0"/>
          </a:solidFill>
          <a:ln w="12700">
            <a:solidFill>
              <a:srgbClr val="A9BDE0"/>
            </a:solidFill>
            <a:prstDash val="solid"/>
          </a:ln>
        </p:spPr>
      </p:sp>
      <p:sp>
        <p:nvSpPr>
          <p:cNvPr id="31" name="Text 29"/>
          <p:cNvSpPr txBox="1"/>
          <p:nvPr/>
        </p:nvSpPr>
        <p:spPr>
          <a:xfrm>
            <a:off x="8695944" y="365760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Q3</a:t>
            </a:r>
            <a:endParaRPr lang="en-US" sz="1000" dirty="0"/>
          </a:p>
        </p:txBody>
      </p:sp>
      <p:sp>
        <p:nvSpPr>
          <p:cNvPr id="32" name="Shape 30"/>
          <p:cNvSpPr/>
          <p:nvPr/>
        </p:nvSpPr>
        <p:spPr>
          <a:xfrm>
            <a:off x="9409176" y="3657600"/>
            <a:ext cx="640080" cy="320040"/>
          </a:xfrm>
          <a:prstGeom prst="roundRect">
            <a:avLst>
              <a:gd name="adj" fmla="val 14286"/>
            </a:avLst>
          </a:prstGeom>
          <a:solidFill>
            <a:srgbClr val="A9BDE0"/>
          </a:solidFill>
          <a:ln w="12700">
            <a:solidFill>
              <a:srgbClr val="A9BDE0"/>
            </a:solidFill>
            <a:prstDash val="solid"/>
          </a:ln>
        </p:spPr>
      </p:sp>
      <p:sp>
        <p:nvSpPr>
          <p:cNvPr id="33" name="Text 31"/>
          <p:cNvSpPr txBox="1"/>
          <p:nvPr/>
        </p:nvSpPr>
        <p:spPr>
          <a:xfrm>
            <a:off x="9409176" y="365760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Q4</a:t>
            </a:r>
            <a:endParaRPr lang="en-US" sz="1000" dirty="0"/>
          </a:p>
        </p:txBody>
      </p:sp>
      <p:sp>
        <p:nvSpPr>
          <p:cNvPr id="34" name="Shape 32"/>
          <p:cNvSpPr/>
          <p:nvPr/>
        </p:nvSpPr>
        <p:spPr>
          <a:xfrm>
            <a:off x="10122408" y="3657600"/>
            <a:ext cx="640080" cy="320040"/>
          </a:xfrm>
          <a:prstGeom prst="roundRect">
            <a:avLst>
              <a:gd name="adj" fmla="val 14286"/>
            </a:avLst>
          </a:prstGeom>
          <a:solidFill>
            <a:srgbClr val="A9BDE0"/>
          </a:solidFill>
          <a:ln w="12700">
            <a:solidFill>
              <a:srgbClr val="A9BDE0"/>
            </a:solidFill>
            <a:prstDash val="solid"/>
          </a:ln>
        </p:spPr>
      </p:sp>
      <p:sp>
        <p:nvSpPr>
          <p:cNvPr id="35" name="Text 33"/>
          <p:cNvSpPr txBox="1"/>
          <p:nvPr/>
        </p:nvSpPr>
        <p:spPr>
          <a:xfrm>
            <a:off x="10122408" y="365760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Q5</a:t>
            </a:r>
            <a:endParaRPr lang="en-US" sz="1000" dirty="0"/>
          </a:p>
        </p:txBody>
      </p:sp>
      <p:sp>
        <p:nvSpPr>
          <p:cNvPr id="36" name="Shape 34"/>
          <p:cNvSpPr/>
          <p:nvPr/>
        </p:nvSpPr>
        <p:spPr>
          <a:xfrm>
            <a:off x="10835640" y="3657600"/>
            <a:ext cx="640080" cy="320040"/>
          </a:xfrm>
          <a:prstGeom prst="roundRect">
            <a:avLst>
              <a:gd name="adj" fmla="val 14286"/>
            </a:avLst>
          </a:prstGeom>
          <a:solidFill>
            <a:srgbClr val="A9BDE0"/>
          </a:solidFill>
          <a:ln w="12700">
            <a:solidFill>
              <a:srgbClr val="A9BDE0"/>
            </a:solidFill>
            <a:prstDash val="solid"/>
          </a:ln>
        </p:spPr>
      </p:sp>
      <p:sp>
        <p:nvSpPr>
          <p:cNvPr id="37" name="Text 35"/>
          <p:cNvSpPr txBox="1"/>
          <p:nvPr/>
        </p:nvSpPr>
        <p:spPr>
          <a:xfrm>
            <a:off x="10835640" y="365760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Q6</a:t>
            </a:r>
            <a:endParaRPr lang="en-US" sz="1000" dirty="0"/>
          </a:p>
        </p:txBody>
      </p:sp>
      <p:sp>
        <p:nvSpPr>
          <p:cNvPr id="38" name="Text 36"/>
          <p:cNvSpPr txBox="1"/>
          <p:nvPr/>
        </p:nvSpPr>
        <p:spPr>
          <a:xfrm>
            <a:off x="6400800" y="4069080"/>
            <a:ext cx="822960" cy="32004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Fold 3</a:t>
            </a:r>
            <a:endParaRPr lang="en-US" sz="1100" dirty="0"/>
          </a:p>
        </p:txBody>
      </p:sp>
      <p:sp>
        <p:nvSpPr>
          <p:cNvPr id="39" name="Shape 37"/>
          <p:cNvSpPr/>
          <p:nvPr/>
        </p:nvSpPr>
        <p:spPr>
          <a:xfrm>
            <a:off x="7269480" y="4069080"/>
            <a:ext cx="640080" cy="320040"/>
          </a:xfrm>
          <a:prstGeom prst="roundRect">
            <a:avLst>
              <a:gd name="adj" fmla="val 14286"/>
            </a:avLst>
          </a:prstGeom>
          <a:solidFill>
            <a:srgbClr val="A9BDE0"/>
          </a:solidFill>
          <a:ln w="12700">
            <a:solidFill>
              <a:srgbClr val="A9BDE0"/>
            </a:solidFill>
            <a:prstDash val="solid"/>
          </a:ln>
        </p:spPr>
      </p:sp>
      <p:sp>
        <p:nvSpPr>
          <p:cNvPr id="40" name="Text 38"/>
          <p:cNvSpPr txBox="1"/>
          <p:nvPr/>
        </p:nvSpPr>
        <p:spPr>
          <a:xfrm>
            <a:off x="7269480" y="406908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Q1</a:t>
            </a:r>
            <a:endParaRPr lang="en-US" sz="1000" dirty="0"/>
          </a:p>
        </p:txBody>
      </p:sp>
      <p:sp>
        <p:nvSpPr>
          <p:cNvPr id="41" name="Shape 39"/>
          <p:cNvSpPr/>
          <p:nvPr/>
        </p:nvSpPr>
        <p:spPr>
          <a:xfrm>
            <a:off x="7982712" y="4069080"/>
            <a:ext cx="640080" cy="320040"/>
          </a:xfrm>
          <a:prstGeom prst="roundRect">
            <a:avLst>
              <a:gd name="adj" fmla="val 14286"/>
            </a:avLst>
          </a:prstGeom>
          <a:solidFill>
            <a:srgbClr val="A9BDE0"/>
          </a:solidFill>
          <a:ln w="12700">
            <a:solidFill>
              <a:srgbClr val="A9BDE0"/>
            </a:solidFill>
            <a:prstDash val="solid"/>
          </a:ln>
        </p:spPr>
      </p:sp>
      <p:sp>
        <p:nvSpPr>
          <p:cNvPr id="42" name="Text 40"/>
          <p:cNvSpPr txBox="1"/>
          <p:nvPr/>
        </p:nvSpPr>
        <p:spPr>
          <a:xfrm>
            <a:off x="7982712" y="406908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Q2</a:t>
            </a:r>
            <a:endParaRPr lang="en-US" sz="1000" dirty="0"/>
          </a:p>
        </p:txBody>
      </p:sp>
      <p:sp>
        <p:nvSpPr>
          <p:cNvPr id="43" name="Shape 41"/>
          <p:cNvSpPr/>
          <p:nvPr/>
        </p:nvSpPr>
        <p:spPr>
          <a:xfrm>
            <a:off x="8695944" y="4069080"/>
            <a:ext cx="640080" cy="320040"/>
          </a:xfrm>
          <a:prstGeom prst="roundRect">
            <a:avLst>
              <a:gd name="adj" fmla="val 14286"/>
            </a:avLst>
          </a:prstGeom>
          <a:solidFill>
            <a:srgbClr val="C8414F"/>
          </a:solidFill>
          <a:ln w="12700">
            <a:solidFill>
              <a:srgbClr val="C8414F"/>
            </a:solidFill>
            <a:prstDash val="solid"/>
          </a:ln>
        </p:spPr>
      </p:sp>
      <p:sp>
        <p:nvSpPr>
          <p:cNvPr id="44" name="Text 42"/>
          <p:cNvSpPr txBox="1"/>
          <p:nvPr/>
        </p:nvSpPr>
        <p:spPr>
          <a:xfrm>
            <a:off x="8695944" y="4069080"/>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Q3</a:t>
            </a:r>
            <a:endParaRPr lang="en-US" sz="1000" dirty="0"/>
          </a:p>
        </p:txBody>
      </p:sp>
      <p:sp>
        <p:nvSpPr>
          <p:cNvPr id="45" name="Shape 43"/>
          <p:cNvSpPr/>
          <p:nvPr/>
        </p:nvSpPr>
        <p:spPr>
          <a:xfrm>
            <a:off x="9409176" y="4069080"/>
            <a:ext cx="640080" cy="320040"/>
          </a:xfrm>
          <a:prstGeom prst="roundRect">
            <a:avLst>
              <a:gd name="adj" fmla="val 14286"/>
            </a:avLst>
          </a:prstGeom>
          <a:solidFill>
            <a:srgbClr val="A9BDE0"/>
          </a:solidFill>
          <a:ln w="12700">
            <a:solidFill>
              <a:srgbClr val="A9BDE0"/>
            </a:solidFill>
            <a:prstDash val="solid"/>
          </a:ln>
        </p:spPr>
      </p:sp>
      <p:sp>
        <p:nvSpPr>
          <p:cNvPr id="46" name="Text 44"/>
          <p:cNvSpPr txBox="1"/>
          <p:nvPr/>
        </p:nvSpPr>
        <p:spPr>
          <a:xfrm>
            <a:off x="9409176" y="406908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Q4</a:t>
            </a:r>
            <a:endParaRPr lang="en-US" sz="1000" dirty="0"/>
          </a:p>
        </p:txBody>
      </p:sp>
      <p:sp>
        <p:nvSpPr>
          <p:cNvPr id="47" name="Shape 45"/>
          <p:cNvSpPr/>
          <p:nvPr/>
        </p:nvSpPr>
        <p:spPr>
          <a:xfrm>
            <a:off x="10122408" y="4069080"/>
            <a:ext cx="640080" cy="320040"/>
          </a:xfrm>
          <a:prstGeom prst="roundRect">
            <a:avLst>
              <a:gd name="adj" fmla="val 14286"/>
            </a:avLst>
          </a:prstGeom>
          <a:solidFill>
            <a:srgbClr val="A9BDE0"/>
          </a:solidFill>
          <a:ln w="12700">
            <a:solidFill>
              <a:srgbClr val="A9BDE0"/>
            </a:solidFill>
            <a:prstDash val="solid"/>
          </a:ln>
        </p:spPr>
      </p:sp>
      <p:sp>
        <p:nvSpPr>
          <p:cNvPr id="48" name="Text 46"/>
          <p:cNvSpPr txBox="1"/>
          <p:nvPr/>
        </p:nvSpPr>
        <p:spPr>
          <a:xfrm>
            <a:off x="10122408" y="406908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Q5</a:t>
            </a:r>
            <a:endParaRPr lang="en-US" sz="1000" dirty="0"/>
          </a:p>
        </p:txBody>
      </p:sp>
      <p:sp>
        <p:nvSpPr>
          <p:cNvPr id="49" name="Shape 47"/>
          <p:cNvSpPr/>
          <p:nvPr/>
        </p:nvSpPr>
        <p:spPr>
          <a:xfrm>
            <a:off x="10835640" y="4069080"/>
            <a:ext cx="640080" cy="320040"/>
          </a:xfrm>
          <a:prstGeom prst="roundRect">
            <a:avLst>
              <a:gd name="adj" fmla="val 14286"/>
            </a:avLst>
          </a:prstGeom>
          <a:solidFill>
            <a:srgbClr val="A9BDE0"/>
          </a:solidFill>
          <a:ln w="12700">
            <a:solidFill>
              <a:srgbClr val="A9BDE0"/>
            </a:solidFill>
            <a:prstDash val="solid"/>
          </a:ln>
        </p:spPr>
      </p:sp>
      <p:sp>
        <p:nvSpPr>
          <p:cNvPr id="50" name="Text 48"/>
          <p:cNvSpPr txBox="1"/>
          <p:nvPr/>
        </p:nvSpPr>
        <p:spPr>
          <a:xfrm>
            <a:off x="10835640" y="406908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Q6</a:t>
            </a:r>
            <a:endParaRPr lang="en-US" sz="1000" dirty="0"/>
          </a:p>
        </p:txBody>
      </p:sp>
      <p:sp>
        <p:nvSpPr>
          <p:cNvPr id="51" name="Text 49"/>
          <p:cNvSpPr txBox="1"/>
          <p:nvPr/>
        </p:nvSpPr>
        <p:spPr>
          <a:xfrm>
            <a:off x="6400800" y="4480560"/>
            <a:ext cx="822960" cy="32004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Fold 4</a:t>
            </a:r>
            <a:endParaRPr lang="en-US" sz="1100" dirty="0"/>
          </a:p>
        </p:txBody>
      </p:sp>
      <p:sp>
        <p:nvSpPr>
          <p:cNvPr id="52" name="Shape 50"/>
          <p:cNvSpPr/>
          <p:nvPr/>
        </p:nvSpPr>
        <p:spPr>
          <a:xfrm>
            <a:off x="7269480" y="4480560"/>
            <a:ext cx="640080" cy="320040"/>
          </a:xfrm>
          <a:prstGeom prst="roundRect">
            <a:avLst>
              <a:gd name="adj" fmla="val 14286"/>
            </a:avLst>
          </a:prstGeom>
          <a:solidFill>
            <a:srgbClr val="A9BDE0"/>
          </a:solidFill>
          <a:ln w="12700">
            <a:solidFill>
              <a:srgbClr val="A9BDE0"/>
            </a:solidFill>
            <a:prstDash val="solid"/>
          </a:ln>
        </p:spPr>
      </p:sp>
      <p:sp>
        <p:nvSpPr>
          <p:cNvPr id="53" name="Text 51"/>
          <p:cNvSpPr txBox="1"/>
          <p:nvPr/>
        </p:nvSpPr>
        <p:spPr>
          <a:xfrm>
            <a:off x="7269480" y="448056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Q1</a:t>
            </a:r>
            <a:endParaRPr lang="en-US" sz="1000" dirty="0"/>
          </a:p>
        </p:txBody>
      </p:sp>
      <p:sp>
        <p:nvSpPr>
          <p:cNvPr id="54" name="Shape 52"/>
          <p:cNvSpPr/>
          <p:nvPr/>
        </p:nvSpPr>
        <p:spPr>
          <a:xfrm>
            <a:off x="7982712" y="4480560"/>
            <a:ext cx="640080" cy="320040"/>
          </a:xfrm>
          <a:prstGeom prst="roundRect">
            <a:avLst>
              <a:gd name="adj" fmla="val 14286"/>
            </a:avLst>
          </a:prstGeom>
          <a:solidFill>
            <a:srgbClr val="A9BDE0"/>
          </a:solidFill>
          <a:ln w="12700">
            <a:solidFill>
              <a:srgbClr val="A9BDE0"/>
            </a:solidFill>
            <a:prstDash val="solid"/>
          </a:ln>
        </p:spPr>
      </p:sp>
      <p:sp>
        <p:nvSpPr>
          <p:cNvPr id="55" name="Text 53"/>
          <p:cNvSpPr txBox="1"/>
          <p:nvPr/>
        </p:nvSpPr>
        <p:spPr>
          <a:xfrm>
            <a:off x="7982712" y="448056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Q2</a:t>
            </a:r>
            <a:endParaRPr lang="en-US" sz="1000" dirty="0"/>
          </a:p>
        </p:txBody>
      </p:sp>
      <p:sp>
        <p:nvSpPr>
          <p:cNvPr id="56" name="Shape 54"/>
          <p:cNvSpPr/>
          <p:nvPr/>
        </p:nvSpPr>
        <p:spPr>
          <a:xfrm>
            <a:off x="8695944" y="4480560"/>
            <a:ext cx="640080" cy="320040"/>
          </a:xfrm>
          <a:prstGeom prst="roundRect">
            <a:avLst>
              <a:gd name="adj" fmla="val 14286"/>
            </a:avLst>
          </a:prstGeom>
          <a:solidFill>
            <a:srgbClr val="A9BDE0"/>
          </a:solidFill>
          <a:ln w="12700">
            <a:solidFill>
              <a:srgbClr val="A9BDE0"/>
            </a:solidFill>
            <a:prstDash val="solid"/>
          </a:ln>
        </p:spPr>
      </p:sp>
      <p:sp>
        <p:nvSpPr>
          <p:cNvPr id="57" name="Text 55"/>
          <p:cNvSpPr txBox="1"/>
          <p:nvPr/>
        </p:nvSpPr>
        <p:spPr>
          <a:xfrm>
            <a:off x="8695944" y="448056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Q3</a:t>
            </a:r>
            <a:endParaRPr lang="en-US" sz="1000" dirty="0"/>
          </a:p>
        </p:txBody>
      </p:sp>
      <p:sp>
        <p:nvSpPr>
          <p:cNvPr id="58" name="Shape 56"/>
          <p:cNvSpPr/>
          <p:nvPr/>
        </p:nvSpPr>
        <p:spPr>
          <a:xfrm>
            <a:off x="9409176" y="4480560"/>
            <a:ext cx="640080" cy="320040"/>
          </a:xfrm>
          <a:prstGeom prst="roundRect">
            <a:avLst>
              <a:gd name="adj" fmla="val 14286"/>
            </a:avLst>
          </a:prstGeom>
          <a:solidFill>
            <a:srgbClr val="C8414F"/>
          </a:solidFill>
          <a:ln w="12700">
            <a:solidFill>
              <a:srgbClr val="C8414F"/>
            </a:solidFill>
            <a:prstDash val="solid"/>
          </a:ln>
        </p:spPr>
      </p:sp>
      <p:sp>
        <p:nvSpPr>
          <p:cNvPr id="59" name="Text 57"/>
          <p:cNvSpPr txBox="1"/>
          <p:nvPr/>
        </p:nvSpPr>
        <p:spPr>
          <a:xfrm>
            <a:off x="9409176" y="4480560"/>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Q4</a:t>
            </a:r>
            <a:endParaRPr lang="en-US" sz="1000" dirty="0"/>
          </a:p>
        </p:txBody>
      </p:sp>
      <p:sp>
        <p:nvSpPr>
          <p:cNvPr id="60" name="Shape 58"/>
          <p:cNvSpPr/>
          <p:nvPr/>
        </p:nvSpPr>
        <p:spPr>
          <a:xfrm>
            <a:off x="10122408" y="4480560"/>
            <a:ext cx="640080" cy="320040"/>
          </a:xfrm>
          <a:prstGeom prst="roundRect">
            <a:avLst>
              <a:gd name="adj" fmla="val 14286"/>
            </a:avLst>
          </a:prstGeom>
          <a:solidFill>
            <a:srgbClr val="A9BDE0"/>
          </a:solidFill>
          <a:ln w="12700">
            <a:solidFill>
              <a:srgbClr val="A9BDE0"/>
            </a:solidFill>
            <a:prstDash val="solid"/>
          </a:ln>
        </p:spPr>
      </p:sp>
      <p:sp>
        <p:nvSpPr>
          <p:cNvPr id="61" name="Text 59"/>
          <p:cNvSpPr txBox="1"/>
          <p:nvPr/>
        </p:nvSpPr>
        <p:spPr>
          <a:xfrm>
            <a:off x="10122408" y="448056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Q5</a:t>
            </a:r>
            <a:endParaRPr lang="en-US" sz="1000" dirty="0"/>
          </a:p>
        </p:txBody>
      </p:sp>
      <p:sp>
        <p:nvSpPr>
          <p:cNvPr id="62" name="Shape 60"/>
          <p:cNvSpPr/>
          <p:nvPr/>
        </p:nvSpPr>
        <p:spPr>
          <a:xfrm>
            <a:off x="10835640" y="4480560"/>
            <a:ext cx="640080" cy="320040"/>
          </a:xfrm>
          <a:prstGeom prst="roundRect">
            <a:avLst>
              <a:gd name="adj" fmla="val 14286"/>
            </a:avLst>
          </a:prstGeom>
          <a:solidFill>
            <a:srgbClr val="A9BDE0"/>
          </a:solidFill>
          <a:ln w="12700">
            <a:solidFill>
              <a:srgbClr val="A9BDE0"/>
            </a:solidFill>
            <a:prstDash val="solid"/>
          </a:ln>
        </p:spPr>
      </p:sp>
      <p:sp>
        <p:nvSpPr>
          <p:cNvPr id="63" name="Text 61"/>
          <p:cNvSpPr txBox="1"/>
          <p:nvPr/>
        </p:nvSpPr>
        <p:spPr>
          <a:xfrm>
            <a:off x="10835640" y="448056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Q6</a:t>
            </a:r>
            <a:endParaRPr lang="en-US" sz="1000" dirty="0"/>
          </a:p>
        </p:txBody>
      </p:sp>
      <p:sp>
        <p:nvSpPr>
          <p:cNvPr id="64" name="Text 62"/>
          <p:cNvSpPr txBox="1"/>
          <p:nvPr/>
        </p:nvSpPr>
        <p:spPr>
          <a:xfrm>
            <a:off x="6400800" y="4892040"/>
            <a:ext cx="822960" cy="32004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Fold 5</a:t>
            </a:r>
            <a:endParaRPr lang="en-US" sz="1100" dirty="0"/>
          </a:p>
        </p:txBody>
      </p:sp>
      <p:sp>
        <p:nvSpPr>
          <p:cNvPr id="65" name="Shape 63"/>
          <p:cNvSpPr/>
          <p:nvPr/>
        </p:nvSpPr>
        <p:spPr>
          <a:xfrm>
            <a:off x="7269480" y="4892040"/>
            <a:ext cx="640080" cy="320040"/>
          </a:xfrm>
          <a:prstGeom prst="roundRect">
            <a:avLst>
              <a:gd name="adj" fmla="val 14286"/>
            </a:avLst>
          </a:prstGeom>
          <a:solidFill>
            <a:srgbClr val="A9BDE0"/>
          </a:solidFill>
          <a:ln w="12700">
            <a:solidFill>
              <a:srgbClr val="A9BDE0"/>
            </a:solidFill>
            <a:prstDash val="solid"/>
          </a:ln>
        </p:spPr>
      </p:sp>
      <p:sp>
        <p:nvSpPr>
          <p:cNvPr id="66" name="Text 64"/>
          <p:cNvSpPr txBox="1"/>
          <p:nvPr/>
        </p:nvSpPr>
        <p:spPr>
          <a:xfrm>
            <a:off x="7269480" y="489204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Q1</a:t>
            </a:r>
            <a:endParaRPr lang="en-US" sz="1000" dirty="0"/>
          </a:p>
        </p:txBody>
      </p:sp>
      <p:sp>
        <p:nvSpPr>
          <p:cNvPr id="67" name="Shape 65"/>
          <p:cNvSpPr/>
          <p:nvPr/>
        </p:nvSpPr>
        <p:spPr>
          <a:xfrm>
            <a:off x="7982712" y="4892040"/>
            <a:ext cx="640080" cy="320040"/>
          </a:xfrm>
          <a:prstGeom prst="roundRect">
            <a:avLst>
              <a:gd name="adj" fmla="val 14286"/>
            </a:avLst>
          </a:prstGeom>
          <a:solidFill>
            <a:srgbClr val="A9BDE0"/>
          </a:solidFill>
          <a:ln w="12700">
            <a:solidFill>
              <a:srgbClr val="A9BDE0"/>
            </a:solidFill>
            <a:prstDash val="solid"/>
          </a:ln>
        </p:spPr>
      </p:sp>
      <p:sp>
        <p:nvSpPr>
          <p:cNvPr id="68" name="Text 66"/>
          <p:cNvSpPr txBox="1"/>
          <p:nvPr/>
        </p:nvSpPr>
        <p:spPr>
          <a:xfrm>
            <a:off x="7982712" y="489204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Q2</a:t>
            </a:r>
            <a:endParaRPr lang="en-US" sz="1000" dirty="0"/>
          </a:p>
        </p:txBody>
      </p:sp>
      <p:sp>
        <p:nvSpPr>
          <p:cNvPr id="69" name="Shape 67"/>
          <p:cNvSpPr/>
          <p:nvPr/>
        </p:nvSpPr>
        <p:spPr>
          <a:xfrm>
            <a:off x="8695944" y="4892040"/>
            <a:ext cx="640080" cy="320040"/>
          </a:xfrm>
          <a:prstGeom prst="roundRect">
            <a:avLst>
              <a:gd name="adj" fmla="val 14286"/>
            </a:avLst>
          </a:prstGeom>
          <a:solidFill>
            <a:srgbClr val="A9BDE0"/>
          </a:solidFill>
          <a:ln w="12700">
            <a:solidFill>
              <a:srgbClr val="A9BDE0"/>
            </a:solidFill>
            <a:prstDash val="solid"/>
          </a:ln>
        </p:spPr>
      </p:sp>
      <p:sp>
        <p:nvSpPr>
          <p:cNvPr id="70" name="Text 68"/>
          <p:cNvSpPr txBox="1"/>
          <p:nvPr/>
        </p:nvSpPr>
        <p:spPr>
          <a:xfrm>
            <a:off x="8695944" y="489204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Q3</a:t>
            </a:r>
            <a:endParaRPr lang="en-US" sz="1000" dirty="0"/>
          </a:p>
        </p:txBody>
      </p:sp>
      <p:sp>
        <p:nvSpPr>
          <p:cNvPr id="71" name="Shape 69"/>
          <p:cNvSpPr/>
          <p:nvPr/>
        </p:nvSpPr>
        <p:spPr>
          <a:xfrm>
            <a:off x="9409176" y="4892040"/>
            <a:ext cx="640080" cy="320040"/>
          </a:xfrm>
          <a:prstGeom prst="roundRect">
            <a:avLst>
              <a:gd name="adj" fmla="val 14286"/>
            </a:avLst>
          </a:prstGeom>
          <a:solidFill>
            <a:srgbClr val="A9BDE0"/>
          </a:solidFill>
          <a:ln w="12700">
            <a:solidFill>
              <a:srgbClr val="A9BDE0"/>
            </a:solidFill>
            <a:prstDash val="solid"/>
          </a:ln>
        </p:spPr>
      </p:sp>
      <p:sp>
        <p:nvSpPr>
          <p:cNvPr id="72" name="Text 70"/>
          <p:cNvSpPr txBox="1"/>
          <p:nvPr/>
        </p:nvSpPr>
        <p:spPr>
          <a:xfrm>
            <a:off x="9409176" y="489204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Q4</a:t>
            </a:r>
            <a:endParaRPr lang="en-US" sz="1000" dirty="0"/>
          </a:p>
        </p:txBody>
      </p:sp>
      <p:sp>
        <p:nvSpPr>
          <p:cNvPr id="73" name="Shape 71"/>
          <p:cNvSpPr/>
          <p:nvPr/>
        </p:nvSpPr>
        <p:spPr>
          <a:xfrm>
            <a:off x="10122408" y="4892040"/>
            <a:ext cx="640080" cy="320040"/>
          </a:xfrm>
          <a:prstGeom prst="roundRect">
            <a:avLst>
              <a:gd name="adj" fmla="val 14286"/>
            </a:avLst>
          </a:prstGeom>
          <a:solidFill>
            <a:srgbClr val="C8414F"/>
          </a:solidFill>
          <a:ln w="12700">
            <a:solidFill>
              <a:srgbClr val="C8414F"/>
            </a:solidFill>
            <a:prstDash val="solid"/>
          </a:ln>
        </p:spPr>
      </p:sp>
      <p:sp>
        <p:nvSpPr>
          <p:cNvPr id="74" name="Text 72"/>
          <p:cNvSpPr txBox="1"/>
          <p:nvPr/>
        </p:nvSpPr>
        <p:spPr>
          <a:xfrm>
            <a:off x="10122408" y="4892040"/>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Q5</a:t>
            </a:r>
            <a:endParaRPr lang="en-US" sz="1000" dirty="0"/>
          </a:p>
        </p:txBody>
      </p:sp>
      <p:sp>
        <p:nvSpPr>
          <p:cNvPr id="75" name="Shape 73"/>
          <p:cNvSpPr/>
          <p:nvPr/>
        </p:nvSpPr>
        <p:spPr>
          <a:xfrm>
            <a:off x="10835640" y="4892040"/>
            <a:ext cx="640080" cy="320040"/>
          </a:xfrm>
          <a:prstGeom prst="roundRect">
            <a:avLst>
              <a:gd name="adj" fmla="val 14286"/>
            </a:avLst>
          </a:prstGeom>
          <a:solidFill>
            <a:srgbClr val="A9BDE0"/>
          </a:solidFill>
          <a:ln w="12700">
            <a:solidFill>
              <a:srgbClr val="A9BDE0"/>
            </a:solidFill>
            <a:prstDash val="solid"/>
          </a:ln>
        </p:spPr>
      </p:sp>
      <p:sp>
        <p:nvSpPr>
          <p:cNvPr id="76" name="Text 74"/>
          <p:cNvSpPr txBox="1"/>
          <p:nvPr/>
        </p:nvSpPr>
        <p:spPr>
          <a:xfrm>
            <a:off x="10835640" y="489204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Q6</a:t>
            </a:r>
            <a:endParaRPr lang="en-US" sz="1000" dirty="0"/>
          </a:p>
        </p:txBody>
      </p:sp>
      <p:sp>
        <p:nvSpPr>
          <p:cNvPr id="77" name="Text 75"/>
          <p:cNvSpPr txBox="1"/>
          <p:nvPr/>
        </p:nvSpPr>
        <p:spPr>
          <a:xfrm>
            <a:off x="6400800" y="5303520"/>
            <a:ext cx="822960" cy="320040"/>
          </a:xfrm>
          <a:prstGeom prst="rect">
            <a:avLst/>
          </a:prstGeom>
          <a:noFill/>
          <a:ln/>
        </p:spPr>
        <p:txBody>
          <a:bodyPr wrap="square" lIns="0" tIns="0" rIns="0" bIns="0" rtlCol="0" anchor="ctr"/>
          <a:lstStyle/>
          <a:p>
            <a:pPr indent="0" marL="0">
              <a:buNone/>
            </a:pPr>
            <a:r>
              <a:rPr lang="en-US" sz="1100" dirty="0">
                <a:solidFill>
                  <a:srgbClr val="5B6475"/>
                </a:solidFill>
                <a:latin typeface="Calibri" pitchFamily="34" charset="0"/>
                <a:ea typeface="Calibri" pitchFamily="34" charset="-122"/>
                <a:cs typeface="Calibri" pitchFamily="34" charset="-120"/>
              </a:rPr>
              <a:t>Fold 6</a:t>
            </a:r>
            <a:endParaRPr lang="en-US" sz="1100" dirty="0"/>
          </a:p>
        </p:txBody>
      </p:sp>
      <p:sp>
        <p:nvSpPr>
          <p:cNvPr id="78" name="Shape 76"/>
          <p:cNvSpPr/>
          <p:nvPr/>
        </p:nvSpPr>
        <p:spPr>
          <a:xfrm>
            <a:off x="7269480" y="5303520"/>
            <a:ext cx="640080" cy="320040"/>
          </a:xfrm>
          <a:prstGeom prst="roundRect">
            <a:avLst>
              <a:gd name="adj" fmla="val 14286"/>
            </a:avLst>
          </a:prstGeom>
          <a:solidFill>
            <a:srgbClr val="A9BDE0"/>
          </a:solidFill>
          <a:ln w="12700">
            <a:solidFill>
              <a:srgbClr val="A9BDE0"/>
            </a:solidFill>
            <a:prstDash val="solid"/>
          </a:ln>
        </p:spPr>
      </p:sp>
      <p:sp>
        <p:nvSpPr>
          <p:cNvPr id="79" name="Text 77"/>
          <p:cNvSpPr txBox="1"/>
          <p:nvPr/>
        </p:nvSpPr>
        <p:spPr>
          <a:xfrm>
            <a:off x="7269480" y="530352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Q1</a:t>
            </a:r>
            <a:endParaRPr lang="en-US" sz="1000" dirty="0"/>
          </a:p>
        </p:txBody>
      </p:sp>
      <p:sp>
        <p:nvSpPr>
          <p:cNvPr id="80" name="Shape 78"/>
          <p:cNvSpPr/>
          <p:nvPr/>
        </p:nvSpPr>
        <p:spPr>
          <a:xfrm>
            <a:off x="7982712" y="5303520"/>
            <a:ext cx="640080" cy="320040"/>
          </a:xfrm>
          <a:prstGeom prst="roundRect">
            <a:avLst>
              <a:gd name="adj" fmla="val 14286"/>
            </a:avLst>
          </a:prstGeom>
          <a:solidFill>
            <a:srgbClr val="A9BDE0"/>
          </a:solidFill>
          <a:ln w="12700">
            <a:solidFill>
              <a:srgbClr val="A9BDE0"/>
            </a:solidFill>
            <a:prstDash val="solid"/>
          </a:ln>
        </p:spPr>
      </p:sp>
      <p:sp>
        <p:nvSpPr>
          <p:cNvPr id="81" name="Text 79"/>
          <p:cNvSpPr txBox="1"/>
          <p:nvPr/>
        </p:nvSpPr>
        <p:spPr>
          <a:xfrm>
            <a:off x="7982712" y="530352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Q2</a:t>
            </a:r>
            <a:endParaRPr lang="en-US" sz="1000" dirty="0"/>
          </a:p>
        </p:txBody>
      </p:sp>
      <p:sp>
        <p:nvSpPr>
          <p:cNvPr id="82" name="Shape 80"/>
          <p:cNvSpPr/>
          <p:nvPr/>
        </p:nvSpPr>
        <p:spPr>
          <a:xfrm>
            <a:off x="8695944" y="5303520"/>
            <a:ext cx="640080" cy="320040"/>
          </a:xfrm>
          <a:prstGeom prst="roundRect">
            <a:avLst>
              <a:gd name="adj" fmla="val 14286"/>
            </a:avLst>
          </a:prstGeom>
          <a:solidFill>
            <a:srgbClr val="A9BDE0"/>
          </a:solidFill>
          <a:ln w="12700">
            <a:solidFill>
              <a:srgbClr val="A9BDE0"/>
            </a:solidFill>
            <a:prstDash val="solid"/>
          </a:ln>
        </p:spPr>
      </p:sp>
      <p:sp>
        <p:nvSpPr>
          <p:cNvPr id="83" name="Text 81"/>
          <p:cNvSpPr txBox="1"/>
          <p:nvPr/>
        </p:nvSpPr>
        <p:spPr>
          <a:xfrm>
            <a:off x="8695944" y="530352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Q3</a:t>
            </a:r>
            <a:endParaRPr lang="en-US" sz="1000" dirty="0"/>
          </a:p>
        </p:txBody>
      </p:sp>
      <p:sp>
        <p:nvSpPr>
          <p:cNvPr id="84" name="Shape 82"/>
          <p:cNvSpPr/>
          <p:nvPr/>
        </p:nvSpPr>
        <p:spPr>
          <a:xfrm>
            <a:off x="9409176" y="5303520"/>
            <a:ext cx="640080" cy="320040"/>
          </a:xfrm>
          <a:prstGeom prst="roundRect">
            <a:avLst>
              <a:gd name="adj" fmla="val 14286"/>
            </a:avLst>
          </a:prstGeom>
          <a:solidFill>
            <a:srgbClr val="A9BDE0"/>
          </a:solidFill>
          <a:ln w="12700">
            <a:solidFill>
              <a:srgbClr val="A9BDE0"/>
            </a:solidFill>
            <a:prstDash val="solid"/>
          </a:ln>
        </p:spPr>
      </p:sp>
      <p:sp>
        <p:nvSpPr>
          <p:cNvPr id="85" name="Text 83"/>
          <p:cNvSpPr txBox="1"/>
          <p:nvPr/>
        </p:nvSpPr>
        <p:spPr>
          <a:xfrm>
            <a:off x="9409176" y="530352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Q4</a:t>
            </a:r>
            <a:endParaRPr lang="en-US" sz="1000" dirty="0"/>
          </a:p>
        </p:txBody>
      </p:sp>
      <p:sp>
        <p:nvSpPr>
          <p:cNvPr id="86" name="Shape 84"/>
          <p:cNvSpPr/>
          <p:nvPr/>
        </p:nvSpPr>
        <p:spPr>
          <a:xfrm>
            <a:off x="10122408" y="5303520"/>
            <a:ext cx="640080" cy="320040"/>
          </a:xfrm>
          <a:prstGeom prst="roundRect">
            <a:avLst>
              <a:gd name="adj" fmla="val 14286"/>
            </a:avLst>
          </a:prstGeom>
          <a:solidFill>
            <a:srgbClr val="A9BDE0"/>
          </a:solidFill>
          <a:ln w="12700">
            <a:solidFill>
              <a:srgbClr val="A9BDE0"/>
            </a:solidFill>
            <a:prstDash val="solid"/>
          </a:ln>
        </p:spPr>
      </p:sp>
      <p:sp>
        <p:nvSpPr>
          <p:cNvPr id="87" name="Text 85"/>
          <p:cNvSpPr txBox="1"/>
          <p:nvPr/>
        </p:nvSpPr>
        <p:spPr>
          <a:xfrm>
            <a:off x="10122408" y="5303520"/>
            <a:ext cx="640080" cy="320040"/>
          </a:xfrm>
          <a:prstGeom prst="rect">
            <a:avLst/>
          </a:prstGeom>
          <a:noFill/>
          <a:ln/>
        </p:spPr>
        <p:txBody>
          <a:bodyPr wrap="square" lIns="0" tIns="0" rIns="0" bIns="0" rtlCol="0" anchor="ctr"/>
          <a:lstStyle/>
          <a:p>
            <a:pPr algn="ctr" indent="0" marL="0">
              <a:buNone/>
            </a:pPr>
            <a:r>
              <a:rPr lang="en-US" sz="1000" dirty="0">
                <a:solidFill>
                  <a:srgbClr val="1B2440"/>
                </a:solidFill>
                <a:latin typeface="Calibri" pitchFamily="34" charset="0"/>
                <a:ea typeface="Calibri" pitchFamily="34" charset="-122"/>
                <a:cs typeface="Calibri" pitchFamily="34" charset="-120"/>
              </a:rPr>
              <a:t>Q5</a:t>
            </a:r>
            <a:endParaRPr lang="en-US" sz="1000" dirty="0"/>
          </a:p>
        </p:txBody>
      </p:sp>
      <p:sp>
        <p:nvSpPr>
          <p:cNvPr id="88" name="Shape 86"/>
          <p:cNvSpPr/>
          <p:nvPr/>
        </p:nvSpPr>
        <p:spPr>
          <a:xfrm>
            <a:off x="10835640" y="5303520"/>
            <a:ext cx="640080" cy="320040"/>
          </a:xfrm>
          <a:prstGeom prst="roundRect">
            <a:avLst>
              <a:gd name="adj" fmla="val 14286"/>
            </a:avLst>
          </a:prstGeom>
          <a:solidFill>
            <a:srgbClr val="C8414F"/>
          </a:solidFill>
          <a:ln w="12700">
            <a:solidFill>
              <a:srgbClr val="C8414F"/>
            </a:solidFill>
            <a:prstDash val="solid"/>
          </a:ln>
        </p:spPr>
      </p:sp>
      <p:sp>
        <p:nvSpPr>
          <p:cNvPr id="89" name="Text 87"/>
          <p:cNvSpPr txBox="1"/>
          <p:nvPr/>
        </p:nvSpPr>
        <p:spPr>
          <a:xfrm>
            <a:off x="10835640" y="5303520"/>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Q6</a:t>
            </a:r>
            <a:endParaRPr lang="en-US" sz="1000" dirty="0"/>
          </a:p>
        </p:txBody>
      </p:sp>
      <p:sp>
        <p:nvSpPr>
          <p:cNvPr id="90" name="Text 88"/>
          <p:cNvSpPr txBox="1"/>
          <p:nvPr/>
        </p:nvSpPr>
        <p:spPr>
          <a:xfrm>
            <a:off x="7269480" y="5779008"/>
            <a:ext cx="4297680" cy="274320"/>
          </a:xfrm>
          <a:prstGeom prst="rect">
            <a:avLst/>
          </a:prstGeom>
          <a:noFill/>
          <a:ln/>
        </p:spPr>
        <p:txBody>
          <a:bodyPr wrap="square" lIns="0" tIns="0" rIns="0" bIns="0" rtlCol="0" anchor="t"/>
          <a:lstStyle/>
          <a:p>
            <a:pPr indent="0" marL="0">
              <a:buNone/>
            </a:pPr>
            <a:r>
              <a:rPr lang="en-US" sz="1100" dirty="0">
                <a:solidFill>
                  <a:srgbClr val="C8414F"/>
                </a:solidFill>
                <a:latin typeface="Calibri" pitchFamily="34" charset="0"/>
                <a:ea typeface="Calibri" pitchFamily="34" charset="-122"/>
                <a:cs typeface="Calibri" pitchFamily="34" charset="-120"/>
              </a:rPr>
              <a:t>■ </a:t>
            </a:r>
            <a:pPr indent="0" marL="0">
              <a:buNone/>
            </a:pPr>
            <a:r>
              <a:rPr lang="en-US" sz="1100" dirty="0">
                <a:solidFill>
                  <a:srgbClr val="5B6475"/>
                </a:solidFill>
                <a:latin typeface="Calibri" pitchFamily="34" charset="0"/>
                <a:ea typeface="Calibri" pitchFamily="34" charset="-122"/>
                <a:cs typeface="Calibri" pitchFamily="34" charset="-120"/>
              </a:rPr>
              <a:t>test question   </a:t>
            </a:r>
            <a:pPr indent="0" marL="0">
              <a:buNone/>
            </a:pPr>
            <a:r>
              <a:rPr lang="en-US" sz="1100" dirty="0">
                <a:solidFill>
                  <a:srgbClr val="A9BDE0"/>
                </a:solidFill>
                <a:latin typeface="Calibri" pitchFamily="34" charset="0"/>
                <a:ea typeface="Calibri" pitchFamily="34" charset="-122"/>
                <a:cs typeface="Calibri" pitchFamily="34" charset="-120"/>
              </a:rPr>
              <a:t>■ </a:t>
            </a:r>
            <a:pPr indent="0" marL="0">
              <a:buNone/>
            </a:pPr>
            <a:r>
              <a:rPr lang="en-US" sz="1100" dirty="0">
                <a:solidFill>
                  <a:srgbClr val="5B6475"/>
                </a:solidFill>
                <a:latin typeface="Calibri" pitchFamily="34" charset="0"/>
                <a:ea typeface="Calibri" pitchFamily="34" charset="-122"/>
                <a:cs typeface="Calibri" pitchFamily="34" charset="-120"/>
              </a:rPr>
              <a:t>training questions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B2440"/>
                </a:solidFill>
                <a:latin typeface="Cambria" pitchFamily="34" charset="0"/>
                <a:ea typeface="Cambria" pitchFamily="34" charset="-122"/>
                <a:cs typeface="Cambria" pitchFamily="34" charset="-120"/>
              </a:rPr>
              <a:t>Handwritten answers go through TrOCR first</a:t>
            </a:r>
            <a:endParaRPr lang="en-US" sz="3200" dirty="0"/>
          </a:p>
        </p:txBody>
      </p:sp>
      <p:sp>
        <p:nvSpPr>
          <p:cNvPr id="3" name="Photo step"/>
          <p:cNvSpPr/>
          <p:nvPr/>
        </p:nvSpPr>
        <p:spPr>
          <a:xfrm>
            <a:off x="548640" y="1554480"/>
            <a:ext cx="2011680" cy="2743200"/>
          </a:xfrm>
          <a:prstGeom prst="roundRect">
            <a:avLst>
              <a:gd name="adj" fmla="val 3636"/>
            </a:avLst>
          </a:prstGeom>
          <a:solidFill>
            <a:srgbClr val="F3F5F9"/>
          </a:solidFill>
          <a:ln w="12700">
            <a:solidFill>
              <a:srgbClr val="F3F5F9"/>
            </a:solidFill>
            <a:prstDash val="solid"/>
          </a:ln>
        </p:spPr>
      </p:sp>
      <p:sp>
        <p:nvSpPr>
          <p:cNvPr id="4" name="Photo circle"/>
          <p:cNvSpPr/>
          <p:nvPr/>
        </p:nvSpPr>
        <p:spPr>
          <a:xfrm>
            <a:off x="1234440" y="1783080"/>
            <a:ext cx="640080" cy="640080"/>
          </a:xfrm>
          <a:prstGeom prst="ellipse">
            <a:avLst/>
          </a:prstGeom>
          <a:solidFill>
            <a:srgbClr val="1B2440"/>
          </a:solidFill>
          <a:ln w="12700">
            <a:solidFill>
              <a:srgbClr val="1B2440"/>
            </a:solidFill>
            <a:prstDash val="solid"/>
          </a:ln>
        </p:spPr>
      </p:sp>
      <p:pic>
        <p:nvPicPr>
          <p:cNvPr id="5" name="Photo icon" descr="preencoded.png">    </p:cNvPr>
          <p:cNvPicPr>
            <a:picLocks noChangeAspect="1"/>
          </p:cNvPicPr>
          <p:nvPr/>
        </p:nvPicPr>
        <p:blipFill>
          <a:blip r:embed="rId1"/>
          <a:stretch>
            <a:fillRect/>
          </a:stretch>
        </p:blipFill>
        <p:spPr>
          <a:xfrm>
            <a:off x="1388059" y="1936699"/>
            <a:ext cx="332842" cy="332842"/>
          </a:xfrm>
          <a:prstGeom prst="rect">
            <a:avLst/>
          </a:prstGeom>
        </p:spPr>
      </p:pic>
      <p:sp>
        <p:nvSpPr>
          <p:cNvPr id="6" name="Text 3"/>
          <p:cNvSpPr txBox="1"/>
          <p:nvPr/>
        </p:nvSpPr>
        <p:spPr>
          <a:xfrm>
            <a:off x="685800" y="2606040"/>
            <a:ext cx="1737360" cy="365760"/>
          </a:xfrm>
          <a:prstGeom prst="rect">
            <a:avLst/>
          </a:prstGeom>
          <a:noFill/>
          <a:ln/>
        </p:spPr>
        <p:txBody>
          <a:bodyPr wrap="square" lIns="0" tIns="0" rIns="0" bIns="0" rtlCol="0" anchor="t"/>
          <a:lstStyle/>
          <a:p>
            <a:pPr algn="ctr" indent="0" marL="0">
              <a:buNone/>
            </a:pPr>
            <a:r>
              <a:rPr lang="en-US" sz="1600" b="1" dirty="0">
                <a:solidFill>
                  <a:srgbClr val="1B2440"/>
                </a:solidFill>
                <a:latin typeface="Cambria" pitchFamily="34" charset="0"/>
                <a:ea typeface="Cambria" pitchFamily="34" charset="-122"/>
                <a:cs typeface="Cambria" pitchFamily="34" charset="-120"/>
              </a:rPr>
              <a:t>1. Photo</a:t>
            </a:r>
            <a:endParaRPr lang="en-US" sz="1600" dirty="0"/>
          </a:p>
        </p:txBody>
      </p:sp>
      <p:sp>
        <p:nvSpPr>
          <p:cNvPr id="7" name="Text 4"/>
          <p:cNvSpPr txBox="1"/>
          <p:nvPr/>
        </p:nvSpPr>
        <p:spPr>
          <a:xfrm>
            <a:off x="731520" y="3017520"/>
            <a:ext cx="1645920" cy="1188720"/>
          </a:xfrm>
          <a:prstGeom prst="rect">
            <a:avLst/>
          </a:prstGeom>
          <a:noFill/>
          <a:ln/>
        </p:spPr>
        <p:txBody>
          <a:bodyPr wrap="square" lIns="0" tIns="0" rIns="0" bIns="0" rtlCol="0" anchor="t"/>
          <a:lstStyle/>
          <a:p>
            <a:pPr algn="ctr" indent="0" marL="0">
              <a:buNone/>
            </a:pPr>
            <a:r>
              <a:rPr lang="en-US" sz="1300" dirty="0">
                <a:solidFill>
                  <a:srgbClr val="1F2937"/>
                </a:solidFill>
                <a:latin typeface="Calibri" pitchFamily="34" charset="0"/>
                <a:ea typeface="Calibri" pitchFamily="34" charset="-122"/>
                <a:cs typeface="Calibri" pitchFamily="34" charset="-120"/>
              </a:rPr>
              <a:t>Student uploads a photo or scan of the answer sheet</a:t>
            </a:r>
            <a:endParaRPr lang="en-US" sz="1300" dirty="0"/>
          </a:p>
        </p:txBody>
      </p:sp>
      <p:sp>
        <p:nvSpPr>
          <p:cNvPr id="8" name="Shape 5"/>
          <p:cNvSpPr/>
          <p:nvPr/>
        </p:nvSpPr>
        <p:spPr>
          <a:xfrm>
            <a:off x="2578608" y="2926080"/>
            <a:ext cx="219456" cy="914"/>
          </a:xfrm>
          <a:prstGeom prst="line">
            <a:avLst/>
          </a:prstGeom>
          <a:noFill/>
          <a:ln w="19050">
            <a:solidFill>
              <a:srgbClr val="1B2440"/>
            </a:solidFill>
            <a:prstDash val="solid"/>
            <a:tailEnd type="triangle"/>
          </a:ln>
        </p:spPr>
      </p:sp>
      <p:sp>
        <p:nvSpPr>
          <p:cNvPr id="9" name="Clean-up step"/>
          <p:cNvSpPr/>
          <p:nvPr/>
        </p:nvSpPr>
        <p:spPr>
          <a:xfrm>
            <a:off x="2816352" y="1554480"/>
            <a:ext cx="2011680" cy="2743200"/>
          </a:xfrm>
          <a:prstGeom prst="roundRect">
            <a:avLst>
              <a:gd name="adj" fmla="val 3636"/>
            </a:avLst>
          </a:prstGeom>
          <a:solidFill>
            <a:srgbClr val="F3F5F9"/>
          </a:solidFill>
          <a:ln w="12700">
            <a:solidFill>
              <a:srgbClr val="F3F5F9"/>
            </a:solidFill>
            <a:prstDash val="solid"/>
          </a:ln>
        </p:spPr>
      </p:sp>
      <p:sp>
        <p:nvSpPr>
          <p:cNvPr id="10" name="Clean-up circle"/>
          <p:cNvSpPr/>
          <p:nvPr/>
        </p:nvSpPr>
        <p:spPr>
          <a:xfrm>
            <a:off x="3502152" y="1783080"/>
            <a:ext cx="640080" cy="640080"/>
          </a:xfrm>
          <a:prstGeom prst="ellipse">
            <a:avLst/>
          </a:prstGeom>
          <a:solidFill>
            <a:srgbClr val="1B2440"/>
          </a:solidFill>
          <a:ln w="12700">
            <a:solidFill>
              <a:srgbClr val="1B2440"/>
            </a:solidFill>
            <a:prstDash val="solid"/>
          </a:ln>
        </p:spPr>
      </p:sp>
      <p:pic>
        <p:nvPicPr>
          <p:cNvPr id="11" name="Clean-up icon" descr="preencoded.png">    </p:cNvPr>
          <p:cNvPicPr>
            <a:picLocks noChangeAspect="1"/>
          </p:cNvPicPr>
          <p:nvPr/>
        </p:nvPicPr>
        <p:blipFill>
          <a:blip r:embed="rId2"/>
          <a:stretch>
            <a:fillRect/>
          </a:stretch>
        </p:blipFill>
        <p:spPr>
          <a:xfrm>
            <a:off x="3655771" y="1936699"/>
            <a:ext cx="332842" cy="332842"/>
          </a:xfrm>
          <a:prstGeom prst="rect">
            <a:avLst/>
          </a:prstGeom>
        </p:spPr>
      </p:pic>
      <p:sp>
        <p:nvSpPr>
          <p:cNvPr id="12" name="Text 8"/>
          <p:cNvSpPr txBox="1"/>
          <p:nvPr/>
        </p:nvSpPr>
        <p:spPr>
          <a:xfrm>
            <a:off x="2953512" y="2606040"/>
            <a:ext cx="1737360" cy="365760"/>
          </a:xfrm>
          <a:prstGeom prst="rect">
            <a:avLst/>
          </a:prstGeom>
          <a:noFill/>
          <a:ln/>
        </p:spPr>
        <p:txBody>
          <a:bodyPr wrap="square" lIns="0" tIns="0" rIns="0" bIns="0" rtlCol="0" anchor="t"/>
          <a:lstStyle/>
          <a:p>
            <a:pPr algn="ctr" indent="0" marL="0">
              <a:buNone/>
            </a:pPr>
            <a:r>
              <a:rPr lang="en-US" sz="1600" b="1" dirty="0">
                <a:solidFill>
                  <a:srgbClr val="1B2440"/>
                </a:solidFill>
                <a:latin typeface="Cambria" pitchFamily="34" charset="0"/>
                <a:ea typeface="Cambria" pitchFamily="34" charset="-122"/>
                <a:cs typeface="Cambria" pitchFamily="34" charset="-120"/>
              </a:rPr>
              <a:t>2. Clean-up</a:t>
            </a:r>
            <a:endParaRPr lang="en-US" sz="1600" dirty="0"/>
          </a:p>
        </p:txBody>
      </p:sp>
      <p:sp>
        <p:nvSpPr>
          <p:cNvPr id="13" name="Text 9"/>
          <p:cNvSpPr txBox="1"/>
          <p:nvPr/>
        </p:nvSpPr>
        <p:spPr>
          <a:xfrm>
            <a:off x="2999232" y="3017520"/>
            <a:ext cx="1645920" cy="1188720"/>
          </a:xfrm>
          <a:prstGeom prst="rect">
            <a:avLst/>
          </a:prstGeom>
          <a:noFill/>
          <a:ln/>
        </p:spPr>
        <p:txBody>
          <a:bodyPr wrap="square" lIns="0" tIns="0" rIns="0" bIns="0" rtlCol="0" anchor="t"/>
          <a:lstStyle/>
          <a:p>
            <a:pPr algn="ctr" indent="0" marL="0">
              <a:buNone/>
            </a:pPr>
            <a:r>
              <a:rPr lang="en-US" sz="1300" dirty="0">
                <a:solidFill>
                  <a:srgbClr val="1F2937"/>
                </a:solidFill>
                <a:latin typeface="Calibri" pitchFamily="34" charset="0"/>
                <a:ea typeface="Calibri" pitchFamily="34" charset="-122"/>
                <a:cs typeface="Calibri" pitchFamily="34" charset="-120"/>
              </a:rPr>
              <a:t>Greyscale, fix rotation, stretch contrast</a:t>
            </a:r>
            <a:endParaRPr lang="en-US" sz="1300" dirty="0"/>
          </a:p>
        </p:txBody>
      </p:sp>
      <p:sp>
        <p:nvSpPr>
          <p:cNvPr id="14" name="Shape 10"/>
          <p:cNvSpPr/>
          <p:nvPr/>
        </p:nvSpPr>
        <p:spPr>
          <a:xfrm>
            <a:off x="4846320" y="2926080"/>
            <a:ext cx="219456" cy="914"/>
          </a:xfrm>
          <a:prstGeom prst="line">
            <a:avLst/>
          </a:prstGeom>
          <a:noFill/>
          <a:ln w="19050">
            <a:solidFill>
              <a:srgbClr val="1B2440"/>
            </a:solidFill>
            <a:prstDash val="solid"/>
            <a:tailEnd type="triangle"/>
          </a:ln>
        </p:spPr>
      </p:sp>
      <p:sp>
        <p:nvSpPr>
          <p:cNvPr id="15" name="Line split step"/>
          <p:cNvSpPr/>
          <p:nvPr/>
        </p:nvSpPr>
        <p:spPr>
          <a:xfrm>
            <a:off x="5084064" y="1554480"/>
            <a:ext cx="2011680" cy="2743200"/>
          </a:xfrm>
          <a:prstGeom prst="roundRect">
            <a:avLst>
              <a:gd name="adj" fmla="val 3636"/>
            </a:avLst>
          </a:prstGeom>
          <a:solidFill>
            <a:srgbClr val="F3F5F9"/>
          </a:solidFill>
          <a:ln w="12700">
            <a:solidFill>
              <a:srgbClr val="F3F5F9"/>
            </a:solidFill>
            <a:prstDash val="solid"/>
          </a:ln>
        </p:spPr>
      </p:sp>
      <p:sp>
        <p:nvSpPr>
          <p:cNvPr id="16" name="Line split circle"/>
          <p:cNvSpPr/>
          <p:nvPr/>
        </p:nvSpPr>
        <p:spPr>
          <a:xfrm>
            <a:off x="5769864" y="1783080"/>
            <a:ext cx="640080" cy="640080"/>
          </a:xfrm>
          <a:prstGeom prst="ellipse">
            <a:avLst/>
          </a:prstGeom>
          <a:solidFill>
            <a:srgbClr val="1B2440"/>
          </a:solidFill>
          <a:ln w="12700">
            <a:solidFill>
              <a:srgbClr val="1B2440"/>
            </a:solidFill>
            <a:prstDash val="solid"/>
          </a:ln>
        </p:spPr>
      </p:sp>
      <p:pic>
        <p:nvPicPr>
          <p:cNvPr id="17" name="Line split icon" descr="preencoded.png">    </p:cNvPr>
          <p:cNvPicPr>
            <a:picLocks noChangeAspect="1"/>
          </p:cNvPicPr>
          <p:nvPr/>
        </p:nvPicPr>
        <p:blipFill>
          <a:blip r:embed="rId3"/>
          <a:stretch>
            <a:fillRect/>
          </a:stretch>
        </p:blipFill>
        <p:spPr>
          <a:xfrm>
            <a:off x="5923483" y="1936699"/>
            <a:ext cx="332842" cy="332842"/>
          </a:xfrm>
          <a:prstGeom prst="rect">
            <a:avLst/>
          </a:prstGeom>
        </p:spPr>
      </p:pic>
      <p:sp>
        <p:nvSpPr>
          <p:cNvPr id="18" name="Text 13"/>
          <p:cNvSpPr txBox="1"/>
          <p:nvPr/>
        </p:nvSpPr>
        <p:spPr>
          <a:xfrm>
            <a:off x="5221224" y="2606040"/>
            <a:ext cx="1737360" cy="365760"/>
          </a:xfrm>
          <a:prstGeom prst="rect">
            <a:avLst/>
          </a:prstGeom>
          <a:noFill/>
          <a:ln/>
        </p:spPr>
        <p:txBody>
          <a:bodyPr wrap="square" lIns="0" tIns="0" rIns="0" bIns="0" rtlCol="0" anchor="t"/>
          <a:lstStyle/>
          <a:p>
            <a:pPr algn="ctr" indent="0" marL="0">
              <a:buNone/>
            </a:pPr>
            <a:r>
              <a:rPr lang="en-US" sz="1600" b="1" dirty="0">
                <a:solidFill>
                  <a:srgbClr val="1B2440"/>
                </a:solidFill>
                <a:latin typeface="Cambria" pitchFamily="34" charset="0"/>
                <a:ea typeface="Cambria" pitchFamily="34" charset="-122"/>
                <a:cs typeface="Cambria" pitchFamily="34" charset="-120"/>
              </a:rPr>
              <a:t>3. Line split</a:t>
            </a:r>
            <a:endParaRPr lang="en-US" sz="1600" dirty="0"/>
          </a:p>
        </p:txBody>
      </p:sp>
      <p:sp>
        <p:nvSpPr>
          <p:cNvPr id="19" name="Text 14"/>
          <p:cNvSpPr txBox="1"/>
          <p:nvPr/>
        </p:nvSpPr>
        <p:spPr>
          <a:xfrm>
            <a:off x="5266944" y="3017520"/>
            <a:ext cx="1645920" cy="1188720"/>
          </a:xfrm>
          <a:prstGeom prst="rect">
            <a:avLst/>
          </a:prstGeom>
          <a:noFill/>
          <a:ln/>
        </p:spPr>
        <p:txBody>
          <a:bodyPr wrap="square" lIns="0" tIns="0" rIns="0" bIns="0" rtlCol="0" anchor="t"/>
          <a:lstStyle/>
          <a:p>
            <a:pPr algn="ctr" indent="0" marL="0">
              <a:buNone/>
            </a:pPr>
            <a:r>
              <a:rPr lang="en-US" sz="1300" dirty="0">
                <a:solidFill>
                  <a:srgbClr val="1F2937"/>
                </a:solidFill>
                <a:latin typeface="Calibri" pitchFamily="34" charset="0"/>
                <a:ea typeface="Calibri" pitchFamily="34" charset="-122"/>
                <a:cs typeface="Calibri" pitchFamily="34" charset="-120"/>
              </a:rPr>
              <a:t>Rows of ink are found with a projection profile</a:t>
            </a:r>
            <a:endParaRPr lang="en-US" sz="1300" dirty="0"/>
          </a:p>
        </p:txBody>
      </p:sp>
      <p:sp>
        <p:nvSpPr>
          <p:cNvPr id="20" name="Shape 15"/>
          <p:cNvSpPr/>
          <p:nvPr/>
        </p:nvSpPr>
        <p:spPr>
          <a:xfrm>
            <a:off x="7114032" y="2926080"/>
            <a:ext cx="219456" cy="914"/>
          </a:xfrm>
          <a:prstGeom prst="line">
            <a:avLst/>
          </a:prstGeom>
          <a:noFill/>
          <a:ln w="19050">
            <a:solidFill>
              <a:srgbClr val="1B2440"/>
            </a:solidFill>
            <a:prstDash val="solid"/>
            <a:tailEnd type="triangle"/>
          </a:ln>
        </p:spPr>
      </p:sp>
      <p:sp>
        <p:nvSpPr>
          <p:cNvPr id="21" name="TrOCR step"/>
          <p:cNvSpPr/>
          <p:nvPr/>
        </p:nvSpPr>
        <p:spPr>
          <a:xfrm>
            <a:off x="7351776" y="1554480"/>
            <a:ext cx="2011680" cy="2743200"/>
          </a:xfrm>
          <a:prstGeom prst="roundRect">
            <a:avLst>
              <a:gd name="adj" fmla="val 3636"/>
            </a:avLst>
          </a:prstGeom>
          <a:solidFill>
            <a:srgbClr val="F3F5F9"/>
          </a:solidFill>
          <a:ln w="12700">
            <a:solidFill>
              <a:srgbClr val="F3F5F9"/>
            </a:solidFill>
            <a:prstDash val="solid"/>
          </a:ln>
        </p:spPr>
      </p:sp>
      <p:sp>
        <p:nvSpPr>
          <p:cNvPr id="22" name="TrOCR circle"/>
          <p:cNvSpPr/>
          <p:nvPr/>
        </p:nvSpPr>
        <p:spPr>
          <a:xfrm>
            <a:off x="8037576" y="1783080"/>
            <a:ext cx="640080" cy="640080"/>
          </a:xfrm>
          <a:prstGeom prst="ellipse">
            <a:avLst/>
          </a:prstGeom>
          <a:solidFill>
            <a:srgbClr val="C8414F"/>
          </a:solidFill>
          <a:ln w="12700">
            <a:solidFill>
              <a:srgbClr val="C8414F"/>
            </a:solidFill>
            <a:prstDash val="solid"/>
          </a:ln>
        </p:spPr>
      </p:sp>
      <p:pic>
        <p:nvPicPr>
          <p:cNvPr id="23" name="TrOCR icon" descr="preencoded.png">    </p:cNvPr>
          <p:cNvPicPr>
            <a:picLocks noChangeAspect="1"/>
          </p:cNvPicPr>
          <p:nvPr/>
        </p:nvPicPr>
        <p:blipFill>
          <a:blip r:embed="rId4"/>
          <a:stretch>
            <a:fillRect/>
          </a:stretch>
        </p:blipFill>
        <p:spPr>
          <a:xfrm>
            <a:off x="8191195" y="1936699"/>
            <a:ext cx="332842" cy="332842"/>
          </a:xfrm>
          <a:prstGeom prst="rect">
            <a:avLst/>
          </a:prstGeom>
        </p:spPr>
      </p:pic>
      <p:sp>
        <p:nvSpPr>
          <p:cNvPr id="24" name="Text 18"/>
          <p:cNvSpPr txBox="1"/>
          <p:nvPr/>
        </p:nvSpPr>
        <p:spPr>
          <a:xfrm>
            <a:off x="7488936" y="2606040"/>
            <a:ext cx="1737360" cy="365760"/>
          </a:xfrm>
          <a:prstGeom prst="rect">
            <a:avLst/>
          </a:prstGeom>
          <a:noFill/>
          <a:ln/>
        </p:spPr>
        <p:txBody>
          <a:bodyPr wrap="square" lIns="0" tIns="0" rIns="0" bIns="0" rtlCol="0" anchor="t"/>
          <a:lstStyle/>
          <a:p>
            <a:pPr algn="ctr" indent="0" marL="0">
              <a:buNone/>
            </a:pPr>
            <a:r>
              <a:rPr lang="en-US" sz="1600" b="1" dirty="0">
                <a:solidFill>
                  <a:srgbClr val="1B2440"/>
                </a:solidFill>
                <a:latin typeface="Cambria" pitchFamily="34" charset="0"/>
                <a:ea typeface="Cambria" pitchFamily="34" charset="-122"/>
                <a:cs typeface="Cambria" pitchFamily="34" charset="-120"/>
              </a:rPr>
              <a:t>4. TrOCR</a:t>
            </a:r>
            <a:endParaRPr lang="en-US" sz="1600" dirty="0"/>
          </a:p>
        </p:txBody>
      </p:sp>
      <p:sp>
        <p:nvSpPr>
          <p:cNvPr id="25" name="Text 19"/>
          <p:cNvSpPr txBox="1"/>
          <p:nvPr/>
        </p:nvSpPr>
        <p:spPr>
          <a:xfrm>
            <a:off x="7534656" y="3017520"/>
            <a:ext cx="1645920" cy="1188720"/>
          </a:xfrm>
          <a:prstGeom prst="rect">
            <a:avLst/>
          </a:prstGeom>
          <a:noFill/>
          <a:ln/>
        </p:spPr>
        <p:txBody>
          <a:bodyPr wrap="square" lIns="0" tIns="0" rIns="0" bIns="0" rtlCol="0" anchor="t"/>
          <a:lstStyle/>
          <a:p>
            <a:pPr algn="ctr" indent="0" marL="0">
              <a:buNone/>
            </a:pPr>
            <a:r>
              <a:rPr lang="en-US" sz="1300" dirty="0">
                <a:solidFill>
                  <a:srgbClr val="1F2937"/>
                </a:solidFill>
                <a:latin typeface="Calibri" pitchFamily="34" charset="0"/>
                <a:ea typeface="Calibri" pitchFamily="34" charset="-122"/>
                <a:cs typeface="Calibri" pitchFamily="34" charset="-120"/>
              </a:rPr>
              <a:t>Transformer reads each line (trocr-base-handwritten)</a:t>
            </a:r>
            <a:endParaRPr lang="en-US" sz="1300" dirty="0"/>
          </a:p>
        </p:txBody>
      </p:sp>
      <p:sp>
        <p:nvSpPr>
          <p:cNvPr id="26" name="Shape 20"/>
          <p:cNvSpPr/>
          <p:nvPr/>
        </p:nvSpPr>
        <p:spPr>
          <a:xfrm>
            <a:off x="9381744" y="2926080"/>
            <a:ext cx="219456" cy="914"/>
          </a:xfrm>
          <a:prstGeom prst="line">
            <a:avLst/>
          </a:prstGeom>
          <a:noFill/>
          <a:ln w="19050">
            <a:solidFill>
              <a:srgbClr val="1B2440"/>
            </a:solidFill>
            <a:prstDash val="solid"/>
            <a:tailEnd type="triangle"/>
          </a:ln>
        </p:spPr>
      </p:sp>
      <p:sp>
        <p:nvSpPr>
          <p:cNvPr id="27" name="Review step"/>
          <p:cNvSpPr/>
          <p:nvPr/>
        </p:nvSpPr>
        <p:spPr>
          <a:xfrm>
            <a:off x="9619488" y="1554480"/>
            <a:ext cx="2011680" cy="2743200"/>
          </a:xfrm>
          <a:prstGeom prst="roundRect">
            <a:avLst>
              <a:gd name="adj" fmla="val 3636"/>
            </a:avLst>
          </a:prstGeom>
          <a:solidFill>
            <a:srgbClr val="F3F5F9"/>
          </a:solidFill>
          <a:ln w="12700">
            <a:solidFill>
              <a:srgbClr val="F3F5F9"/>
            </a:solidFill>
            <a:prstDash val="solid"/>
          </a:ln>
        </p:spPr>
      </p:sp>
      <p:sp>
        <p:nvSpPr>
          <p:cNvPr id="28" name="Review circle"/>
          <p:cNvSpPr/>
          <p:nvPr/>
        </p:nvSpPr>
        <p:spPr>
          <a:xfrm>
            <a:off x="10305288" y="1783080"/>
            <a:ext cx="640080" cy="640080"/>
          </a:xfrm>
          <a:prstGeom prst="ellipse">
            <a:avLst/>
          </a:prstGeom>
          <a:solidFill>
            <a:srgbClr val="1B2440"/>
          </a:solidFill>
          <a:ln w="12700">
            <a:solidFill>
              <a:srgbClr val="1B2440"/>
            </a:solidFill>
            <a:prstDash val="solid"/>
          </a:ln>
        </p:spPr>
      </p:sp>
      <p:pic>
        <p:nvPicPr>
          <p:cNvPr id="29" name="Review icon" descr="preencoded.png">    </p:cNvPr>
          <p:cNvPicPr>
            <a:picLocks noChangeAspect="1"/>
          </p:cNvPicPr>
          <p:nvPr/>
        </p:nvPicPr>
        <p:blipFill>
          <a:blip r:embed="rId5"/>
          <a:stretch>
            <a:fillRect/>
          </a:stretch>
        </p:blipFill>
        <p:spPr>
          <a:xfrm>
            <a:off x="10458907" y="1936699"/>
            <a:ext cx="332842" cy="332842"/>
          </a:xfrm>
          <a:prstGeom prst="rect">
            <a:avLst/>
          </a:prstGeom>
        </p:spPr>
      </p:pic>
      <p:sp>
        <p:nvSpPr>
          <p:cNvPr id="30" name="Text 23"/>
          <p:cNvSpPr txBox="1"/>
          <p:nvPr/>
        </p:nvSpPr>
        <p:spPr>
          <a:xfrm>
            <a:off x="9756648" y="2606040"/>
            <a:ext cx="1737360" cy="365760"/>
          </a:xfrm>
          <a:prstGeom prst="rect">
            <a:avLst/>
          </a:prstGeom>
          <a:noFill/>
          <a:ln/>
        </p:spPr>
        <p:txBody>
          <a:bodyPr wrap="square" lIns="0" tIns="0" rIns="0" bIns="0" rtlCol="0" anchor="t"/>
          <a:lstStyle/>
          <a:p>
            <a:pPr algn="ctr" indent="0" marL="0">
              <a:buNone/>
            </a:pPr>
            <a:r>
              <a:rPr lang="en-US" sz="1600" b="1" dirty="0">
                <a:solidFill>
                  <a:srgbClr val="1B2440"/>
                </a:solidFill>
                <a:latin typeface="Cambria" pitchFamily="34" charset="0"/>
                <a:ea typeface="Cambria" pitchFamily="34" charset="-122"/>
                <a:cs typeface="Cambria" pitchFamily="34" charset="-120"/>
              </a:rPr>
              <a:t>5. Review</a:t>
            </a:r>
            <a:endParaRPr lang="en-US" sz="1600" dirty="0"/>
          </a:p>
        </p:txBody>
      </p:sp>
      <p:sp>
        <p:nvSpPr>
          <p:cNvPr id="31" name="Text 24"/>
          <p:cNvSpPr txBox="1"/>
          <p:nvPr/>
        </p:nvSpPr>
        <p:spPr>
          <a:xfrm>
            <a:off x="9802368" y="3017520"/>
            <a:ext cx="1645920" cy="1188720"/>
          </a:xfrm>
          <a:prstGeom prst="rect">
            <a:avLst/>
          </a:prstGeom>
          <a:noFill/>
          <a:ln/>
        </p:spPr>
        <p:txBody>
          <a:bodyPr wrap="square" lIns="0" tIns="0" rIns="0" bIns="0" rtlCol="0" anchor="t"/>
          <a:lstStyle/>
          <a:p>
            <a:pPr algn="ctr" indent="0" marL="0">
              <a:buNone/>
            </a:pPr>
            <a:r>
              <a:rPr lang="en-US" sz="1300" dirty="0">
                <a:solidFill>
                  <a:srgbClr val="1F2937"/>
                </a:solidFill>
                <a:latin typeface="Calibri" pitchFamily="34" charset="0"/>
                <a:ea typeface="Calibri" pitchFamily="34" charset="-122"/>
                <a:cs typeface="Calibri" pitchFamily="34" charset="-120"/>
              </a:rPr>
              <a:t>Teacher can correct the text before marking</a:t>
            </a:r>
            <a:endParaRPr lang="en-US" sz="1300" dirty="0"/>
          </a:p>
        </p:txBody>
      </p:sp>
      <p:sp>
        <p:nvSpPr>
          <p:cNvPr id="32" name="ocr note"/>
          <p:cNvSpPr/>
          <p:nvPr/>
        </p:nvSpPr>
        <p:spPr>
          <a:xfrm>
            <a:off x="548640" y="4617720"/>
            <a:ext cx="11064240" cy="1463040"/>
          </a:xfrm>
          <a:prstGeom prst="roundRect">
            <a:avLst>
              <a:gd name="adj" fmla="val 5000"/>
            </a:avLst>
          </a:prstGeom>
          <a:solidFill>
            <a:srgbClr val="1B2440"/>
          </a:solidFill>
          <a:ln w="12700">
            <a:solidFill>
              <a:srgbClr val="1B2440"/>
            </a:solidFill>
            <a:prstDash val="solid"/>
          </a:ln>
        </p:spPr>
      </p:sp>
      <p:sp>
        <p:nvSpPr>
          <p:cNvPr id="33" name="Text 26"/>
          <p:cNvSpPr txBox="1"/>
          <p:nvPr/>
        </p:nvSpPr>
        <p:spPr>
          <a:xfrm>
            <a:off x="868680" y="4617720"/>
            <a:ext cx="10424160" cy="1463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 typed answers first: </a:t>
            </a:r>
            <a:pPr indent="0" marL="0">
              <a:buNone/>
            </a:pPr>
            <a:r>
              <a:rPr lang="en-US" sz="1400" dirty="0">
                <a:solidFill>
                  <a:srgbClr val="D7DDEA"/>
                </a:solidFill>
                <a:latin typeface="Calibri" pitchFamily="34" charset="0"/>
                <a:ea typeface="Calibri" pitchFamily="34" charset="-122"/>
                <a:cs typeface="Calibri" pitchFamily="34" charset="-120"/>
              </a:rPr>
              <a:t>OCR errors flow straight into the score, so the evaluator was built and tested on typed text, and handwriting was added as a front end. TrOCR is pretrained on single lines, which is why the page is split into lines before recognition. Recognition accuracy on real answer sheets is still to be measured.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B2440"/>
                </a:solidFill>
                <a:latin typeface="Cambria" pitchFamily="34" charset="0"/>
                <a:ea typeface="Cambria" pitchFamily="34" charset="-122"/>
                <a:cs typeface="Cambria" pitchFamily="34" charset="-120"/>
              </a:rPr>
              <a:t>Errors come from meaning the model cannot read</a:t>
            </a:r>
            <a:endParaRPr lang="en-US" sz="3200" dirty="0"/>
          </a:p>
        </p:txBody>
      </p:sp>
      <p:graphicFrame>
        <p:nvGraphicFramePr>
          <p:cNvPr id="3" name="Chart 0" descr=""/>
          <p:cNvGraphicFramePr/>
          <p:nvPr/>
        </p:nvGraphicFramePr>
        <p:xfrm>
          <a:off x="457200" y="1325880"/>
          <a:ext cx="548640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400800" y="1417320"/>
            <a:ext cx="5212080" cy="365760"/>
          </a:xfrm>
          <a:prstGeom prst="rect">
            <a:avLst/>
          </a:prstGeom>
          <a:noFill/>
          <a:ln/>
        </p:spPr>
        <p:txBody>
          <a:bodyPr wrap="square" lIns="0" tIns="0" rIns="0" bIns="0" rtlCol="0" anchor="t"/>
          <a:lstStyle/>
          <a:p>
            <a:pPr indent="0" marL="0">
              <a:buNone/>
            </a:pPr>
            <a:r>
              <a:rPr lang="en-US" sz="1800" b="1" dirty="0">
                <a:solidFill>
                  <a:srgbClr val="1B2440"/>
                </a:solidFill>
                <a:latin typeface="Cambria" pitchFamily="34" charset="0"/>
                <a:ea typeface="Cambria" pitchFamily="34" charset="-122"/>
                <a:cs typeface="Cambria" pitchFamily="34" charset="-120"/>
              </a:rPr>
              <a:t>Largest disagreements</a:t>
            </a:r>
            <a:endParaRPr lang="en-US" sz="1800" dirty="0"/>
          </a:p>
        </p:txBody>
      </p:sp>
      <p:sp>
        <p:nvSpPr>
          <p:cNvPr id="5" name="E04 error"/>
          <p:cNvSpPr/>
          <p:nvPr/>
        </p:nvSpPr>
        <p:spPr>
          <a:xfrm>
            <a:off x="6400800" y="1874520"/>
            <a:ext cx="5212080" cy="914400"/>
          </a:xfrm>
          <a:prstGeom prst="roundRect">
            <a:avLst>
              <a:gd name="adj" fmla="val 8000"/>
            </a:avLst>
          </a:prstGeom>
          <a:solidFill>
            <a:srgbClr val="F3F5F9"/>
          </a:solidFill>
          <a:ln w="12700">
            <a:solidFill>
              <a:srgbClr val="F3F5F9"/>
            </a:solidFill>
            <a:prstDash val="solid"/>
          </a:ln>
        </p:spPr>
      </p:sp>
      <p:sp>
        <p:nvSpPr>
          <p:cNvPr id="6" name="Text 3"/>
          <p:cNvSpPr txBox="1"/>
          <p:nvPr/>
        </p:nvSpPr>
        <p:spPr>
          <a:xfrm>
            <a:off x="6583680" y="1947672"/>
            <a:ext cx="3566160" cy="777240"/>
          </a:xfrm>
          <a:prstGeom prst="rect">
            <a:avLst/>
          </a:prstGeom>
          <a:noFill/>
          <a:ln/>
        </p:spPr>
        <p:txBody>
          <a:bodyPr wrap="square" lIns="0" tIns="0" rIns="0" bIns="0" rtlCol="0" anchor="ctr"/>
          <a:lstStyle/>
          <a:p>
            <a:pPr indent="0" marL="0">
              <a:buNone/>
            </a:pPr>
            <a:r>
              <a:rPr lang="en-US" sz="1200" i="1" dirty="0">
                <a:solidFill>
                  <a:srgbClr val="1F2937"/>
                </a:solidFill>
                <a:latin typeface="Calibri" pitchFamily="34" charset="0"/>
                <a:ea typeface="Calibri" pitchFamily="34" charset="-122"/>
                <a:cs typeface="Calibri" pitchFamily="34" charset="-120"/>
              </a:rPr>
              <a:t>“An overfit model has essentially learned the quirks of its particular training examples…”</a:t>
            </a:r>
            <a:endParaRPr lang="en-US" sz="1200" dirty="0"/>
          </a:p>
        </p:txBody>
      </p:sp>
      <p:sp>
        <p:nvSpPr>
          <p:cNvPr id="7" name="Text 4"/>
          <p:cNvSpPr txBox="1"/>
          <p:nvPr/>
        </p:nvSpPr>
        <p:spPr>
          <a:xfrm>
            <a:off x="10241280" y="1947672"/>
            <a:ext cx="1234440" cy="777240"/>
          </a:xfrm>
          <a:prstGeom prst="rect">
            <a:avLst/>
          </a:prstGeom>
          <a:noFill/>
          <a:ln/>
        </p:spPr>
        <p:txBody>
          <a:bodyPr wrap="square" lIns="0" tIns="0" rIns="0" bIns="0" rtlCol="0" anchor="ctr"/>
          <a:lstStyle/>
          <a:p>
            <a:pPr algn="r" indent="0" marL="0">
              <a:buNone/>
            </a:pPr>
            <a:r>
              <a:rPr lang="en-US" sz="1300" b="1" dirty="0">
                <a:solidFill>
                  <a:srgbClr val="1B2440"/>
                </a:solidFill>
                <a:latin typeface="Calibri" pitchFamily="34" charset="0"/>
                <a:ea typeface="Calibri" pitchFamily="34" charset="-122"/>
                <a:cs typeface="Calibri" pitchFamily="34" charset="-120"/>
              </a:rPr>
              <a:t>System 4</a:t>
            </a:r>
            <a:endParaRPr lang="en-US" sz="1300" dirty="0"/>
          </a:p>
          <a:p>
            <a:pPr algn="r" indent="0" marL="0">
              <a:buNone/>
            </a:pPr>
            <a:r>
              <a:rPr lang="en-US" sz="1300" dirty="0">
                <a:solidFill>
                  <a:srgbClr val="5B6475"/>
                </a:solidFill>
                <a:latin typeface="Calibri" pitchFamily="34" charset="0"/>
                <a:ea typeface="Calibri" pitchFamily="34" charset="-122"/>
                <a:cs typeface="Calibri" pitchFamily="34" charset="-120"/>
              </a:rPr>
              <a:t>Teacher 7.5</a:t>
            </a:r>
            <a:endParaRPr lang="en-US" sz="1300" dirty="0"/>
          </a:p>
        </p:txBody>
      </p:sp>
      <p:sp>
        <p:nvSpPr>
          <p:cNvPr id="8" name="B06 error"/>
          <p:cNvSpPr/>
          <p:nvPr/>
        </p:nvSpPr>
        <p:spPr>
          <a:xfrm>
            <a:off x="6400800" y="2898648"/>
            <a:ext cx="5212080" cy="914400"/>
          </a:xfrm>
          <a:prstGeom prst="roundRect">
            <a:avLst>
              <a:gd name="adj" fmla="val 8000"/>
            </a:avLst>
          </a:prstGeom>
          <a:solidFill>
            <a:srgbClr val="F3F5F9"/>
          </a:solidFill>
          <a:ln w="12700">
            <a:solidFill>
              <a:srgbClr val="F3F5F9"/>
            </a:solidFill>
            <a:prstDash val="solid"/>
          </a:ln>
        </p:spPr>
      </p:sp>
      <p:sp>
        <p:nvSpPr>
          <p:cNvPr id="9" name="Text 6"/>
          <p:cNvSpPr txBox="1"/>
          <p:nvPr/>
        </p:nvSpPr>
        <p:spPr>
          <a:xfrm>
            <a:off x="6583680" y="2971800"/>
            <a:ext cx="3566160" cy="777240"/>
          </a:xfrm>
          <a:prstGeom prst="rect">
            <a:avLst/>
          </a:prstGeom>
          <a:noFill/>
          <a:ln/>
        </p:spPr>
        <p:txBody>
          <a:bodyPr wrap="square" lIns="0" tIns="0" rIns="0" bIns="0" rtlCol="0" anchor="ctr"/>
          <a:lstStyle/>
          <a:p>
            <a:pPr indent="0" marL="0">
              <a:buNone/>
            </a:pPr>
            <a:r>
              <a:rPr lang="en-US" sz="1200" i="1" dirty="0">
                <a:solidFill>
                  <a:srgbClr val="1F2937"/>
                </a:solidFill>
                <a:latin typeface="Calibri" pitchFamily="34" charset="0"/>
                <a:ea typeface="Calibri" pitchFamily="34" charset="-122"/>
                <a:cs typeface="Calibri" pitchFamily="34" charset="-120"/>
              </a:rPr>
              <a:t>“Normalization is converting all values in a column to a range between 0 and 1.”</a:t>
            </a:r>
            <a:endParaRPr lang="en-US" sz="1200" dirty="0"/>
          </a:p>
        </p:txBody>
      </p:sp>
      <p:sp>
        <p:nvSpPr>
          <p:cNvPr id="10" name="Text 7"/>
          <p:cNvSpPr txBox="1"/>
          <p:nvPr/>
        </p:nvSpPr>
        <p:spPr>
          <a:xfrm>
            <a:off x="10241280" y="2971800"/>
            <a:ext cx="1234440" cy="777240"/>
          </a:xfrm>
          <a:prstGeom prst="rect">
            <a:avLst/>
          </a:prstGeom>
          <a:noFill/>
          <a:ln/>
        </p:spPr>
        <p:txBody>
          <a:bodyPr wrap="square" lIns="0" tIns="0" rIns="0" bIns="0" rtlCol="0" anchor="ctr"/>
          <a:lstStyle/>
          <a:p>
            <a:pPr algn="r" indent="0" marL="0">
              <a:buNone/>
            </a:pPr>
            <a:r>
              <a:rPr lang="en-US" sz="1300" b="1" dirty="0">
                <a:solidFill>
                  <a:srgbClr val="C8414F"/>
                </a:solidFill>
                <a:latin typeface="Calibri" pitchFamily="34" charset="0"/>
                <a:ea typeface="Calibri" pitchFamily="34" charset="-122"/>
                <a:cs typeface="Calibri" pitchFamily="34" charset="-120"/>
              </a:rPr>
              <a:t>System 4</a:t>
            </a:r>
            <a:endParaRPr lang="en-US" sz="1300" dirty="0"/>
          </a:p>
          <a:p>
            <a:pPr algn="r" indent="0" marL="0">
              <a:buNone/>
            </a:pPr>
            <a:r>
              <a:rPr lang="en-US" sz="1300" dirty="0">
                <a:solidFill>
                  <a:srgbClr val="5B6475"/>
                </a:solidFill>
                <a:latin typeface="Calibri" pitchFamily="34" charset="0"/>
                <a:ea typeface="Calibri" pitchFamily="34" charset="-122"/>
                <a:cs typeface="Calibri" pitchFamily="34" charset="-120"/>
              </a:rPr>
              <a:t>Teacher 1</a:t>
            </a:r>
            <a:endParaRPr lang="en-US" sz="1300" dirty="0"/>
          </a:p>
        </p:txBody>
      </p:sp>
      <p:sp>
        <p:nvSpPr>
          <p:cNvPr id="11" name="D06 error"/>
          <p:cNvSpPr/>
          <p:nvPr/>
        </p:nvSpPr>
        <p:spPr>
          <a:xfrm>
            <a:off x="6400800" y="3922776"/>
            <a:ext cx="5212080" cy="914400"/>
          </a:xfrm>
          <a:prstGeom prst="roundRect">
            <a:avLst>
              <a:gd name="adj" fmla="val 8000"/>
            </a:avLst>
          </a:prstGeom>
          <a:solidFill>
            <a:srgbClr val="F3F5F9"/>
          </a:solidFill>
          <a:ln w="12700">
            <a:solidFill>
              <a:srgbClr val="F3F5F9"/>
            </a:solidFill>
            <a:prstDash val="solid"/>
          </a:ln>
        </p:spPr>
      </p:sp>
      <p:sp>
        <p:nvSpPr>
          <p:cNvPr id="12" name="Text 9"/>
          <p:cNvSpPr txBox="1"/>
          <p:nvPr/>
        </p:nvSpPr>
        <p:spPr>
          <a:xfrm>
            <a:off x="6583680" y="3995928"/>
            <a:ext cx="3566160" cy="777240"/>
          </a:xfrm>
          <a:prstGeom prst="rect">
            <a:avLst/>
          </a:prstGeom>
          <a:noFill/>
          <a:ln/>
        </p:spPr>
        <p:txBody>
          <a:bodyPr wrap="square" lIns="0" tIns="0" rIns="0" bIns="0" rtlCol="0" anchor="ctr"/>
          <a:lstStyle/>
          <a:p>
            <a:pPr indent="0" marL="0">
              <a:buNone/>
            </a:pPr>
            <a:r>
              <a:rPr lang="en-US" sz="1200" i="1" dirty="0">
                <a:solidFill>
                  <a:srgbClr val="1F2937"/>
                </a:solidFill>
                <a:latin typeface="Calibri" pitchFamily="34" charset="0"/>
                <a:ea typeface="Calibri" pitchFamily="34" charset="-122"/>
                <a:cs typeface="Calibri" pitchFamily="34" charset="-120"/>
              </a:rPr>
              <a:t>“Virtual memory is the cache memory inside the CPU that stores frequently used data.”</a:t>
            </a:r>
            <a:endParaRPr lang="en-US" sz="1200" dirty="0"/>
          </a:p>
        </p:txBody>
      </p:sp>
      <p:sp>
        <p:nvSpPr>
          <p:cNvPr id="13" name="Text 10"/>
          <p:cNvSpPr txBox="1"/>
          <p:nvPr/>
        </p:nvSpPr>
        <p:spPr>
          <a:xfrm>
            <a:off x="10241280" y="3995928"/>
            <a:ext cx="1234440" cy="777240"/>
          </a:xfrm>
          <a:prstGeom prst="rect">
            <a:avLst/>
          </a:prstGeom>
          <a:noFill/>
          <a:ln/>
        </p:spPr>
        <p:txBody>
          <a:bodyPr wrap="square" lIns="0" tIns="0" rIns="0" bIns="0" rtlCol="0" anchor="ctr"/>
          <a:lstStyle/>
          <a:p>
            <a:pPr algn="r" indent="0" marL="0">
              <a:buNone/>
            </a:pPr>
            <a:r>
              <a:rPr lang="en-US" sz="1300" b="1" dirty="0">
                <a:solidFill>
                  <a:srgbClr val="C8414F"/>
                </a:solidFill>
                <a:latin typeface="Calibri" pitchFamily="34" charset="0"/>
                <a:ea typeface="Calibri" pitchFamily="34" charset="-122"/>
                <a:cs typeface="Calibri" pitchFamily="34" charset="-120"/>
              </a:rPr>
              <a:t>System 3</a:t>
            </a:r>
            <a:endParaRPr lang="en-US" sz="1300" dirty="0"/>
          </a:p>
          <a:p>
            <a:pPr algn="r" indent="0" marL="0">
              <a:buNone/>
            </a:pPr>
            <a:r>
              <a:rPr lang="en-US" sz="1300" dirty="0">
                <a:solidFill>
                  <a:srgbClr val="5B6475"/>
                </a:solidFill>
                <a:latin typeface="Calibri" pitchFamily="34" charset="0"/>
                <a:ea typeface="Calibri" pitchFamily="34" charset="-122"/>
                <a:cs typeface="Calibri" pitchFamily="34" charset="-120"/>
              </a:rPr>
              <a:t>Teacher 1</a:t>
            </a:r>
            <a:endParaRPr lang="en-US" sz="1300" dirty="0"/>
          </a:p>
        </p:txBody>
      </p:sp>
      <p:sp>
        <p:nvSpPr>
          <p:cNvPr id="14" name="Text 11"/>
          <p:cNvSpPr txBox="1"/>
          <p:nvPr/>
        </p:nvSpPr>
        <p:spPr>
          <a:xfrm>
            <a:off x="6400800" y="5029200"/>
            <a:ext cx="5212080" cy="10972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Read these answers to see what the embeddings still miss, then add rubric keywords or more training examples.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B2440"/>
                </a:solidFill>
                <a:latin typeface="Cambria" pitchFamily="34" charset="0"/>
                <a:ea typeface="Cambria" pitchFamily="34" charset="-122"/>
                <a:cs typeface="Cambria" pitchFamily="34" charset="-120"/>
              </a:rPr>
              <a:t>Concept detection: 90% recall, 92% precision</a:t>
            </a:r>
            <a:endParaRPr lang="en-US" sz="3200" dirty="0"/>
          </a:p>
        </p:txBody>
      </p:sp>
      <p:graphicFrame>
        <p:nvGraphicFramePr>
          <p:cNvPr id="3" name="Chart 0" descr=""/>
          <p:cNvGraphicFramePr/>
          <p:nvPr/>
        </p:nvGraphicFramePr>
        <p:xfrm>
          <a:off x="457200" y="1371600"/>
          <a:ext cx="658368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98080" y="1554480"/>
            <a:ext cx="1463040" cy="731520"/>
          </a:xfrm>
          <a:prstGeom prst="rect">
            <a:avLst/>
          </a:prstGeom>
          <a:noFill/>
          <a:ln/>
        </p:spPr>
        <p:txBody>
          <a:bodyPr wrap="square" lIns="0" tIns="0" rIns="0" bIns="0" rtlCol="0" anchor="ctr"/>
          <a:lstStyle/>
          <a:p>
            <a:pPr indent="0" marL="0">
              <a:buNone/>
            </a:pPr>
            <a:r>
              <a:rPr lang="en-US" sz="4000" b="1" dirty="0">
                <a:solidFill>
                  <a:srgbClr val="1B2440"/>
                </a:solidFill>
                <a:latin typeface="Cambria" pitchFamily="34" charset="0"/>
                <a:ea typeface="Cambria" pitchFamily="34" charset="-122"/>
                <a:cs typeface="Cambria" pitchFamily="34" charset="-120"/>
              </a:rPr>
              <a:t>0.91</a:t>
            </a:r>
            <a:endParaRPr lang="en-US" sz="4000" dirty="0"/>
          </a:p>
        </p:txBody>
      </p:sp>
      <p:sp>
        <p:nvSpPr>
          <p:cNvPr id="5" name="Text 2"/>
          <p:cNvSpPr txBox="1"/>
          <p:nvPr/>
        </p:nvSpPr>
        <p:spPr>
          <a:xfrm>
            <a:off x="9006840" y="1554480"/>
            <a:ext cx="2606040" cy="731520"/>
          </a:xfrm>
          <a:prstGeom prst="rect">
            <a:avLst/>
          </a:prstGeom>
          <a:noFill/>
          <a:ln/>
        </p:spPr>
        <p:txBody>
          <a:bodyPr wrap="square" lIns="0" tIns="0" rIns="0" bIns="0" rtlCol="0" anchor="ctr"/>
          <a:lstStyle/>
          <a:p>
            <a:pPr indent="0" marL="0">
              <a:buNone/>
            </a:pPr>
            <a:r>
              <a:rPr lang="en-US" sz="1400" dirty="0">
                <a:solidFill>
                  <a:srgbClr val="5B6475"/>
                </a:solidFill>
                <a:latin typeface="Calibri" pitchFamily="34" charset="0"/>
                <a:ea typeface="Calibri" pitchFamily="34" charset="-122"/>
                <a:cs typeface="Calibri" pitchFamily="34" charset="-120"/>
              </a:rPr>
              <a:t>F1 score across all answers</a:t>
            </a:r>
            <a:endParaRPr lang="en-US" sz="1400" dirty="0"/>
          </a:p>
        </p:txBody>
      </p:sp>
      <p:sp>
        <p:nvSpPr>
          <p:cNvPr id="6" name="Text 3"/>
          <p:cNvSpPr txBox="1"/>
          <p:nvPr/>
        </p:nvSpPr>
        <p:spPr>
          <a:xfrm>
            <a:off x="7498080" y="2514600"/>
            <a:ext cx="1463040" cy="731520"/>
          </a:xfrm>
          <a:prstGeom prst="rect">
            <a:avLst/>
          </a:prstGeom>
          <a:noFill/>
          <a:ln/>
        </p:spPr>
        <p:txBody>
          <a:bodyPr wrap="square" lIns="0" tIns="0" rIns="0" bIns="0" rtlCol="0" anchor="ctr"/>
          <a:lstStyle/>
          <a:p>
            <a:pPr indent="0" marL="0">
              <a:buNone/>
            </a:pPr>
            <a:r>
              <a:rPr lang="en-US" sz="4000" b="1" dirty="0">
                <a:solidFill>
                  <a:srgbClr val="1B2440"/>
                </a:solidFill>
                <a:latin typeface="Cambria" pitchFamily="34" charset="0"/>
                <a:ea typeface="Cambria" pitchFamily="34" charset="-122"/>
                <a:cs typeface="Cambria" pitchFamily="34" charset="-120"/>
              </a:rPr>
              <a:t>13</a:t>
            </a:r>
            <a:endParaRPr lang="en-US" sz="4000" dirty="0"/>
          </a:p>
        </p:txBody>
      </p:sp>
      <p:sp>
        <p:nvSpPr>
          <p:cNvPr id="7" name="Text 4"/>
          <p:cNvSpPr txBox="1"/>
          <p:nvPr/>
        </p:nvSpPr>
        <p:spPr>
          <a:xfrm>
            <a:off x="9006840" y="2514600"/>
            <a:ext cx="2606040" cy="731520"/>
          </a:xfrm>
          <a:prstGeom prst="rect">
            <a:avLst/>
          </a:prstGeom>
          <a:noFill/>
          <a:ln/>
        </p:spPr>
        <p:txBody>
          <a:bodyPr wrap="square" lIns="0" tIns="0" rIns="0" bIns="0" rtlCol="0" anchor="ctr"/>
          <a:lstStyle/>
          <a:p>
            <a:pPr indent="0" marL="0">
              <a:buNone/>
            </a:pPr>
            <a:r>
              <a:rPr lang="en-US" sz="1400" dirty="0">
                <a:solidFill>
                  <a:srgbClr val="5B6475"/>
                </a:solidFill>
                <a:latin typeface="Calibri" pitchFamily="34" charset="0"/>
                <a:ea typeface="Calibri" pitchFamily="34" charset="-122"/>
                <a:cs typeface="Calibri" pitchFamily="34" charset="-120"/>
              </a:rPr>
              <a:t>key points missed</a:t>
            </a:r>
            <a:endParaRPr lang="en-US" sz="1400" dirty="0"/>
          </a:p>
        </p:txBody>
      </p:sp>
      <p:sp>
        <p:nvSpPr>
          <p:cNvPr id="8" name="Text 5"/>
          <p:cNvSpPr txBox="1"/>
          <p:nvPr/>
        </p:nvSpPr>
        <p:spPr>
          <a:xfrm>
            <a:off x="7498080" y="3474720"/>
            <a:ext cx="1463040" cy="731520"/>
          </a:xfrm>
          <a:prstGeom prst="rect">
            <a:avLst/>
          </a:prstGeom>
          <a:noFill/>
          <a:ln/>
        </p:spPr>
        <p:txBody>
          <a:bodyPr wrap="square" lIns="0" tIns="0" rIns="0" bIns="0" rtlCol="0" anchor="ctr"/>
          <a:lstStyle/>
          <a:p>
            <a:pPr indent="0" marL="0">
              <a:buNone/>
            </a:pPr>
            <a:r>
              <a:rPr lang="en-US" sz="4000" b="1" dirty="0">
                <a:solidFill>
                  <a:srgbClr val="1B2440"/>
                </a:solidFill>
                <a:latin typeface="Cambria" pitchFamily="34" charset="0"/>
                <a:ea typeface="Cambria" pitchFamily="34" charset="-122"/>
                <a:cs typeface="Cambria" pitchFamily="34" charset="-120"/>
              </a:rPr>
              <a:t>11</a:t>
            </a:r>
            <a:endParaRPr lang="en-US" sz="4000" dirty="0"/>
          </a:p>
        </p:txBody>
      </p:sp>
      <p:sp>
        <p:nvSpPr>
          <p:cNvPr id="9" name="Text 6"/>
          <p:cNvSpPr txBox="1"/>
          <p:nvPr/>
        </p:nvSpPr>
        <p:spPr>
          <a:xfrm>
            <a:off x="9006840" y="3474720"/>
            <a:ext cx="2606040" cy="731520"/>
          </a:xfrm>
          <a:prstGeom prst="rect">
            <a:avLst/>
          </a:prstGeom>
          <a:noFill/>
          <a:ln/>
        </p:spPr>
        <p:txBody>
          <a:bodyPr wrap="square" lIns="0" tIns="0" rIns="0" bIns="0" rtlCol="0" anchor="ctr"/>
          <a:lstStyle/>
          <a:p>
            <a:pPr indent="0" marL="0">
              <a:buNone/>
            </a:pPr>
            <a:r>
              <a:rPr lang="en-US" sz="1400" dirty="0">
                <a:solidFill>
                  <a:srgbClr val="5B6475"/>
                </a:solidFill>
                <a:latin typeface="Calibri" pitchFamily="34" charset="0"/>
                <a:ea typeface="Calibri" pitchFamily="34" charset="-122"/>
                <a:cs typeface="Calibri" pitchFamily="34" charset="-120"/>
              </a:rPr>
              <a:t>false detections</a:t>
            </a:r>
            <a:endParaRPr lang="en-US" sz="1400" dirty="0"/>
          </a:p>
        </p:txBody>
      </p:sp>
      <p:sp>
        <p:nvSpPr>
          <p:cNvPr id="10" name="Text 7"/>
          <p:cNvSpPr txBox="1"/>
          <p:nvPr/>
        </p:nvSpPr>
        <p:spPr>
          <a:xfrm>
            <a:off x="7498080" y="4526280"/>
            <a:ext cx="4114800" cy="14630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Sentence-BERT matching catches paraphrases that contain no rubric keyword, which raises recall, but it also flags some points that are not really there, which costs precision. Keywords were written by the same author who labelled the answers, so these figures are likely optimistic.</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1B2440"/>
                </a:solidFill>
                <a:latin typeface="Cambria" pitchFamily="34" charset="0"/>
                <a:ea typeface="Cambria" pitchFamily="34" charset="-122"/>
                <a:cs typeface="Cambria" pitchFamily="34" charset="-120"/>
              </a:rPr>
              <a:t>Built with open-source Python tools</a:t>
            </a:r>
            <a:endParaRPr lang="en-US" sz="3200" dirty="0"/>
          </a:p>
        </p:txBody>
      </p:sp>
      <p:sp>
        <p:nvSpPr>
          <p:cNvPr id="3" name="Sentence-Transformers"/>
          <p:cNvSpPr/>
          <p:nvPr/>
        </p:nvSpPr>
        <p:spPr>
          <a:xfrm>
            <a:off x="548640" y="1463040"/>
            <a:ext cx="2606040" cy="960120"/>
          </a:xfrm>
          <a:prstGeom prst="roundRect">
            <a:avLst>
              <a:gd name="adj" fmla="val 7619"/>
            </a:avLst>
          </a:prstGeom>
          <a:solidFill>
            <a:srgbClr val="F3F5F9"/>
          </a:solidFill>
          <a:ln w="12700">
            <a:solidFill>
              <a:srgbClr val="F3F5F9"/>
            </a:solidFill>
            <a:prstDash val="solid"/>
          </a:ln>
        </p:spPr>
      </p:sp>
      <p:sp>
        <p:nvSpPr>
          <p:cNvPr id="4" name="Text 2"/>
          <p:cNvSpPr txBox="1"/>
          <p:nvPr/>
        </p:nvSpPr>
        <p:spPr>
          <a:xfrm>
            <a:off x="731520" y="1600200"/>
            <a:ext cx="2286000" cy="365760"/>
          </a:xfrm>
          <a:prstGeom prst="rect">
            <a:avLst/>
          </a:prstGeom>
          <a:noFill/>
          <a:ln/>
        </p:spPr>
        <p:txBody>
          <a:bodyPr wrap="square" lIns="0" tIns="0" rIns="0" bIns="0" rtlCol="0" anchor="t"/>
          <a:lstStyle/>
          <a:p>
            <a:pPr indent="0" marL="0">
              <a:buNone/>
            </a:pPr>
            <a:r>
              <a:rPr lang="en-US" sz="1500" b="1" dirty="0">
                <a:solidFill>
                  <a:srgbClr val="1B2440"/>
                </a:solidFill>
                <a:latin typeface="Calibri" pitchFamily="34" charset="0"/>
                <a:ea typeface="Calibri" pitchFamily="34" charset="-122"/>
                <a:cs typeface="Calibri" pitchFamily="34" charset="-120"/>
              </a:rPr>
              <a:t>Sentence-Transformers</a:t>
            </a:r>
            <a:endParaRPr lang="en-US" sz="1500" dirty="0"/>
          </a:p>
        </p:txBody>
      </p:sp>
      <p:sp>
        <p:nvSpPr>
          <p:cNvPr id="5" name="Text 3"/>
          <p:cNvSpPr txBox="1"/>
          <p:nvPr/>
        </p:nvSpPr>
        <p:spPr>
          <a:xfrm>
            <a:off x="731520" y="1965960"/>
            <a:ext cx="2286000" cy="320040"/>
          </a:xfrm>
          <a:prstGeom prst="rect">
            <a:avLst/>
          </a:prstGeom>
          <a:noFill/>
          <a:ln/>
        </p:spPr>
        <p:txBody>
          <a:bodyPr wrap="square" lIns="0" tIns="0" rIns="0" bIns="0" rtlCol="0" anchor="t"/>
          <a:lstStyle/>
          <a:p>
            <a:pPr indent="0" marL="0">
              <a:buNone/>
            </a:pPr>
            <a:r>
              <a:rPr lang="en-US" sz="1200" dirty="0">
                <a:solidFill>
                  <a:srgbClr val="5B6475"/>
                </a:solidFill>
                <a:latin typeface="Calibri" pitchFamily="34" charset="0"/>
                <a:ea typeface="Calibri" pitchFamily="34" charset="-122"/>
                <a:cs typeface="Calibri" pitchFamily="34" charset="-120"/>
              </a:rPr>
              <a:t>semantic embeddings</a:t>
            </a:r>
            <a:endParaRPr lang="en-US" sz="1200" dirty="0"/>
          </a:p>
        </p:txBody>
      </p:sp>
      <p:sp>
        <p:nvSpPr>
          <p:cNvPr id="6" name="PyTorch"/>
          <p:cNvSpPr/>
          <p:nvPr/>
        </p:nvSpPr>
        <p:spPr>
          <a:xfrm>
            <a:off x="3337560" y="1463040"/>
            <a:ext cx="2606040" cy="960120"/>
          </a:xfrm>
          <a:prstGeom prst="roundRect">
            <a:avLst>
              <a:gd name="adj" fmla="val 7619"/>
            </a:avLst>
          </a:prstGeom>
          <a:solidFill>
            <a:srgbClr val="F3F5F9"/>
          </a:solidFill>
          <a:ln w="12700">
            <a:solidFill>
              <a:srgbClr val="F3F5F9"/>
            </a:solidFill>
            <a:prstDash val="solid"/>
          </a:ln>
        </p:spPr>
      </p:sp>
      <p:sp>
        <p:nvSpPr>
          <p:cNvPr id="7" name="Text 5"/>
          <p:cNvSpPr txBox="1"/>
          <p:nvPr/>
        </p:nvSpPr>
        <p:spPr>
          <a:xfrm>
            <a:off x="3520440" y="1600200"/>
            <a:ext cx="2286000" cy="365760"/>
          </a:xfrm>
          <a:prstGeom prst="rect">
            <a:avLst/>
          </a:prstGeom>
          <a:noFill/>
          <a:ln/>
        </p:spPr>
        <p:txBody>
          <a:bodyPr wrap="square" lIns="0" tIns="0" rIns="0" bIns="0" rtlCol="0" anchor="t"/>
          <a:lstStyle/>
          <a:p>
            <a:pPr indent="0" marL="0">
              <a:buNone/>
            </a:pPr>
            <a:r>
              <a:rPr lang="en-US" sz="1500" b="1" dirty="0">
                <a:solidFill>
                  <a:srgbClr val="1B2440"/>
                </a:solidFill>
                <a:latin typeface="Calibri" pitchFamily="34" charset="0"/>
                <a:ea typeface="Calibri" pitchFamily="34" charset="-122"/>
                <a:cs typeface="Calibri" pitchFamily="34" charset="-120"/>
              </a:rPr>
              <a:t>PyTorch</a:t>
            </a:r>
            <a:endParaRPr lang="en-US" sz="1500" dirty="0"/>
          </a:p>
        </p:txBody>
      </p:sp>
      <p:sp>
        <p:nvSpPr>
          <p:cNvPr id="8" name="Text 6"/>
          <p:cNvSpPr txBox="1"/>
          <p:nvPr/>
        </p:nvSpPr>
        <p:spPr>
          <a:xfrm>
            <a:off x="3520440" y="1965960"/>
            <a:ext cx="2286000" cy="320040"/>
          </a:xfrm>
          <a:prstGeom prst="rect">
            <a:avLst/>
          </a:prstGeom>
          <a:noFill/>
          <a:ln/>
        </p:spPr>
        <p:txBody>
          <a:bodyPr wrap="square" lIns="0" tIns="0" rIns="0" bIns="0" rtlCol="0" anchor="t"/>
          <a:lstStyle/>
          <a:p>
            <a:pPr indent="0" marL="0">
              <a:buNone/>
            </a:pPr>
            <a:r>
              <a:rPr lang="en-US" sz="1200" dirty="0">
                <a:solidFill>
                  <a:srgbClr val="5B6475"/>
                </a:solidFill>
                <a:latin typeface="Calibri" pitchFamily="34" charset="0"/>
                <a:ea typeface="Calibri" pitchFamily="34" charset="-122"/>
                <a:cs typeface="Calibri" pitchFamily="34" charset="-120"/>
              </a:rPr>
              <a:t>model runtime</a:t>
            </a:r>
            <a:endParaRPr lang="en-US" sz="1200" dirty="0"/>
          </a:p>
        </p:txBody>
      </p:sp>
      <p:sp>
        <p:nvSpPr>
          <p:cNvPr id="9" name="Hugging Face TrOCR"/>
          <p:cNvSpPr/>
          <p:nvPr/>
        </p:nvSpPr>
        <p:spPr>
          <a:xfrm>
            <a:off x="548640" y="2606040"/>
            <a:ext cx="2606040" cy="960120"/>
          </a:xfrm>
          <a:prstGeom prst="roundRect">
            <a:avLst>
              <a:gd name="adj" fmla="val 7619"/>
            </a:avLst>
          </a:prstGeom>
          <a:solidFill>
            <a:srgbClr val="F3F5F9"/>
          </a:solidFill>
          <a:ln w="12700">
            <a:solidFill>
              <a:srgbClr val="F3F5F9"/>
            </a:solidFill>
            <a:prstDash val="solid"/>
          </a:ln>
        </p:spPr>
      </p:sp>
      <p:sp>
        <p:nvSpPr>
          <p:cNvPr id="10" name="Text 8"/>
          <p:cNvSpPr txBox="1"/>
          <p:nvPr/>
        </p:nvSpPr>
        <p:spPr>
          <a:xfrm>
            <a:off x="731520" y="2743200"/>
            <a:ext cx="2286000" cy="365760"/>
          </a:xfrm>
          <a:prstGeom prst="rect">
            <a:avLst/>
          </a:prstGeom>
          <a:noFill/>
          <a:ln/>
        </p:spPr>
        <p:txBody>
          <a:bodyPr wrap="square" lIns="0" tIns="0" rIns="0" bIns="0" rtlCol="0" anchor="t"/>
          <a:lstStyle/>
          <a:p>
            <a:pPr indent="0" marL="0">
              <a:buNone/>
            </a:pPr>
            <a:r>
              <a:rPr lang="en-US" sz="1500" b="1" dirty="0">
                <a:solidFill>
                  <a:srgbClr val="1B2440"/>
                </a:solidFill>
                <a:latin typeface="Calibri" pitchFamily="34" charset="0"/>
                <a:ea typeface="Calibri" pitchFamily="34" charset="-122"/>
                <a:cs typeface="Calibri" pitchFamily="34" charset="-120"/>
              </a:rPr>
              <a:t>Hugging Face TrOCR</a:t>
            </a:r>
            <a:endParaRPr lang="en-US" sz="1500" dirty="0"/>
          </a:p>
        </p:txBody>
      </p:sp>
      <p:sp>
        <p:nvSpPr>
          <p:cNvPr id="11" name="Text 9"/>
          <p:cNvSpPr txBox="1"/>
          <p:nvPr/>
        </p:nvSpPr>
        <p:spPr>
          <a:xfrm>
            <a:off x="731520" y="3108960"/>
            <a:ext cx="2286000" cy="320040"/>
          </a:xfrm>
          <a:prstGeom prst="rect">
            <a:avLst/>
          </a:prstGeom>
          <a:noFill/>
          <a:ln/>
        </p:spPr>
        <p:txBody>
          <a:bodyPr wrap="square" lIns="0" tIns="0" rIns="0" bIns="0" rtlCol="0" anchor="t"/>
          <a:lstStyle/>
          <a:p>
            <a:pPr indent="0" marL="0">
              <a:buNone/>
            </a:pPr>
            <a:r>
              <a:rPr lang="en-US" sz="1200" dirty="0">
                <a:solidFill>
                  <a:srgbClr val="5B6475"/>
                </a:solidFill>
                <a:latin typeface="Calibri" pitchFamily="34" charset="0"/>
                <a:ea typeface="Calibri" pitchFamily="34" charset="-122"/>
                <a:cs typeface="Calibri" pitchFamily="34" charset="-120"/>
              </a:rPr>
              <a:t>handwriting recognition</a:t>
            </a:r>
            <a:endParaRPr lang="en-US" sz="1200" dirty="0"/>
          </a:p>
        </p:txBody>
      </p:sp>
      <p:sp>
        <p:nvSpPr>
          <p:cNvPr id="12" name="scikit-learn"/>
          <p:cNvSpPr/>
          <p:nvPr/>
        </p:nvSpPr>
        <p:spPr>
          <a:xfrm>
            <a:off x="3337560" y="2606040"/>
            <a:ext cx="2606040" cy="960120"/>
          </a:xfrm>
          <a:prstGeom prst="roundRect">
            <a:avLst>
              <a:gd name="adj" fmla="val 7619"/>
            </a:avLst>
          </a:prstGeom>
          <a:solidFill>
            <a:srgbClr val="F3F5F9"/>
          </a:solidFill>
          <a:ln w="12700">
            <a:solidFill>
              <a:srgbClr val="F3F5F9"/>
            </a:solidFill>
            <a:prstDash val="solid"/>
          </a:ln>
        </p:spPr>
      </p:sp>
      <p:sp>
        <p:nvSpPr>
          <p:cNvPr id="13" name="Text 11"/>
          <p:cNvSpPr txBox="1"/>
          <p:nvPr/>
        </p:nvSpPr>
        <p:spPr>
          <a:xfrm>
            <a:off x="3520440" y="2743200"/>
            <a:ext cx="2286000" cy="365760"/>
          </a:xfrm>
          <a:prstGeom prst="rect">
            <a:avLst/>
          </a:prstGeom>
          <a:noFill/>
          <a:ln/>
        </p:spPr>
        <p:txBody>
          <a:bodyPr wrap="square" lIns="0" tIns="0" rIns="0" bIns="0" rtlCol="0" anchor="t"/>
          <a:lstStyle/>
          <a:p>
            <a:pPr indent="0" marL="0">
              <a:buNone/>
            </a:pPr>
            <a:r>
              <a:rPr lang="en-US" sz="1500" b="1" dirty="0">
                <a:solidFill>
                  <a:srgbClr val="1B2440"/>
                </a:solidFill>
                <a:latin typeface="Calibri" pitchFamily="34" charset="0"/>
                <a:ea typeface="Calibri" pitchFamily="34" charset="-122"/>
                <a:cs typeface="Calibri" pitchFamily="34" charset="-120"/>
              </a:rPr>
              <a:t>scikit-learn</a:t>
            </a:r>
            <a:endParaRPr lang="en-US" sz="1500" dirty="0"/>
          </a:p>
        </p:txBody>
      </p:sp>
      <p:sp>
        <p:nvSpPr>
          <p:cNvPr id="14" name="Text 12"/>
          <p:cNvSpPr txBox="1"/>
          <p:nvPr/>
        </p:nvSpPr>
        <p:spPr>
          <a:xfrm>
            <a:off x="3520440" y="3108960"/>
            <a:ext cx="2286000" cy="320040"/>
          </a:xfrm>
          <a:prstGeom prst="rect">
            <a:avLst/>
          </a:prstGeom>
          <a:noFill/>
          <a:ln/>
        </p:spPr>
        <p:txBody>
          <a:bodyPr wrap="square" lIns="0" tIns="0" rIns="0" bIns="0" rtlCol="0" anchor="t"/>
          <a:lstStyle/>
          <a:p>
            <a:pPr indent="0" marL="0">
              <a:buNone/>
            </a:pPr>
            <a:r>
              <a:rPr lang="en-US" sz="1200" dirty="0">
                <a:solidFill>
                  <a:srgbClr val="5B6475"/>
                </a:solidFill>
                <a:latin typeface="Calibri" pitchFamily="34" charset="0"/>
                <a:ea typeface="Calibri" pitchFamily="34" charset="-122"/>
                <a:cs typeface="Calibri" pitchFamily="34" charset="-120"/>
              </a:rPr>
              <a:t>learned scorer, metrics</a:t>
            </a:r>
            <a:endParaRPr lang="en-US" sz="1200" dirty="0"/>
          </a:p>
        </p:txBody>
      </p:sp>
      <p:sp>
        <p:nvSpPr>
          <p:cNvPr id="15" name="NLTK"/>
          <p:cNvSpPr/>
          <p:nvPr/>
        </p:nvSpPr>
        <p:spPr>
          <a:xfrm>
            <a:off x="548640" y="3749040"/>
            <a:ext cx="2606040" cy="960120"/>
          </a:xfrm>
          <a:prstGeom prst="roundRect">
            <a:avLst>
              <a:gd name="adj" fmla="val 7619"/>
            </a:avLst>
          </a:prstGeom>
          <a:solidFill>
            <a:srgbClr val="F3F5F9"/>
          </a:solidFill>
          <a:ln w="12700">
            <a:solidFill>
              <a:srgbClr val="F3F5F9"/>
            </a:solidFill>
            <a:prstDash val="solid"/>
          </a:ln>
        </p:spPr>
      </p:sp>
      <p:sp>
        <p:nvSpPr>
          <p:cNvPr id="16" name="Text 14"/>
          <p:cNvSpPr txBox="1"/>
          <p:nvPr/>
        </p:nvSpPr>
        <p:spPr>
          <a:xfrm>
            <a:off x="731520" y="3886200"/>
            <a:ext cx="2286000" cy="365760"/>
          </a:xfrm>
          <a:prstGeom prst="rect">
            <a:avLst/>
          </a:prstGeom>
          <a:noFill/>
          <a:ln/>
        </p:spPr>
        <p:txBody>
          <a:bodyPr wrap="square" lIns="0" tIns="0" rIns="0" bIns="0" rtlCol="0" anchor="t"/>
          <a:lstStyle/>
          <a:p>
            <a:pPr indent="0" marL="0">
              <a:buNone/>
            </a:pPr>
            <a:r>
              <a:rPr lang="en-US" sz="1500" b="1" dirty="0">
                <a:solidFill>
                  <a:srgbClr val="1B2440"/>
                </a:solidFill>
                <a:latin typeface="Calibri" pitchFamily="34" charset="0"/>
                <a:ea typeface="Calibri" pitchFamily="34" charset="-122"/>
                <a:cs typeface="Calibri" pitchFamily="34" charset="-120"/>
              </a:rPr>
              <a:t>NLTK</a:t>
            </a:r>
            <a:endParaRPr lang="en-US" sz="1500" dirty="0"/>
          </a:p>
        </p:txBody>
      </p:sp>
      <p:sp>
        <p:nvSpPr>
          <p:cNvPr id="17" name="Text 15"/>
          <p:cNvSpPr txBox="1"/>
          <p:nvPr/>
        </p:nvSpPr>
        <p:spPr>
          <a:xfrm>
            <a:off x="731520" y="4251960"/>
            <a:ext cx="2286000" cy="320040"/>
          </a:xfrm>
          <a:prstGeom prst="rect">
            <a:avLst/>
          </a:prstGeom>
          <a:noFill/>
          <a:ln/>
        </p:spPr>
        <p:txBody>
          <a:bodyPr wrap="square" lIns="0" tIns="0" rIns="0" bIns="0" rtlCol="0" anchor="t"/>
          <a:lstStyle/>
          <a:p>
            <a:pPr indent="0" marL="0">
              <a:buNone/>
            </a:pPr>
            <a:r>
              <a:rPr lang="en-US" sz="1200" dirty="0">
                <a:solidFill>
                  <a:srgbClr val="5B6475"/>
                </a:solidFill>
                <a:latin typeface="Calibri" pitchFamily="34" charset="0"/>
                <a:ea typeface="Calibri" pitchFamily="34" charset="-122"/>
                <a:cs typeface="Calibri" pitchFamily="34" charset="-120"/>
              </a:rPr>
              <a:t>Porter stemming</a:t>
            </a:r>
            <a:endParaRPr lang="en-US" sz="1200" dirty="0"/>
          </a:p>
        </p:txBody>
      </p:sp>
      <p:sp>
        <p:nvSpPr>
          <p:cNvPr id="18" name="Streamlit"/>
          <p:cNvSpPr/>
          <p:nvPr/>
        </p:nvSpPr>
        <p:spPr>
          <a:xfrm>
            <a:off x="3337560" y="3749040"/>
            <a:ext cx="2606040" cy="960120"/>
          </a:xfrm>
          <a:prstGeom prst="roundRect">
            <a:avLst>
              <a:gd name="adj" fmla="val 7619"/>
            </a:avLst>
          </a:prstGeom>
          <a:solidFill>
            <a:srgbClr val="F3F5F9"/>
          </a:solidFill>
          <a:ln w="12700">
            <a:solidFill>
              <a:srgbClr val="F3F5F9"/>
            </a:solidFill>
            <a:prstDash val="solid"/>
          </a:ln>
        </p:spPr>
      </p:sp>
      <p:sp>
        <p:nvSpPr>
          <p:cNvPr id="19" name="Text 17"/>
          <p:cNvSpPr txBox="1"/>
          <p:nvPr/>
        </p:nvSpPr>
        <p:spPr>
          <a:xfrm>
            <a:off x="3520440" y="3886200"/>
            <a:ext cx="2286000" cy="365760"/>
          </a:xfrm>
          <a:prstGeom prst="rect">
            <a:avLst/>
          </a:prstGeom>
          <a:noFill/>
          <a:ln/>
        </p:spPr>
        <p:txBody>
          <a:bodyPr wrap="square" lIns="0" tIns="0" rIns="0" bIns="0" rtlCol="0" anchor="t"/>
          <a:lstStyle/>
          <a:p>
            <a:pPr indent="0" marL="0">
              <a:buNone/>
            </a:pPr>
            <a:r>
              <a:rPr lang="en-US" sz="1500" b="1" dirty="0">
                <a:solidFill>
                  <a:srgbClr val="1B2440"/>
                </a:solidFill>
                <a:latin typeface="Calibri" pitchFamily="34" charset="0"/>
                <a:ea typeface="Calibri" pitchFamily="34" charset="-122"/>
                <a:cs typeface="Calibri" pitchFamily="34" charset="-120"/>
              </a:rPr>
              <a:t>Streamlit</a:t>
            </a:r>
            <a:endParaRPr lang="en-US" sz="1500" dirty="0"/>
          </a:p>
        </p:txBody>
      </p:sp>
      <p:sp>
        <p:nvSpPr>
          <p:cNvPr id="20" name="Text 18"/>
          <p:cNvSpPr txBox="1"/>
          <p:nvPr/>
        </p:nvSpPr>
        <p:spPr>
          <a:xfrm>
            <a:off x="3520440" y="4251960"/>
            <a:ext cx="2286000" cy="320040"/>
          </a:xfrm>
          <a:prstGeom prst="rect">
            <a:avLst/>
          </a:prstGeom>
          <a:noFill/>
          <a:ln/>
        </p:spPr>
        <p:txBody>
          <a:bodyPr wrap="square" lIns="0" tIns="0" rIns="0" bIns="0" rtlCol="0" anchor="t"/>
          <a:lstStyle/>
          <a:p>
            <a:pPr indent="0" marL="0">
              <a:buNone/>
            </a:pPr>
            <a:r>
              <a:rPr lang="en-US" sz="1200" dirty="0">
                <a:solidFill>
                  <a:srgbClr val="5B6475"/>
                </a:solidFill>
                <a:latin typeface="Calibri" pitchFamily="34" charset="0"/>
                <a:ea typeface="Calibri" pitchFamily="34" charset="-122"/>
                <a:cs typeface="Calibri" pitchFamily="34" charset="-120"/>
              </a:rPr>
              <a:t>web application</a:t>
            </a:r>
            <a:endParaRPr lang="en-US" sz="1200" dirty="0"/>
          </a:p>
        </p:txBody>
      </p:sp>
      <p:sp>
        <p:nvSpPr>
          <p:cNvPr id="21" name="pandas · NumPy · SciPy"/>
          <p:cNvSpPr/>
          <p:nvPr/>
        </p:nvSpPr>
        <p:spPr>
          <a:xfrm>
            <a:off x="548640" y="4892040"/>
            <a:ext cx="2606040" cy="960120"/>
          </a:xfrm>
          <a:prstGeom prst="roundRect">
            <a:avLst>
              <a:gd name="adj" fmla="val 7619"/>
            </a:avLst>
          </a:prstGeom>
          <a:solidFill>
            <a:srgbClr val="F3F5F9"/>
          </a:solidFill>
          <a:ln w="12700">
            <a:solidFill>
              <a:srgbClr val="F3F5F9"/>
            </a:solidFill>
            <a:prstDash val="solid"/>
          </a:ln>
        </p:spPr>
      </p:sp>
      <p:sp>
        <p:nvSpPr>
          <p:cNvPr id="22" name="Text 20"/>
          <p:cNvSpPr txBox="1"/>
          <p:nvPr/>
        </p:nvSpPr>
        <p:spPr>
          <a:xfrm>
            <a:off x="731520" y="5029200"/>
            <a:ext cx="2286000" cy="365760"/>
          </a:xfrm>
          <a:prstGeom prst="rect">
            <a:avLst/>
          </a:prstGeom>
          <a:noFill/>
          <a:ln/>
        </p:spPr>
        <p:txBody>
          <a:bodyPr wrap="square" lIns="0" tIns="0" rIns="0" bIns="0" rtlCol="0" anchor="t"/>
          <a:lstStyle/>
          <a:p>
            <a:pPr indent="0" marL="0">
              <a:buNone/>
            </a:pPr>
            <a:r>
              <a:rPr lang="en-US" sz="1500" b="1" dirty="0">
                <a:solidFill>
                  <a:srgbClr val="1B2440"/>
                </a:solidFill>
                <a:latin typeface="Calibri" pitchFamily="34" charset="0"/>
                <a:ea typeface="Calibri" pitchFamily="34" charset="-122"/>
                <a:cs typeface="Calibri" pitchFamily="34" charset="-120"/>
              </a:rPr>
              <a:t>pandas · NumPy · SciPy</a:t>
            </a:r>
            <a:endParaRPr lang="en-US" sz="1500" dirty="0"/>
          </a:p>
        </p:txBody>
      </p:sp>
      <p:sp>
        <p:nvSpPr>
          <p:cNvPr id="23" name="Text 21"/>
          <p:cNvSpPr txBox="1"/>
          <p:nvPr/>
        </p:nvSpPr>
        <p:spPr>
          <a:xfrm>
            <a:off x="731520" y="5394960"/>
            <a:ext cx="2286000" cy="320040"/>
          </a:xfrm>
          <a:prstGeom prst="rect">
            <a:avLst/>
          </a:prstGeom>
          <a:noFill/>
          <a:ln/>
        </p:spPr>
        <p:txBody>
          <a:bodyPr wrap="square" lIns="0" tIns="0" rIns="0" bIns="0" rtlCol="0" anchor="t"/>
          <a:lstStyle/>
          <a:p>
            <a:pPr indent="0" marL="0">
              <a:buNone/>
            </a:pPr>
            <a:r>
              <a:rPr lang="en-US" sz="1200" dirty="0">
                <a:solidFill>
                  <a:srgbClr val="5B6475"/>
                </a:solidFill>
                <a:latin typeface="Calibri" pitchFamily="34" charset="0"/>
                <a:ea typeface="Calibri" pitchFamily="34" charset="-122"/>
                <a:cs typeface="Calibri" pitchFamily="34" charset="-120"/>
              </a:rPr>
              <a:t>data and statistics</a:t>
            </a:r>
            <a:endParaRPr lang="en-US" sz="1200" dirty="0"/>
          </a:p>
        </p:txBody>
      </p:sp>
      <p:sp>
        <p:nvSpPr>
          <p:cNvPr id="24" name="matplotlib"/>
          <p:cNvSpPr/>
          <p:nvPr/>
        </p:nvSpPr>
        <p:spPr>
          <a:xfrm>
            <a:off x="3337560" y="4892040"/>
            <a:ext cx="2606040" cy="960120"/>
          </a:xfrm>
          <a:prstGeom prst="roundRect">
            <a:avLst>
              <a:gd name="adj" fmla="val 7619"/>
            </a:avLst>
          </a:prstGeom>
          <a:solidFill>
            <a:srgbClr val="F3F5F9"/>
          </a:solidFill>
          <a:ln w="12700">
            <a:solidFill>
              <a:srgbClr val="F3F5F9"/>
            </a:solidFill>
            <a:prstDash val="solid"/>
          </a:ln>
        </p:spPr>
      </p:sp>
      <p:sp>
        <p:nvSpPr>
          <p:cNvPr id="25" name="Text 23"/>
          <p:cNvSpPr txBox="1"/>
          <p:nvPr/>
        </p:nvSpPr>
        <p:spPr>
          <a:xfrm>
            <a:off x="3520440" y="5029200"/>
            <a:ext cx="2286000" cy="365760"/>
          </a:xfrm>
          <a:prstGeom prst="rect">
            <a:avLst/>
          </a:prstGeom>
          <a:noFill/>
          <a:ln/>
        </p:spPr>
        <p:txBody>
          <a:bodyPr wrap="square" lIns="0" tIns="0" rIns="0" bIns="0" rtlCol="0" anchor="t"/>
          <a:lstStyle/>
          <a:p>
            <a:pPr indent="0" marL="0">
              <a:buNone/>
            </a:pPr>
            <a:r>
              <a:rPr lang="en-US" sz="1500" b="1" dirty="0">
                <a:solidFill>
                  <a:srgbClr val="1B2440"/>
                </a:solidFill>
                <a:latin typeface="Calibri" pitchFamily="34" charset="0"/>
                <a:ea typeface="Calibri" pitchFamily="34" charset="-122"/>
                <a:cs typeface="Calibri" pitchFamily="34" charset="-120"/>
              </a:rPr>
              <a:t>matplotlib</a:t>
            </a:r>
            <a:endParaRPr lang="en-US" sz="1500" dirty="0"/>
          </a:p>
        </p:txBody>
      </p:sp>
      <p:sp>
        <p:nvSpPr>
          <p:cNvPr id="26" name="Text 24"/>
          <p:cNvSpPr txBox="1"/>
          <p:nvPr/>
        </p:nvSpPr>
        <p:spPr>
          <a:xfrm>
            <a:off x="3520440" y="5394960"/>
            <a:ext cx="2286000" cy="320040"/>
          </a:xfrm>
          <a:prstGeom prst="rect">
            <a:avLst/>
          </a:prstGeom>
          <a:noFill/>
          <a:ln/>
        </p:spPr>
        <p:txBody>
          <a:bodyPr wrap="square" lIns="0" tIns="0" rIns="0" bIns="0" rtlCol="0" anchor="t"/>
          <a:lstStyle/>
          <a:p>
            <a:pPr indent="0" marL="0">
              <a:buNone/>
            </a:pPr>
            <a:r>
              <a:rPr lang="en-US" sz="1200" dirty="0">
                <a:solidFill>
                  <a:srgbClr val="5B6475"/>
                </a:solidFill>
                <a:latin typeface="Calibri" pitchFamily="34" charset="0"/>
                <a:ea typeface="Calibri" pitchFamily="34" charset="-122"/>
                <a:cs typeface="Calibri" pitchFamily="34" charset="-120"/>
              </a:rPr>
              <a:t>report charts</a:t>
            </a:r>
            <a:endParaRPr lang="en-US" sz="1200" dirty="0"/>
          </a:p>
        </p:txBody>
      </p:sp>
      <p:sp>
        <p:nvSpPr>
          <p:cNvPr id="27" name="project tree"/>
          <p:cNvSpPr/>
          <p:nvPr/>
        </p:nvSpPr>
        <p:spPr>
          <a:xfrm>
            <a:off x="6355080" y="1463040"/>
            <a:ext cx="5257800" cy="4434840"/>
          </a:xfrm>
          <a:prstGeom prst="roundRect">
            <a:avLst>
              <a:gd name="adj" fmla="val 1649"/>
            </a:avLst>
          </a:prstGeom>
          <a:solidFill>
            <a:srgbClr val="1B2440"/>
          </a:solidFill>
          <a:ln w="12700">
            <a:solidFill>
              <a:srgbClr val="1B2440"/>
            </a:solidFill>
            <a:prstDash val="solid"/>
          </a:ln>
        </p:spPr>
      </p:sp>
      <p:sp>
        <p:nvSpPr>
          <p:cNvPr id="28" name="Text 26"/>
          <p:cNvSpPr txBox="1"/>
          <p:nvPr/>
        </p:nvSpPr>
        <p:spPr>
          <a:xfrm>
            <a:off x="6629400" y="1645920"/>
            <a:ext cx="4846320" cy="4114800"/>
          </a:xfrm>
          <a:prstGeom prst="rect">
            <a:avLst/>
          </a:prstGeom>
          <a:noFill/>
          <a:ln/>
        </p:spPr>
        <p:txBody>
          <a:bodyPr wrap="square" lIns="0" tIns="0" rIns="0" bIns="0" rtlCol="0" anchor="t"/>
          <a:lstStyle/>
          <a:p>
            <a:pPr indent="0" marL="0">
              <a:buNone/>
            </a:pPr>
            <a:r>
              <a:rPr lang="en-US" sz="1200" dirty="0">
                <a:solidFill>
                  <a:srgbClr val="E3E8F3"/>
                </a:solidFill>
                <a:latin typeface="Courier New" pitchFamily="34" charset="0"/>
                <a:ea typeface="Courier New" pitchFamily="34" charset="-122"/>
                <a:cs typeface="Courier New" pitchFamily="34" charset="-120"/>
              </a:rPr>
              <a:t>answer-evaluator/</a:t>
            </a:r>
            <a:endParaRPr lang="en-US" sz="1200" dirty="0"/>
          </a:p>
          <a:p>
            <a:pPr indent="0" marL="0">
              <a:buNone/>
            </a:pPr>
            <a:r>
              <a:rPr lang="en-US" sz="1200" dirty="0">
                <a:solidFill>
                  <a:srgbClr val="E3E8F3"/>
                </a:solidFill>
                <a:latin typeface="Courier New" pitchFamily="34" charset="0"/>
                <a:ea typeface="Courier New" pitchFamily="34" charset="-122"/>
                <a:cs typeface="Courier New" pitchFamily="34" charset="-120"/>
              </a:rPr>
              <a:t>├─ evaluator/</a:t>
            </a:r>
            <a:endParaRPr lang="en-US" sz="1200" dirty="0"/>
          </a:p>
          <a:p>
            <a:pPr indent="0" marL="0">
              <a:buNone/>
            </a:pPr>
            <a:r>
              <a:rPr lang="en-US" sz="1200" dirty="0">
                <a:solidFill>
                  <a:srgbClr val="E3E8F3"/>
                </a:solidFill>
                <a:latin typeface="Courier New" pitchFamily="34" charset="0"/>
                <a:ea typeface="Courier New" pitchFamily="34" charset="-122"/>
                <a:cs typeface="Courier New" pitchFamily="34" charset="-120"/>
              </a:rPr>
              <a:t>│  ├─ core.py        evaluator</a:t>
            </a:r>
            <a:endParaRPr lang="en-US" sz="1200" dirty="0"/>
          </a:p>
          <a:p>
            <a:pPr indent="0" marL="0">
              <a:buNone/>
            </a:pPr>
            <a:r>
              <a:rPr lang="en-US" sz="1200" dirty="0">
                <a:solidFill>
                  <a:srgbClr val="E3E8F3"/>
                </a:solidFill>
                <a:latin typeface="Courier New" pitchFamily="34" charset="0"/>
                <a:ea typeface="Courier New" pitchFamily="34" charset="-122"/>
                <a:cs typeface="Courier New" pitchFamily="34" charset="-120"/>
              </a:rPr>
              <a:t>│  ├─ embedder.py    Sentence-BERT</a:t>
            </a:r>
            <a:endParaRPr lang="en-US" sz="1200" dirty="0"/>
          </a:p>
          <a:p>
            <a:pPr indent="0" marL="0">
              <a:buNone/>
            </a:pPr>
            <a:r>
              <a:rPr lang="en-US" sz="1200" dirty="0">
                <a:solidFill>
                  <a:srgbClr val="E3E8F3"/>
                </a:solidFill>
                <a:latin typeface="Courier New" pitchFamily="34" charset="0"/>
                <a:ea typeface="Courier New" pitchFamily="34" charset="-122"/>
                <a:cs typeface="Courier New" pitchFamily="34" charset="-120"/>
              </a:rPr>
              <a:t>│  ├─ scorer.py      scoring engines</a:t>
            </a:r>
            <a:endParaRPr lang="en-US" sz="1200" dirty="0"/>
          </a:p>
          <a:p>
            <a:pPr indent="0" marL="0">
              <a:buNone/>
            </a:pPr>
            <a:r>
              <a:rPr lang="en-US" sz="1200" dirty="0">
                <a:solidFill>
                  <a:srgbClr val="E3E8F3"/>
                </a:solidFill>
                <a:latin typeface="Courier New" pitchFamily="34" charset="0"/>
                <a:ea typeface="Courier New" pitchFamily="34" charset="-122"/>
                <a:cs typeface="Courier New" pitchFamily="34" charset="-120"/>
              </a:rPr>
              <a:t>│  ├─ feedback.py    feedback text</a:t>
            </a:r>
            <a:endParaRPr lang="en-US" sz="1200" dirty="0"/>
          </a:p>
          <a:p>
            <a:pPr indent="0" marL="0">
              <a:buNone/>
            </a:pPr>
            <a:r>
              <a:rPr lang="en-US" sz="1200" dirty="0">
                <a:solidFill>
                  <a:srgbClr val="E3E8F3"/>
                </a:solidFill>
                <a:latin typeface="Courier New" pitchFamily="34" charset="0"/>
                <a:ea typeface="Courier New" pitchFamily="34" charset="-122"/>
                <a:cs typeface="Courier New" pitchFamily="34" charset="-120"/>
              </a:rPr>
              <a:t>│  ├─ ocr.py         TrOCR</a:t>
            </a:r>
            <a:endParaRPr lang="en-US" sz="1200" dirty="0"/>
          </a:p>
          <a:p>
            <a:pPr indent="0" marL="0">
              <a:buNone/>
            </a:pPr>
            <a:r>
              <a:rPr lang="en-US" sz="1200" dirty="0">
                <a:solidFill>
                  <a:srgbClr val="E3E8F3"/>
                </a:solidFill>
                <a:latin typeface="Courier New" pitchFamily="34" charset="0"/>
                <a:ea typeface="Courier New" pitchFamily="34" charset="-122"/>
                <a:cs typeface="Courier New" pitchFamily="34" charset="-120"/>
              </a:rPr>
              <a:t>│  └─ metrics.py     MAE, QWK, F1</a:t>
            </a:r>
            <a:endParaRPr lang="en-US" sz="1200" dirty="0"/>
          </a:p>
          <a:p>
            <a:pPr indent="0" marL="0">
              <a:buNone/>
            </a:pPr>
            <a:r>
              <a:rPr lang="en-US" sz="1200" dirty="0">
                <a:solidFill>
                  <a:srgbClr val="E3E8F3"/>
                </a:solidFill>
                <a:latin typeface="Courier New" pitchFamily="34" charset="0"/>
                <a:ea typeface="Courier New" pitchFamily="34" charset="-122"/>
                <a:cs typeface="Courier New" pitchFamily="34" charset="-120"/>
              </a:rPr>
              <a:t>├─ data/            questions, answers</a:t>
            </a:r>
            <a:endParaRPr lang="en-US" sz="1200" dirty="0"/>
          </a:p>
          <a:p>
            <a:pPr indent="0" marL="0">
              <a:buNone/>
            </a:pPr>
            <a:r>
              <a:rPr lang="en-US" sz="1200" dirty="0">
                <a:solidFill>
                  <a:srgbClr val="E3E8F3"/>
                </a:solidFill>
                <a:latin typeface="Courier New" pitchFamily="34" charset="0"/>
                <a:ea typeface="Courier New" pitchFamily="34" charset="-122"/>
                <a:cs typeface="Courier New" pitchFamily="34" charset="-120"/>
              </a:rPr>
              <a:t>├─ train.py         train scorer</a:t>
            </a:r>
            <a:endParaRPr lang="en-US" sz="1200" dirty="0"/>
          </a:p>
          <a:p>
            <a:pPr indent="0" marL="0">
              <a:buNone/>
            </a:pPr>
            <a:r>
              <a:rPr lang="en-US" sz="1200" dirty="0">
                <a:solidFill>
                  <a:srgbClr val="E3E8F3"/>
                </a:solidFill>
                <a:latin typeface="Courier New" pitchFamily="34" charset="0"/>
                <a:ea typeface="Courier New" pitchFamily="34" charset="-122"/>
                <a:cs typeface="Courier New" pitchFamily="34" charset="-120"/>
              </a:rPr>
              <a:t>├─ evaluate.py      metrics, charts</a:t>
            </a:r>
            <a:endParaRPr lang="en-US" sz="1200" dirty="0"/>
          </a:p>
          <a:p>
            <a:pPr indent="0" marL="0">
              <a:buNone/>
            </a:pPr>
            <a:r>
              <a:rPr lang="en-US" sz="1200" dirty="0">
                <a:solidFill>
                  <a:srgbClr val="E3E8F3"/>
                </a:solidFill>
                <a:latin typeface="Courier New" pitchFamily="34" charset="0"/>
                <a:ea typeface="Courier New" pitchFamily="34" charset="-122"/>
                <a:cs typeface="Courier New" pitchFamily="34" charset="-120"/>
              </a:rPr>
              <a:t>├─ finetune_sbert.py</a:t>
            </a:r>
            <a:endParaRPr lang="en-US" sz="1200" dirty="0"/>
          </a:p>
          <a:p>
            <a:pPr indent="0" marL="0">
              <a:buNone/>
            </a:pPr>
            <a:r>
              <a:rPr lang="en-US" sz="1200" dirty="0">
                <a:solidFill>
                  <a:srgbClr val="E3E8F3"/>
                </a:solidFill>
                <a:latin typeface="Courier New" pitchFamily="34" charset="0"/>
                <a:ea typeface="Courier New" pitchFamily="34" charset="-122"/>
                <a:cs typeface="Courier New" pitchFamily="34" charset="-120"/>
              </a:rPr>
              <a:t>├─ app.py           Streamlit app</a:t>
            </a:r>
            <a:endParaRPr lang="en-US" sz="1200" dirty="0"/>
          </a:p>
          <a:p>
            <a:pPr indent="0" marL="0">
              <a:buNone/>
            </a:pPr>
            <a:r>
              <a:rPr lang="en-US" sz="1200" dirty="0">
                <a:solidFill>
                  <a:srgbClr val="E3E8F3"/>
                </a:solidFill>
                <a:latin typeface="Courier New" pitchFamily="34" charset="0"/>
                <a:ea typeface="Courier New" pitchFamily="34" charset="-122"/>
                <a:cs typeface="Courier New" pitchFamily="34" charset="-120"/>
              </a:rPr>
              <a:t>└─ tests/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Meaning, not keywords"/>
          <p:cNvSpPr/>
          <p:nvPr/>
        </p:nvSpPr>
        <p:spPr>
          <a:xfrm>
            <a:off x="548640" y="1554480"/>
            <a:ext cx="3520440" cy="3017520"/>
          </a:xfrm>
          <a:prstGeom prst="roundRect">
            <a:avLst>
              <a:gd name="adj" fmla="val 2424"/>
            </a:avLst>
          </a:prstGeom>
          <a:solidFill>
            <a:srgbClr val="2C3A63"/>
          </a:solidFill>
          <a:ln w="12700">
            <a:solidFill>
              <a:srgbClr val="2C3A63"/>
            </a:solidFill>
            <a:prstDash val="solid"/>
          </a:ln>
        </p:spPr>
      </p:sp>
      <p:sp>
        <p:nvSpPr>
          <p:cNvPr id="4" name="Meaning, not keywords circle"/>
          <p:cNvSpPr/>
          <p:nvPr/>
        </p:nvSpPr>
        <p:spPr>
          <a:xfrm>
            <a:off x="868680" y="1828800"/>
            <a:ext cx="685800" cy="685800"/>
          </a:xfrm>
          <a:prstGeom prst="ellipse">
            <a:avLst/>
          </a:prstGeom>
          <a:solidFill>
            <a:srgbClr val="C8414F"/>
          </a:solidFill>
          <a:ln w="12700">
            <a:solidFill>
              <a:srgbClr val="C8414F"/>
            </a:solidFill>
            <a:prstDash val="solid"/>
          </a:ln>
        </p:spPr>
      </p:sp>
      <p:pic>
        <p:nvPicPr>
          <p:cNvPr id="5" name="Meaning, not keywords icon" descr="preencoded.png">    </p:cNvPr>
          <p:cNvPicPr>
            <a:picLocks noChangeAspect="1"/>
          </p:cNvPicPr>
          <p:nvPr/>
        </p:nvPicPr>
        <p:blipFill>
          <a:blip r:embed="rId1"/>
          <a:stretch>
            <a:fillRect/>
          </a:stretch>
        </p:blipFill>
        <p:spPr>
          <a:xfrm>
            <a:off x="1033272" y="1993392"/>
            <a:ext cx="356616" cy="356616"/>
          </a:xfrm>
          <a:prstGeom prst="rect">
            <a:avLst/>
          </a:prstGeom>
        </p:spPr>
      </p:pic>
      <p:sp>
        <p:nvSpPr>
          <p:cNvPr id="6" name="Text 3"/>
          <p:cNvSpPr txBox="1"/>
          <p:nvPr/>
        </p:nvSpPr>
        <p:spPr>
          <a:xfrm>
            <a:off x="868680" y="2697480"/>
            <a:ext cx="2926080" cy="45720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Meaning, not keywords</a:t>
            </a:r>
            <a:endParaRPr lang="en-US" sz="1900" dirty="0"/>
          </a:p>
        </p:txBody>
      </p:sp>
      <p:sp>
        <p:nvSpPr>
          <p:cNvPr id="7" name="Text 4"/>
          <p:cNvSpPr txBox="1"/>
          <p:nvPr/>
        </p:nvSpPr>
        <p:spPr>
          <a:xfrm>
            <a:off x="868680" y="3200400"/>
            <a:ext cx="2926080" cy="1280160"/>
          </a:xfrm>
          <a:prstGeom prst="rect">
            <a:avLst/>
          </a:prstGeom>
          <a:noFill/>
          <a:ln/>
        </p:spPr>
        <p:txBody>
          <a:bodyPr wrap="square" lIns="0" tIns="0" rIns="0" bIns="0" rtlCol="0" anchor="t"/>
          <a:lstStyle/>
          <a:p>
            <a:pPr indent="0" marL="0">
              <a:buNone/>
            </a:pPr>
            <a:r>
              <a:rPr lang="en-US" sz="1400" dirty="0">
                <a:solidFill>
                  <a:srgbClr val="D7DDEA"/>
                </a:solidFill>
                <a:latin typeface="Calibri" pitchFamily="34" charset="0"/>
                <a:ea typeface="Calibri" pitchFamily="34" charset="-122"/>
                <a:cs typeface="Calibri" pitchFamily="34" charset="-120"/>
              </a:rPr>
              <a:t>Transformer embeddings compare what an answer says, and a rubric checks which key points it covers.</a:t>
            </a:r>
            <a:endParaRPr lang="en-US" sz="1400" dirty="0"/>
          </a:p>
        </p:txBody>
      </p:sp>
      <p:sp>
        <p:nvSpPr>
          <p:cNvPr id="8" name="Learns from teachers"/>
          <p:cNvSpPr/>
          <p:nvPr/>
        </p:nvSpPr>
        <p:spPr>
          <a:xfrm>
            <a:off x="4343400" y="1554480"/>
            <a:ext cx="3520440" cy="3017520"/>
          </a:xfrm>
          <a:prstGeom prst="roundRect">
            <a:avLst>
              <a:gd name="adj" fmla="val 2424"/>
            </a:avLst>
          </a:prstGeom>
          <a:solidFill>
            <a:srgbClr val="2C3A63"/>
          </a:solidFill>
          <a:ln w="12700">
            <a:solidFill>
              <a:srgbClr val="2C3A63"/>
            </a:solidFill>
            <a:prstDash val="solid"/>
          </a:ln>
        </p:spPr>
      </p:sp>
      <p:sp>
        <p:nvSpPr>
          <p:cNvPr id="9" name="Learns from teachers circle"/>
          <p:cNvSpPr/>
          <p:nvPr/>
        </p:nvSpPr>
        <p:spPr>
          <a:xfrm>
            <a:off x="4663440" y="1828800"/>
            <a:ext cx="685800" cy="685800"/>
          </a:xfrm>
          <a:prstGeom prst="ellipse">
            <a:avLst/>
          </a:prstGeom>
          <a:solidFill>
            <a:srgbClr val="C8414F"/>
          </a:solidFill>
          <a:ln w="12700">
            <a:solidFill>
              <a:srgbClr val="C8414F"/>
            </a:solidFill>
            <a:prstDash val="solid"/>
          </a:ln>
        </p:spPr>
      </p:sp>
      <p:pic>
        <p:nvPicPr>
          <p:cNvPr id="10" name="Learns from teachers icon" descr="preencoded.png">    </p:cNvPr>
          <p:cNvPicPr>
            <a:picLocks noChangeAspect="1"/>
          </p:cNvPicPr>
          <p:nvPr/>
        </p:nvPicPr>
        <p:blipFill>
          <a:blip r:embed="rId2"/>
          <a:stretch>
            <a:fillRect/>
          </a:stretch>
        </p:blipFill>
        <p:spPr>
          <a:xfrm>
            <a:off x="4828032" y="1993392"/>
            <a:ext cx="356616" cy="356616"/>
          </a:xfrm>
          <a:prstGeom prst="rect">
            <a:avLst/>
          </a:prstGeom>
        </p:spPr>
      </p:pic>
      <p:sp>
        <p:nvSpPr>
          <p:cNvPr id="11" name="Text 7"/>
          <p:cNvSpPr txBox="1"/>
          <p:nvPr/>
        </p:nvSpPr>
        <p:spPr>
          <a:xfrm>
            <a:off x="4663440" y="2697480"/>
            <a:ext cx="2926080" cy="45720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Learns from teachers</a:t>
            </a:r>
            <a:endParaRPr lang="en-US" sz="1900" dirty="0"/>
          </a:p>
        </p:txBody>
      </p:sp>
      <p:sp>
        <p:nvSpPr>
          <p:cNvPr id="12" name="Text 8"/>
          <p:cNvSpPr txBox="1"/>
          <p:nvPr/>
        </p:nvSpPr>
        <p:spPr>
          <a:xfrm>
            <a:off x="4663440" y="3200400"/>
            <a:ext cx="2926080" cy="1280160"/>
          </a:xfrm>
          <a:prstGeom prst="rect">
            <a:avLst/>
          </a:prstGeom>
          <a:noFill/>
          <a:ln/>
        </p:spPr>
        <p:txBody>
          <a:bodyPr wrap="square" lIns="0" tIns="0" rIns="0" bIns="0" rtlCol="0" anchor="t"/>
          <a:lstStyle/>
          <a:p>
            <a:pPr indent="0" marL="0">
              <a:buNone/>
            </a:pPr>
            <a:r>
              <a:rPr lang="en-US" sz="1400" dirty="0">
                <a:solidFill>
                  <a:srgbClr val="D7DDEA"/>
                </a:solidFill>
                <a:latin typeface="Calibri" pitchFamily="34" charset="0"/>
                <a:ea typeface="Calibri" pitchFamily="34" charset="-122"/>
                <a:cs typeface="Calibri" pitchFamily="34" charset="-120"/>
              </a:rPr>
              <a:t>A scorer trained on marked answers cut the error from 1.39 to 0.69 marks on unseen questions.</a:t>
            </a:r>
            <a:endParaRPr lang="en-US" sz="1400" dirty="0"/>
          </a:p>
        </p:txBody>
      </p:sp>
      <p:sp>
        <p:nvSpPr>
          <p:cNvPr id="13" name="Explains every mark"/>
          <p:cNvSpPr/>
          <p:nvPr/>
        </p:nvSpPr>
        <p:spPr>
          <a:xfrm>
            <a:off x="8138160" y="1554480"/>
            <a:ext cx="3520440" cy="3017520"/>
          </a:xfrm>
          <a:prstGeom prst="roundRect">
            <a:avLst>
              <a:gd name="adj" fmla="val 2424"/>
            </a:avLst>
          </a:prstGeom>
          <a:solidFill>
            <a:srgbClr val="2C3A63"/>
          </a:solidFill>
          <a:ln w="12700">
            <a:solidFill>
              <a:srgbClr val="2C3A63"/>
            </a:solidFill>
            <a:prstDash val="solid"/>
          </a:ln>
        </p:spPr>
      </p:sp>
      <p:sp>
        <p:nvSpPr>
          <p:cNvPr id="14" name="Explains every mark circle"/>
          <p:cNvSpPr/>
          <p:nvPr/>
        </p:nvSpPr>
        <p:spPr>
          <a:xfrm>
            <a:off x="8458200" y="1828800"/>
            <a:ext cx="685800" cy="685800"/>
          </a:xfrm>
          <a:prstGeom prst="ellipse">
            <a:avLst/>
          </a:prstGeom>
          <a:solidFill>
            <a:srgbClr val="C8414F"/>
          </a:solidFill>
          <a:ln w="12700">
            <a:solidFill>
              <a:srgbClr val="C8414F"/>
            </a:solidFill>
            <a:prstDash val="solid"/>
          </a:ln>
        </p:spPr>
      </p:sp>
      <p:pic>
        <p:nvPicPr>
          <p:cNvPr id="15" name="Explains every mark icon" descr="preencoded.png">    </p:cNvPr>
          <p:cNvPicPr>
            <a:picLocks noChangeAspect="1"/>
          </p:cNvPicPr>
          <p:nvPr/>
        </p:nvPicPr>
        <p:blipFill>
          <a:blip r:embed="rId3"/>
          <a:stretch>
            <a:fillRect/>
          </a:stretch>
        </p:blipFill>
        <p:spPr>
          <a:xfrm>
            <a:off x="8622792" y="1993392"/>
            <a:ext cx="356616" cy="356616"/>
          </a:xfrm>
          <a:prstGeom prst="rect">
            <a:avLst/>
          </a:prstGeom>
        </p:spPr>
      </p:pic>
      <p:sp>
        <p:nvSpPr>
          <p:cNvPr id="16" name="Text 11"/>
          <p:cNvSpPr txBox="1"/>
          <p:nvPr/>
        </p:nvSpPr>
        <p:spPr>
          <a:xfrm>
            <a:off x="8458200" y="2697480"/>
            <a:ext cx="2926080" cy="45720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Explains every mark</a:t>
            </a:r>
            <a:endParaRPr lang="en-US" sz="1900" dirty="0"/>
          </a:p>
        </p:txBody>
      </p:sp>
      <p:sp>
        <p:nvSpPr>
          <p:cNvPr id="17" name="Text 12"/>
          <p:cNvSpPr txBox="1"/>
          <p:nvPr/>
        </p:nvSpPr>
        <p:spPr>
          <a:xfrm>
            <a:off x="8458200" y="3200400"/>
            <a:ext cx="2926080" cy="1280160"/>
          </a:xfrm>
          <a:prstGeom prst="rect">
            <a:avLst/>
          </a:prstGeom>
          <a:noFill/>
          <a:ln/>
        </p:spPr>
        <p:txBody>
          <a:bodyPr wrap="square" lIns="0" tIns="0" rIns="0" bIns="0" rtlCol="0" anchor="t"/>
          <a:lstStyle/>
          <a:p>
            <a:pPr indent="0" marL="0">
              <a:buNone/>
            </a:pPr>
            <a:r>
              <a:rPr lang="en-US" sz="1400" dirty="0">
                <a:solidFill>
                  <a:srgbClr val="D7DDEA"/>
                </a:solidFill>
                <a:latin typeface="Calibri" pitchFamily="34" charset="0"/>
                <a:ea typeface="Calibri" pitchFamily="34" charset="-122"/>
                <a:cs typeface="Calibri" pitchFamily="34" charset="-120"/>
              </a:rPr>
              <a:t>Each score comes with a concept checklist, evidence and feedback a student can act on.</a:t>
            </a:r>
            <a:endParaRPr lang="en-US" sz="1400" dirty="0"/>
          </a:p>
        </p:txBody>
      </p:sp>
      <p:sp>
        <p:nvSpPr>
          <p:cNvPr id="18" name="Text 13"/>
          <p:cNvSpPr txBox="1"/>
          <p:nvPr/>
        </p:nvSpPr>
        <p:spPr>
          <a:xfrm>
            <a:off x="548640" y="5120640"/>
            <a:ext cx="1106424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97B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Answer Evaluation System</dc:title>
  <dc:subject>PptxGenJS Presentation</dc:subject>
  <dc:creator>Anika</dc:creator>
  <cp:lastModifiedBy>Anika</cp:lastModifiedBy>
  <cp:revision>1</cp:revision>
  <dcterms:created xsi:type="dcterms:W3CDTF">2026-10-13T14:25:48Z</dcterms:created>
  <dcterms:modified xsi:type="dcterms:W3CDTF">2026-10-13T14:25:48Z</dcterms:modified>
</cp:coreProperties>
</file>