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3547168-039f-a7e5-eb72-b8239c27eee5}">
          <p14:sldIdLst>
            <p14:sldId id="256"/>
            <p14:sldId id="257"/>
            <p14:sldId id="258"/>
          </p14:sldIdLst>
        </p14:section>
        <p14:section name="Method" id="{86eb0ee1-ff12-5d1d-8083-8eadb4dc2d1a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Results" id="{5aed2111-3a8e-ea51-f491-a8aabaad885f}">
          <p14:sldIdLst>
            <p14:sldId id="265"/>
            <p14:sldId id="266"/>
          </p14:sldIdLst>
        </p14:section>
        <p14:section name="Application" id="{62ff908e-a75c-4e2c-691e-c37ded867e8e}">
          <p14:sldIdLst>
            <p14:sldId id="267"/>
            <p14:sldId id="268"/>
          </p14:sldIdLst>
        </p14:section>
        <p14:section name="Conclusion" id="{deee34f7-76a5-a49c-0c47-140674d0970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4"/>
          <c:w val="0.82"/>
          <c:h val="0.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</c:v>
                </c:pt>
              </c:strCache>
            </c:strRef>
          </c:tx>
          <c:spPr>
            <a:solidFill>
              <a:srgbClr val="2F5DA8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2F5DA8"/>
              </a:solidFill>
              <a:ln w="9525" cap="flat">
                <a:solidFill>
                  <a:srgbClr val="2F5DA8"/>
                </a:solidFill>
                <a:prstDash val="solid"/>
                <a:round/>
              </a:ln>
              <a:effectLst/>
            </c:spPr>
          </c:marker>
          <c:xVal>
            <c:numRef>
              <c:f>Sheet1!$A$2:$A$61</c:f>
              <c:numCache>
                <c:formatCode>General</c:formatCode>
                <c:ptCount val="60"/>
                <c:pt idx="0">
                  <c:v>10</c:v>
                </c:pt>
                <c:pt idx="1">
                  <c:v>8.5</c:v>
                </c:pt>
                <c:pt idx="2">
                  <c:v>7</c:v>
                </c:pt>
                <c:pt idx="3">
                  <c:v>5</c:v>
                </c:pt>
                <c:pt idx="4">
                  <c:v>5.5</c:v>
                </c:pt>
                <c:pt idx="5">
                  <c:v>1.5</c:v>
                </c:pt>
                <c:pt idx="6">
                  <c:v>1</c:v>
                </c:pt>
                <c:pt idx="7">
                  <c:v>6</c:v>
                </c:pt>
                <c:pt idx="8">
                  <c:v>0</c:v>
                </c:pt>
                <c:pt idx="9">
                  <c:v>7.5</c:v>
                </c:pt>
                <c:pt idx="10">
                  <c:v>9.5</c:v>
                </c:pt>
                <c:pt idx="11">
                  <c:v>7</c:v>
                </c:pt>
                <c:pt idx="12">
                  <c:v>4</c:v>
                </c:pt>
                <c:pt idx="13">
                  <c:v>4.5</c:v>
                </c:pt>
                <c:pt idx="14">
                  <c:v>7.5</c:v>
                </c:pt>
                <c:pt idx="15">
                  <c:v>1</c:v>
                </c:pt>
                <c:pt idx="16">
                  <c:v>2</c:v>
                </c:pt>
                <c:pt idx="17">
                  <c:v>5.5</c:v>
                </c:pt>
                <c:pt idx="18">
                  <c:v>0</c:v>
                </c:pt>
                <c:pt idx="19">
                  <c:v>8</c:v>
                </c:pt>
                <c:pt idx="20">
                  <c:v>9.5</c:v>
                </c:pt>
                <c:pt idx="21">
                  <c:v>6.5</c:v>
                </c:pt>
                <c:pt idx="22">
                  <c:v>3</c:v>
                </c:pt>
                <c:pt idx="23">
                  <c:v>8</c:v>
                </c:pt>
                <c:pt idx="24">
                  <c:v>2</c:v>
                </c:pt>
                <c:pt idx="25">
                  <c:v>5.5</c:v>
                </c:pt>
                <c:pt idx="26">
                  <c:v>0.5</c:v>
                </c:pt>
                <c:pt idx="27">
                  <c:v>7.5</c:v>
                </c:pt>
                <c:pt idx="28">
                  <c:v>0</c:v>
                </c:pt>
                <c:pt idx="29">
                  <c:v>3.5</c:v>
                </c:pt>
                <c:pt idx="30">
                  <c:v>9.5</c:v>
                </c:pt>
                <c:pt idx="31">
                  <c:v>6</c:v>
                </c:pt>
                <c:pt idx="32">
                  <c:v>2</c:v>
                </c:pt>
                <c:pt idx="33">
                  <c:v>5.5</c:v>
                </c:pt>
                <c:pt idx="34">
                  <c:v>4</c:v>
                </c:pt>
                <c:pt idx="35">
                  <c:v>1</c:v>
                </c:pt>
                <c:pt idx="36">
                  <c:v>7</c:v>
                </c:pt>
                <c:pt idx="37">
                  <c:v>0</c:v>
                </c:pt>
                <c:pt idx="38">
                  <c:v>7</c:v>
                </c:pt>
                <c:pt idx="39">
                  <c:v>1.5</c:v>
                </c:pt>
                <c:pt idx="40">
                  <c:v>9.5</c:v>
                </c:pt>
                <c:pt idx="41">
                  <c:v>6.5</c:v>
                </c:pt>
                <c:pt idx="42">
                  <c:v>2</c:v>
                </c:pt>
                <c:pt idx="43">
                  <c:v>7.5</c:v>
                </c:pt>
                <c:pt idx="44">
                  <c:v>1</c:v>
                </c:pt>
                <c:pt idx="45">
                  <c:v>4.5</c:v>
                </c:pt>
                <c:pt idx="46">
                  <c:v>6.5</c:v>
                </c:pt>
                <c:pt idx="47">
                  <c:v>0</c:v>
                </c:pt>
                <c:pt idx="48">
                  <c:v>8.5</c:v>
                </c:pt>
                <c:pt idx="49">
                  <c:v>1.5</c:v>
                </c:pt>
                <c:pt idx="50">
                  <c:v>9.5</c:v>
                </c:pt>
                <c:pt idx="51">
                  <c:v>5.5</c:v>
                </c:pt>
                <c:pt idx="52">
                  <c:v>6</c:v>
                </c:pt>
                <c:pt idx="53">
                  <c:v>1.5</c:v>
                </c:pt>
                <c:pt idx="54">
                  <c:v>8</c:v>
                </c:pt>
                <c:pt idx="55">
                  <c:v>0.5</c:v>
                </c:pt>
                <c:pt idx="56">
                  <c:v>4</c:v>
                </c:pt>
                <c:pt idx="57">
                  <c:v>0</c:v>
                </c:pt>
                <c:pt idx="58">
                  <c:v>6.5</c:v>
                </c:pt>
                <c:pt idx="59">
                  <c:v>3</c:v>
                </c:pt>
              </c:numCache>
            </c:numRef>
          </c:xVal>
          <c:yVal>
            <c:numRef>
              <c:f>Sheet1!$B$2:$B$61</c:f>
              <c:numCache>
                <c:formatCode>General</c:formatCode>
                <c:ptCount val="60"/>
                <c:pt idx="0">
                  <c:v>9</c:v>
                </c:pt>
                <c:pt idx="1">
                  <c:v>7</c:v>
                </c:pt>
                <c:pt idx="2">
                  <c:v>7</c:v>
                </c:pt>
                <c:pt idx="3">
                  <c:v>5.5</c:v>
                </c:pt>
                <c:pt idx="4">
                  <c:v>5.5</c:v>
                </c:pt>
                <c:pt idx="5">
                  <c:v>1.5</c:v>
                </c:pt>
                <c:pt idx="6">
                  <c:v>0</c:v>
                </c:pt>
                <c:pt idx="7">
                  <c:v>7</c:v>
                </c:pt>
                <c:pt idx="8">
                  <c:v>0</c:v>
                </c:pt>
                <c:pt idx="9">
                  <c:v>7.5</c:v>
                </c:pt>
                <c:pt idx="10">
                  <c:v>9.5</c:v>
                </c:pt>
                <c:pt idx="11">
                  <c:v>7.5</c:v>
                </c:pt>
                <c:pt idx="12">
                  <c:v>4</c:v>
                </c:pt>
                <c:pt idx="13">
                  <c:v>4</c:v>
                </c:pt>
                <c:pt idx="14">
                  <c:v>7.5</c:v>
                </c:pt>
                <c:pt idx="15">
                  <c:v>4</c:v>
                </c:pt>
                <c:pt idx="16">
                  <c:v>1.5</c:v>
                </c:pt>
                <c:pt idx="17">
                  <c:v>5</c:v>
                </c:pt>
                <c:pt idx="18">
                  <c:v>0</c:v>
                </c:pt>
                <c:pt idx="19">
                  <c:v>7.5</c:v>
                </c:pt>
                <c:pt idx="20">
                  <c:v>9.5</c:v>
                </c:pt>
                <c:pt idx="21">
                  <c:v>7</c:v>
                </c:pt>
                <c:pt idx="22">
                  <c:v>1.5</c:v>
                </c:pt>
                <c:pt idx="23">
                  <c:v>7.5</c:v>
                </c:pt>
                <c:pt idx="24">
                  <c:v>2</c:v>
                </c:pt>
                <c:pt idx="25">
                  <c:v>7</c:v>
                </c:pt>
                <c:pt idx="26">
                  <c:v>2</c:v>
                </c:pt>
                <c:pt idx="27">
                  <c:v>8.5</c:v>
                </c:pt>
                <c:pt idx="28">
                  <c:v>0</c:v>
                </c:pt>
                <c:pt idx="29">
                  <c:v>5</c:v>
                </c:pt>
                <c:pt idx="30">
                  <c:v>9</c:v>
                </c:pt>
                <c:pt idx="31">
                  <c:v>4.5</c:v>
                </c:pt>
                <c:pt idx="32">
                  <c:v>3</c:v>
                </c:pt>
                <c:pt idx="33">
                  <c:v>4</c:v>
                </c:pt>
                <c:pt idx="34">
                  <c:v>4</c:v>
                </c:pt>
                <c:pt idx="35">
                  <c:v>3</c:v>
                </c:pt>
                <c:pt idx="36">
                  <c:v>7.5</c:v>
                </c:pt>
                <c:pt idx="37">
                  <c:v>0.5</c:v>
                </c:pt>
                <c:pt idx="38">
                  <c:v>6.5</c:v>
                </c:pt>
                <c:pt idx="39">
                  <c:v>3</c:v>
                </c:pt>
                <c:pt idx="40">
                  <c:v>9.5</c:v>
                </c:pt>
                <c:pt idx="41">
                  <c:v>6</c:v>
                </c:pt>
                <c:pt idx="42">
                  <c:v>1.5</c:v>
                </c:pt>
                <c:pt idx="43">
                  <c:v>4</c:v>
                </c:pt>
                <c:pt idx="44">
                  <c:v>2.5</c:v>
                </c:pt>
                <c:pt idx="45">
                  <c:v>4</c:v>
                </c:pt>
                <c:pt idx="46">
                  <c:v>6</c:v>
                </c:pt>
                <c:pt idx="47">
                  <c:v>0</c:v>
                </c:pt>
                <c:pt idx="48">
                  <c:v>7.5</c:v>
                </c:pt>
                <c:pt idx="49">
                  <c:v>2</c:v>
                </c:pt>
                <c:pt idx="50">
                  <c:v>9.5</c:v>
                </c:pt>
                <c:pt idx="51">
                  <c:v>5</c:v>
                </c:pt>
                <c:pt idx="52">
                  <c:v>7</c:v>
                </c:pt>
                <c:pt idx="53">
                  <c:v>1.5</c:v>
                </c:pt>
                <c:pt idx="54">
                  <c:v>8.5</c:v>
                </c:pt>
                <c:pt idx="55">
                  <c:v>1.5</c:v>
                </c:pt>
                <c:pt idx="56">
                  <c:v>4.5</c:v>
                </c:pt>
                <c:pt idx="57">
                  <c:v>0</c:v>
                </c:pt>
                <c:pt idx="58">
                  <c:v>7</c:v>
                </c:pt>
                <c:pt idx="59">
                  <c:v>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0"/>
          <c:min val="0"/>
        </c:scaling>
        <c:delete val="0"/>
        <c:axPos val="b"/>
        <c:majorGridlines>
          <c:spPr>
            <a:ln w="6350" cap="flat">
              <a:solidFill>
                <a:srgbClr val="E5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5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6475"/>
                    </a:solidFill>
                    <a:latin typeface="+mn-lt"/>
                  </a:rPr>
                  <a:t>Teacher’s mark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2"/>
      </c:val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5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5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6475"/>
                    </a:solidFill>
                    <a:latin typeface="+mn-lt"/>
                  </a:rPr>
                  <a:t>System’s mark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F5D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0.96</c:v>
                </c:pt>
                <c:pt idx="1">
                  <c:v>1</c:v>
                </c:pt>
                <c:pt idx="2">
                  <c:v>0.79</c:v>
                </c:pt>
                <c:pt idx="3">
                  <c:v>0.8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2BA3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0.93</c:v>
                </c:pt>
                <c:pt idx="1">
                  <c:v>0.96</c:v>
                </c:pt>
                <c:pt idx="2">
                  <c:v>0.96</c:v>
                </c:pt>
                <c:pt idx="3">
                  <c:v>0.8</c:v>
                </c:pt>
                <c:pt idx="4">
                  <c:v>0.86</c:v>
                </c:pt>
                <c:pt idx="5">
                  <c:v>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8EE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system that marks descriptive answers by comparing them with a teacher's reference answer and rubric, and explains the mark with a concept checklist and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 is to assist teachers, not replace them: the system gives a consistent first mark and an explanation the teacher can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workflow of the project. Each stage maps to one file in the code. Stages 3 and 5 are the machine-learning core: the pretrained transformer and the scorer trained on teacher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Inputs are normalised and split into sentences, encoded by Sentence-BERT, turned into three signals, and combined by the scoring engine into marks with a checklist and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Vectors are illustrative. In code: evaluator/embedder.py. The calibration floor and ceiling per model are in PROFILES.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Concepts come from the teacher. Detection code is in evaluator/core.py (extract_features). Each detected concept records how it was found and the evidence, which the app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answer: right gist, one of six concepts. Right answer: five of six concepts named but no explanation, so completeness is low. The feedback module also flags answers that list terms without explaining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train.py. Leave-one-question-out prevents the model from memorising the specific wording of a question's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TrOCR = Transformer-based Optical Character Recognition. Encoder: image transformer (from BEiT) over 16x16 pixel patches of a 384x384 line image. Decoder: text transformer (from RoBERTa) that generates tokens using cross-attention to the image. Code: evaluator/ocr.py.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far from the dashed line are the biggest disagreements. Results are from leave-one-question-out testing, so every mark was predicted for a question the model had not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pair of bars is one question: blue = precision, green = recall; taller is better. Precision and recall compare detected concepts with the hand-marked concept labels in student_answers.csv.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with: streamlit run app.py. Live demo: pick Q1, paste one of the sample answers, evaluate, then show the batch tab with data/sample_batch.csv.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code is in the project folder; README.md has setup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takeaways and invite questions. Offer the live demo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dark)">
    <p:bg>
      <p:bgPr>
        <a:solidFill>
          <a:srgbClr val="1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 Evaluation System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(dark)">
    <p:bg>
      <p:bgPr>
        <a:solidFill>
          <a:srgbClr val="1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B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Answer Evaluation System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Deep-learning-based marking and feedback for descriptive answers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C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Anika  ·  B.Tech CSE (Data Science)  ·  Manipal University Jaipur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Marking descriptive answers by hand is slow and uneven</a:t>
            </a:r>
            <a:endParaRPr lang="en-US" sz="3200" dirty="0"/>
          </a:p>
        </p:txBody>
      </p:sp>
      <p:sp>
        <p:nvSpPr>
          <p:cNvPr id="3" name="Time card"/>
          <p:cNvSpPr/>
          <p:nvPr/>
        </p:nvSpPr>
        <p:spPr>
          <a:xfrm>
            <a:off x="548640" y="146304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Time circle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5" name="Tim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18909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514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971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to be read in full, so large classes take days to mark and feedback arrives late.</a:t>
            </a:r>
            <a:endParaRPr lang="en-US" sz="1400" dirty="0"/>
          </a:p>
        </p:txBody>
      </p:sp>
      <p:sp>
        <p:nvSpPr>
          <p:cNvPr id="8" name="Consistency card"/>
          <p:cNvSpPr/>
          <p:nvPr/>
        </p:nvSpPr>
        <p:spPr>
          <a:xfrm>
            <a:off x="4343400" y="146304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Consistency circle"/>
          <p:cNvSpPr/>
          <p:nvPr/>
        </p:nvSpPr>
        <p:spPr>
          <a:xfrm>
            <a:off x="4663440" y="1737360"/>
            <a:ext cx="640080" cy="640080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10" name="Consistenc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059" y="189097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2514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2971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examiners, or one examiner late in a long session, can give different marks to the same answer.</a:t>
            </a:r>
            <a:endParaRPr lang="en-US" sz="1400" dirty="0"/>
          </a:p>
        </p:txBody>
      </p:sp>
      <p:sp>
        <p:nvSpPr>
          <p:cNvPr id="13" name="Feedback card"/>
          <p:cNvSpPr/>
          <p:nvPr/>
        </p:nvSpPr>
        <p:spPr>
          <a:xfrm>
            <a:off x="8138160" y="146304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Feedback circle"/>
          <p:cNvSpPr/>
          <p:nvPr/>
        </p:nvSpPr>
        <p:spPr>
          <a:xfrm>
            <a:off x="8458200" y="1737360"/>
            <a:ext cx="640080" cy="640080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15" name="Feedback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819" y="189097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2514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2971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usually see a number, not which key points were missing from their answer.</a:t>
            </a:r>
            <a:endParaRPr lang="en-US" sz="1400" dirty="0"/>
          </a:p>
        </p:txBody>
      </p:sp>
      <p:sp>
        <p:nvSpPr>
          <p:cNvPr id="18" name="problem statement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14400" y="4553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914400" y="4864608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evaluation of descriptive answers is time-consuming and may introduce inconsistency. This project proposes a deep-learning-based system that uses transformer-based semantic understanding and concept coverage to estimate marks and give constructive feedback.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pipeline: from data to automatic marking</a:t>
            </a:r>
            <a:endParaRPr lang="en-US" sz="3200" dirty="0"/>
          </a:p>
        </p:txBody>
      </p:sp>
      <p:sp>
        <p:nvSpPr>
          <p:cNvPr id="3" name="Collect data stage"/>
          <p:cNvSpPr/>
          <p:nvPr/>
        </p:nvSpPr>
        <p:spPr>
          <a:xfrm>
            <a:off x="548640" y="1463040"/>
            <a:ext cx="1426464" cy="3063240"/>
          </a:xfrm>
          <a:prstGeom prst="roundRect">
            <a:avLst>
              <a:gd name="adj" fmla="val 5128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Collect data circle"/>
          <p:cNvSpPr/>
          <p:nvPr/>
        </p:nvSpPr>
        <p:spPr>
          <a:xfrm>
            <a:off x="978408" y="169164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5" name="Collect dat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471" y="182770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774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data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880360"/>
            <a:ext cx="1207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reference answers, rubrics and teacher-marked answers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114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93392" y="2994660"/>
            <a:ext cx="141732" cy="914"/>
          </a:xfrm>
          <a:prstGeom prst="line">
            <a:avLst/>
          </a:prstGeom>
          <a:noFill/>
          <a:ln w="1905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1" name="Preprocess stage"/>
          <p:cNvSpPr/>
          <p:nvPr/>
        </p:nvSpPr>
        <p:spPr>
          <a:xfrm>
            <a:off x="2153412" y="1463040"/>
            <a:ext cx="1426464" cy="3063240"/>
          </a:xfrm>
          <a:prstGeom prst="roundRect">
            <a:avLst>
              <a:gd name="adj" fmla="val 5128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Preprocess circle"/>
          <p:cNvSpPr/>
          <p:nvPr/>
        </p:nvSpPr>
        <p:spPr>
          <a:xfrm>
            <a:off x="2583180" y="169164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13" name="Preproces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243" y="182770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6314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244852" y="23774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263140" y="2880360"/>
            <a:ext cx="1207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text, split sentences, stem words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199132" y="4114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text_utils.py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598164" y="2994660"/>
            <a:ext cx="141732" cy="914"/>
          </a:xfrm>
          <a:prstGeom prst="line">
            <a:avLst/>
          </a:prstGeom>
          <a:noFill/>
          <a:ln w="1905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9" name="Embed stage"/>
          <p:cNvSpPr/>
          <p:nvPr/>
        </p:nvSpPr>
        <p:spPr>
          <a:xfrm>
            <a:off x="3758184" y="1463040"/>
            <a:ext cx="1426464" cy="3063240"/>
          </a:xfrm>
          <a:prstGeom prst="roundRect">
            <a:avLst>
              <a:gd name="adj" fmla="val 5128"/>
            </a:avLst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20" name="Embed circle"/>
          <p:cNvSpPr/>
          <p:nvPr/>
        </p:nvSpPr>
        <p:spPr>
          <a:xfrm>
            <a:off x="4187952" y="1691640"/>
            <a:ext cx="566928" cy="566928"/>
          </a:xfrm>
          <a:prstGeom prst="ellipse">
            <a:avLst/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pic>
        <p:nvPicPr>
          <p:cNvPr id="21" name="Embed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015" y="1827703"/>
            <a:ext cx="294803" cy="29480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867912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3849624" y="23774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3867912" y="2880360"/>
            <a:ext cx="1207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encodes answers, sentences and concepts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3803904" y="4114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embedder.py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202936" y="2994660"/>
            <a:ext cx="141732" cy="914"/>
          </a:xfrm>
          <a:prstGeom prst="line">
            <a:avLst/>
          </a:prstGeom>
          <a:noFill/>
          <a:ln w="1905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27" name="Extract features stage"/>
          <p:cNvSpPr/>
          <p:nvPr/>
        </p:nvSpPr>
        <p:spPr>
          <a:xfrm>
            <a:off x="5362956" y="1463040"/>
            <a:ext cx="1426464" cy="3063240"/>
          </a:xfrm>
          <a:prstGeom prst="roundRect">
            <a:avLst>
              <a:gd name="adj" fmla="val 5128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8" name="Extract features circle"/>
          <p:cNvSpPr/>
          <p:nvPr/>
        </p:nvSpPr>
        <p:spPr>
          <a:xfrm>
            <a:off x="5792724" y="169164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29" name="Extract feature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787" y="1827703"/>
            <a:ext cx="294803" cy="294803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472684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5454396" y="23774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features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5472684" y="2880360"/>
            <a:ext cx="1207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Similarity, concept coverage, completeness, length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5408676" y="4114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core.py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807708" y="2994660"/>
            <a:ext cx="141732" cy="914"/>
          </a:xfrm>
          <a:prstGeom prst="line">
            <a:avLst/>
          </a:prstGeom>
          <a:noFill/>
          <a:ln w="1905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35" name="Train scorer stage"/>
          <p:cNvSpPr/>
          <p:nvPr/>
        </p:nvSpPr>
        <p:spPr>
          <a:xfrm>
            <a:off x="6967728" y="1463040"/>
            <a:ext cx="1426464" cy="3063240"/>
          </a:xfrm>
          <a:prstGeom prst="roundRect">
            <a:avLst>
              <a:gd name="adj" fmla="val 5128"/>
            </a:avLst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36" name="Train scorer circle"/>
          <p:cNvSpPr/>
          <p:nvPr/>
        </p:nvSpPr>
        <p:spPr>
          <a:xfrm>
            <a:off x="7397496" y="1691640"/>
            <a:ext cx="566928" cy="566928"/>
          </a:xfrm>
          <a:prstGeom prst="ellipse">
            <a:avLst/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pic>
        <p:nvPicPr>
          <p:cNvPr id="37" name="Train scorer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3559" y="1827703"/>
            <a:ext cx="294803" cy="294803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077456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7059168" y="23774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scorer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7077456" y="2880360"/>
            <a:ext cx="1207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Regressors learn from teacher marks, one question held out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7013448" y="4114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8412480" y="2994660"/>
            <a:ext cx="141732" cy="914"/>
          </a:xfrm>
          <a:prstGeom prst="line">
            <a:avLst/>
          </a:prstGeom>
          <a:noFill/>
          <a:ln w="1905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43" name="Evaluate stage"/>
          <p:cNvSpPr/>
          <p:nvPr/>
        </p:nvSpPr>
        <p:spPr>
          <a:xfrm>
            <a:off x="8572500" y="1463040"/>
            <a:ext cx="1426464" cy="3063240"/>
          </a:xfrm>
          <a:prstGeom prst="roundRect">
            <a:avLst>
              <a:gd name="adj" fmla="val 5128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4" name="Evaluate circle"/>
          <p:cNvSpPr/>
          <p:nvPr/>
        </p:nvSpPr>
        <p:spPr>
          <a:xfrm>
            <a:off x="9002268" y="169164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45" name="Evaluate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8331" y="1827703"/>
            <a:ext cx="294803" cy="294803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682228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7" name="Text 39"/>
          <p:cNvSpPr txBox="1"/>
          <p:nvPr/>
        </p:nvSpPr>
        <p:spPr>
          <a:xfrm>
            <a:off x="8663940" y="23774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500" dirty="0"/>
          </a:p>
        </p:txBody>
      </p:sp>
      <p:sp>
        <p:nvSpPr>
          <p:cNvPr id="48" name="Text 40"/>
          <p:cNvSpPr txBox="1"/>
          <p:nvPr/>
        </p:nvSpPr>
        <p:spPr>
          <a:xfrm>
            <a:off x="8682228" y="2880360"/>
            <a:ext cx="1207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correlation, QWK and concept F1</a:t>
            </a:r>
            <a:endParaRPr lang="en-US" sz="1200" dirty="0"/>
          </a:p>
        </p:txBody>
      </p:sp>
      <p:sp>
        <p:nvSpPr>
          <p:cNvPr id="49" name="Text 41"/>
          <p:cNvSpPr txBox="1"/>
          <p:nvPr/>
        </p:nvSpPr>
        <p:spPr>
          <a:xfrm>
            <a:off x="8618220" y="4114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evaluate.py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10017252" y="2994660"/>
            <a:ext cx="141732" cy="914"/>
          </a:xfrm>
          <a:prstGeom prst="line">
            <a:avLst/>
          </a:prstGeom>
          <a:noFill/>
          <a:ln w="1905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51" name="Deploy stage"/>
          <p:cNvSpPr/>
          <p:nvPr/>
        </p:nvSpPr>
        <p:spPr>
          <a:xfrm>
            <a:off x="10177272" y="1463040"/>
            <a:ext cx="1426464" cy="3063240"/>
          </a:xfrm>
          <a:prstGeom prst="roundRect">
            <a:avLst>
              <a:gd name="adj" fmla="val 5128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2" name="Deploy circle"/>
          <p:cNvSpPr/>
          <p:nvPr/>
        </p:nvSpPr>
        <p:spPr>
          <a:xfrm>
            <a:off x="10607040" y="1691640"/>
            <a:ext cx="566928" cy="566928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53" name="Deploy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3103" y="1827703"/>
            <a:ext cx="294803" cy="294803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1028700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5" name="Text 46"/>
          <p:cNvSpPr txBox="1"/>
          <p:nvPr/>
        </p:nvSpPr>
        <p:spPr>
          <a:xfrm>
            <a:off x="10268712" y="23774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500" dirty="0"/>
          </a:p>
        </p:txBody>
      </p:sp>
      <p:sp>
        <p:nvSpPr>
          <p:cNvPr id="56" name="Text 47"/>
          <p:cNvSpPr txBox="1"/>
          <p:nvPr/>
        </p:nvSpPr>
        <p:spPr>
          <a:xfrm>
            <a:off x="10287000" y="2880360"/>
            <a:ext cx="1207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for typed, batch and handwritten answers</a:t>
            </a:r>
            <a:endParaRPr lang="en-US" sz="1200" dirty="0"/>
          </a:p>
        </p:txBody>
      </p:sp>
      <p:sp>
        <p:nvSpPr>
          <p:cNvPr id="57" name="Text 48"/>
          <p:cNvSpPr txBox="1"/>
          <p:nvPr/>
        </p:nvSpPr>
        <p:spPr>
          <a:xfrm>
            <a:off x="10222992" y="4114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00" dirty="0"/>
          </a:p>
        </p:txBody>
      </p:sp>
      <p:sp>
        <p:nvSpPr>
          <p:cNvPr id="58" name="Data preparation phase"/>
          <p:cNvSpPr/>
          <p:nvPr/>
        </p:nvSpPr>
        <p:spPr>
          <a:xfrm>
            <a:off x="548640" y="4709160"/>
            <a:ext cx="3031236" cy="384048"/>
          </a:xfrm>
          <a:prstGeom prst="roundRect">
            <a:avLst>
              <a:gd name="adj" fmla="val 14286"/>
            </a:avLst>
          </a:prstGeom>
          <a:solidFill>
            <a:srgbClr val="E6EBF4"/>
          </a:solidFill>
          <a:ln w="12700">
            <a:solidFill>
              <a:srgbClr val="E6EBF4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548640" y="4709160"/>
            <a:ext cx="3031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60" name="Modelling phase"/>
          <p:cNvSpPr/>
          <p:nvPr/>
        </p:nvSpPr>
        <p:spPr>
          <a:xfrm>
            <a:off x="3758184" y="4709160"/>
            <a:ext cx="4636008" cy="384048"/>
          </a:xfrm>
          <a:prstGeom prst="roundRect">
            <a:avLst>
              <a:gd name="adj" fmla="val 14286"/>
            </a:avLst>
          </a:prstGeom>
          <a:solidFill>
            <a:srgbClr val="E6EBF4"/>
          </a:solidFill>
          <a:ln w="12700">
            <a:solidFill>
              <a:srgbClr val="E6EBF4"/>
            </a:solidFill>
            <a:prstDash val="solid"/>
          </a:ln>
        </p:spPr>
      </p:sp>
      <p:sp>
        <p:nvSpPr>
          <p:cNvPr id="61" name="Text 52"/>
          <p:cNvSpPr txBox="1"/>
          <p:nvPr/>
        </p:nvSpPr>
        <p:spPr>
          <a:xfrm>
            <a:off x="3758184" y="4709160"/>
            <a:ext cx="4636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300" dirty="0"/>
          </a:p>
        </p:txBody>
      </p:sp>
      <p:sp>
        <p:nvSpPr>
          <p:cNvPr id="62" name="Validation and deployment phase"/>
          <p:cNvSpPr/>
          <p:nvPr/>
        </p:nvSpPr>
        <p:spPr>
          <a:xfrm>
            <a:off x="8572500" y="4709160"/>
            <a:ext cx="3031236" cy="384048"/>
          </a:xfrm>
          <a:prstGeom prst="roundRect">
            <a:avLst>
              <a:gd name="adj" fmla="val 14286"/>
            </a:avLst>
          </a:prstGeom>
          <a:solidFill>
            <a:srgbClr val="E6EBF4"/>
          </a:solidFill>
          <a:ln w="12700">
            <a:solidFill>
              <a:srgbClr val="E6EBF4"/>
            </a:solidFill>
            <a:prstDash val="solid"/>
          </a:ln>
        </p:spPr>
      </p:sp>
      <p:sp>
        <p:nvSpPr>
          <p:cNvPr id="63" name="Text 54"/>
          <p:cNvSpPr txBox="1"/>
          <p:nvPr/>
        </p:nvSpPr>
        <p:spPr>
          <a:xfrm>
            <a:off x="8572500" y="4709160"/>
            <a:ext cx="3031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deployment</a:t>
            </a:r>
            <a:endParaRPr lang="en-US" sz="1300" dirty="0"/>
          </a:p>
        </p:txBody>
      </p:sp>
      <p:sp>
        <p:nvSpPr>
          <p:cNvPr id="64" name="pipeline note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5" name="Text 56"/>
          <p:cNvSpPr txBox="1"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loop: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more teacher-marked answers are collected, steps 1 and 4–6 are re-run, and the app picks up the newly trained scorer automatically.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three signals feed one scoring engine</a:t>
            </a:r>
            <a:endParaRPr lang="en-US" sz="3200" dirty="0"/>
          </a:p>
        </p:txBody>
      </p:sp>
      <p:sp>
        <p:nvSpPr>
          <p:cNvPr id="3" name="Typed answer"/>
          <p:cNvSpPr/>
          <p:nvPr/>
        </p:nvSpPr>
        <p:spPr>
          <a:xfrm>
            <a:off x="548640" y="16002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answer</a:t>
            </a:r>
            <a:endParaRPr lang="en-US" sz="1400" dirty="0"/>
          </a:p>
        </p:txBody>
      </p:sp>
      <p:sp>
        <p:nvSpPr>
          <p:cNvPr id="5" name="Handwritten photo"/>
          <p:cNvSpPr/>
          <p:nvPr/>
        </p:nvSpPr>
        <p:spPr>
          <a:xfrm>
            <a:off x="548640" y="26060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606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TrOCR transcription</a:t>
            </a:r>
            <a:endParaRPr lang="en-US" sz="1400" dirty="0"/>
          </a:p>
        </p:txBody>
      </p:sp>
      <p:sp>
        <p:nvSpPr>
          <p:cNvPr id="7" name="Reference answer"/>
          <p:cNvSpPr/>
          <p:nvPr/>
        </p:nvSpPr>
        <p:spPr>
          <a:xfrm>
            <a:off x="548640" y="37490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749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answer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rubric concepts</a:t>
            </a:r>
            <a:endParaRPr lang="en-US" sz="1400" dirty="0"/>
          </a:p>
        </p:txBody>
      </p:sp>
      <p:sp>
        <p:nvSpPr>
          <p:cNvPr id="9" name="Preprocessing"/>
          <p:cNvSpPr/>
          <p:nvPr/>
        </p:nvSpPr>
        <p:spPr>
          <a:xfrm>
            <a:off x="2880360" y="26060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normalise, split, stem</a:t>
            </a:r>
            <a:endParaRPr lang="en-US" sz="1400" dirty="0"/>
          </a:p>
        </p:txBody>
      </p:sp>
      <p:sp>
        <p:nvSpPr>
          <p:cNvPr id="11" name="Sentence-BERT"/>
          <p:cNvSpPr/>
          <p:nvPr/>
        </p:nvSpPr>
        <p:spPr>
          <a:xfrm>
            <a:off x="5120640" y="2377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23774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</a:t>
            </a:r>
            <a:endParaRPr lang="en-US" sz="1400" dirty="0"/>
          </a:p>
        </p:txBody>
      </p:sp>
      <p:sp>
        <p:nvSpPr>
          <p:cNvPr id="13" name="Semantic similarity"/>
          <p:cNvSpPr/>
          <p:nvPr/>
        </p:nvSpPr>
        <p:spPr>
          <a:xfrm>
            <a:off x="7452360" y="14630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0" y="14630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to reference</a:t>
            </a:r>
            <a:endParaRPr lang="en-US" sz="1400" dirty="0"/>
          </a:p>
        </p:txBody>
      </p:sp>
      <p:sp>
        <p:nvSpPr>
          <p:cNvPr id="15" name="Concept coverage"/>
          <p:cNvSpPr/>
          <p:nvPr/>
        </p:nvSpPr>
        <p:spPr>
          <a:xfrm>
            <a:off x="7452360" y="2624328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0" y="262432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coverage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rubric hits</a:t>
            </a:r>
            <a:endParaRPr lang="en-US" sz="1400" dirty="0"/>
          </a:p>
        </p:txBody>
      </p:sp>
      <p:sp>
        <p:nvSpPr>
          <p:cNvPr id="17" name="Completeness"/>
          <p:cNvSpPr/>
          <p:nvPr/>
        </p:nvSpPr>
        <p:spPr>
          <a:xfrm>
            <a:off x="7452360" y="3785616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0" y="378561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sentences matched</a:t>
            </a:r>
            <a:endParaRPr lang="en-US" sz="1400" dirty="0"/>
          </a:p>
        </p:txBody>
      </p:sp>
      <p:sp>
        <p:nvSpPr>
          <p:cNvPr id="19" name="Scoring engine"/>
          <p:cNvSpPr/>
          <p:nvPr/>
        </p:nvSpPr>
        <p:spPr>
          <a:xfrm>
            <a:off x="9966960" y="20116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04120" y="20116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regressor</a:t>
            </a:r>
            <a:endParaRPr lang="en-US" sz="1400" dirty="0"/>
          </a:p>
        </p:txBody>
      </p:sp>
      <p:sp>
        <p:nvSpPr>
          <p:cNvPr id="21" name="Marks"/>
          <p:cNvSpPr/>
          <p:nvPr/>
        </p:nvSpPr>
        <p:spPr>
          <a:xfrm>
            <a:off x="9966960" y="34290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04120" y="342900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checklist + feedback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468880" y="1984248"/>
            <a:ext cx="411480" cy="941832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468880" y="3063240"/>
            <a:ext cx="411480" cy="914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2468880" y="3200400"/>
            <a:ext cx="411480" cy="100584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709160" y="3063240"/>
            <a:ext cx="411480" cy="914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7040880" y="1892808"/>
            <a:ext cx="411480" cy="941832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40880" y="3063240"/>
            <a:ext cx="411480" cy="914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40880" y="3291840"/>
            <a:ext cx="411480" cy="91440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55480" y="1892808"/>
            <a:ext cx="411480" cy="438912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9555480" y="2514600"/>
            <a:ext cx="411480" cy="54864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9555480" y="2697480"/>
            <a:ext cx="411480" cy="150876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808208" y="2926080"/>
            <a:ext cx="914" cy="50292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34" name="architecture note"/>
          <p:cNvSpPr/>
          <p:nvPr/>
        </p:nvSpPr>
        <p:spPr>
          <a:xfrm>
            <a:off x="548640" y="5074920"/>
            <a:ext cx="111099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5" name="deep learning circle"/>
          <p:cNvSpPr/>
          <p:nvPr/>
        </p:nvSpPr>
        <p:spPr>
          <a:xfrm>
            <a:off x="777240" y="5257800"/>
            <a:ext cx="640080" cy="640080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36" name="deep learn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5411419"/>
            <a:ext cx="332842" cy="332842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645920" y="52120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sits in the two pretrained transformers: Sentence-BERT turns text into meaning vectors, and TrOCR reads handwriting. The scoring engine is a smaller model trained on teacher marks to weigh the three signals.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1: Sentence-BERT measures meaning, not word overlap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becomes a 384-number vector (an embedding) from the pretrained all-MiniLM-L6-v2 model.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that mean the same thing point in the same direction, even with different wording.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compares the directions; it is rescaled to 0–100% so scores from different models line up.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embeddings are reused for concept matching and completeness.</a:t>
            </a:r>
            <a:endParaRPr lang="en-US" sz="1600" dirty="0"/>
          </a:p>
        </p:txBody>
      </p:sp>
      <p:sp>
        <p:nvSpPr>
          <p:cNvPr id="4" name="Reference vector"/>
          <p:cNvSpPr/>
          <p:nvPr/>
        </p:nvSpPr>
        <p:spPr>
          <a:xfrm>
            <a:off x="6309360" y="155448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37960" y="15544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1554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[0.19, −0.40, 0.75, …]</a:t>
            </a:r>
            <a:endParaRPr lang="en-US" sz="1500" dirty="0"/>
          </a:p>
        </p:txBody>
      </p:sp>
      <p:sp>
        <p:nvSpPr>
          <p:cNvPr id="7" name="Student vector"/>
          <p:cNvSpPr/>
          <p:nvPr/>
        </p:nvSpPr>
        <p:spPr>
          <a:xfrm>
            <a:off x="6309360" y="26060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6060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2606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[0.21, −0.43, 0.78, …]</a:t>
            </a:r>
            <a:endParaRPr lang="en-US" sz="1500" dirty="0"/>
          </a:p>
        </p:txBody>
      </p:sp>
      <p:sp>
        <p:nvSpPr>
          <p:cNvPr id="10" name="cosine formula"/>
          <p:cNvSpPr/>
          <p:nvPr/>
        </p:nvSpPr>
        <p:spPr>
          <a:xfrm>
            <a:off x="6309360" y="374904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37490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 θ = (r · s) / (‖r‖ ‖s‖)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0.9 similar meaning   ·   ≈ 0.3 different topic</a:t>
            </a:r>
            <a:endParaRPr lang="en-US" sz="1400" dirty="0"/>
          </a:p>
        </p:txBody>
      </p:sp>
      <p:sp>
        <p:nvSpPr>
          <p:cNvPr id="12" name="similarity caveat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13" name="caveat circle"/>
          <p:cNvSpPr/>
          <p:nvPr/>
        </p:nvSpPr>
        <p:spPr>
          <a:xfrm>
            <a:off x="777240" y="5303520"/>
            <a:ext cx="640080" cy="640080"/>
          </a:xfrm>
          <a:prstGeom prst="ellipse">
            <a:avLst/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pic>
        <p:nvPicPr>
          <p:cNvPr id="14" name="cavea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5457139"/>
            <a:ext cx="332842" cy="33284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45920" y="516636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alone is not enough: a short answer with the right gist can score high while missing most of the points the teacher expects.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2: a rubric checks which key points are present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for “Explain deadlock in an operating system.”</a:t>
            </a:r>
            <a:endParaRPr lang="en-US" sz="1400" dirty="0"/>
          </a:p>
        </p:txBody>
      </p:sp>
      <p:sp>
        <p:nvSpPr>
          <p:cNvPr id="4" name="waiting row"/>
          <p:cNvSpPr/>
          <p:nvPr/>
        </p:nvSpPr>
        <p:spPr>
          <a:xfrm>
            <a:off x="548640" y="182880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blocked waiting for resources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828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2</a:t>
            </a:r>
            <a:endParaRPr lang="en-US" sz="1200" dirty="0"/>
          </a:p>
        </p:txBody>
      </p:sp>
      <p:sp>
        <p:nvSpPr>
          <p:cNvPr id="7" name="mutex row"/>
          <p:cNvSpPr/>
          <p:nvPr/>
        </p:nvSpPr>
        <p:spPr>
          <a:xfrm>
            <a:off x="548640" y="2395728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957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39572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</a:t>
            </a:r>
            <a:endParaRPr lang="en-US" sz="1200" dirty="0"/>
          </a:p>
        </p:txBody>
      </p:sp>
      <p:sp>
        <p:nvSpPr>
          <p:cNvPr id="10" name="hold_wait row"/>
          <p:cNvSpPr/>
          <p:nvPr/>
        </p:nvSpPr>
        <p:spPr>
          <a:xfrm>
            <a:off x="548640" y="2962656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626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and wait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9626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</a:t>
            </a:r>
            <a:endParaRPr lang="en-US" sz="1200" dirty="0"/>
          </a:p>
        </p:txBody>
      </p:sp>
      <p:sp>
        <p:nvSpPr>
          <p:cNvPr id="13" name="no_preempt row"/>
          <p:cNvSpPr/>
          <p:nvPr/>
        </p:nvSpPr>
        <p:spPr>
          <a:xfrm>
            <a:off x="548640" y="3529584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5295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preemption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5295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</a:t>
            </a:r>
            <a:endParaRPr lang="en-US" sz="1200" dirty="0"/>
          </a:p>
        </p:txBody>
      </p:sp>
      <p:sp>
        <p:nvSpPr>
          <p:cNvPr id="16" name="circular row"/>
          <p:cNvSpPr/>
          <p:nvPr/>
        </p:nvSpPr>
        <p:spPr>
          <a:xfrm>
            <a:off x="548640" y="4096512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0965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wait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40965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</a:t>
            </a:r>
            <a:endParaRPr lang="en-US" sz="1200" dirty="0"/>
          </a:p>
        </p:txBody>
      </p:sp>
      <p:sp>
        <p:nvSpPr>
          <p:cNvPr id="19" name="handling row"/>
          <p:cNvSpPr/>
          <p:nvPr/>
        </p:nvSpPr>
        <p:spPr>
          <a:xfrm>
            <a:off x="548640" y="466344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663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Handling: prevention / avoidance / detection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4663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</a:t>
            </a:r>
            <a:endParaRPr lang="en-US" sz="1200" dirty="0"/>
          </a:p>
        </p:txBody>
      </p:sp>
      <p:sp>
        <p:nvSpPr>
          <p:cNvPr id="22" name="Keyword match circle"/>
          <p:cNvSpPr/>
          <p:nvPr/>
        </p:nvSpPr>
        <p:spPr>
          <a:xfrm>
            <a:off x="6400800" y="1463040"/>
            <a:ext cx="640080" cy="640080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23" name="Keyword match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4419" y="1616659"/>
            <a:ext cx="332842" cy="33284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223760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match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223760" y="18745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lower-cased and stemmed, so “connection-oriented” matches “connection oriented” and “inserting” matches “insertion”.</a:t>
            </a:r>
            <a:endParaRPr lang="en-US" sz="1400" dirty="0"/>
          </a:p>
        </p:txBody>
      </p:sp>
      <p:sp>
        <p:nvSpPr>
          <p:cNvPr id="26" name="Semantic match circle"/>
          <p:cNvSpPr/>
          <p:nvPr/>
        </p:nvSpPr>
        <p:spPr>
          <a:xfrm>
            <a:off x="6400800" y="3017520"/>
            <a:ext cx="640080" cy="640080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27" name="Semantic match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419" y="3171139"/>
            <a:ext cx="332842" cy="332842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223760" y="3017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match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7223760" y="34290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keyword appears, each student sentence is compared with the concept using Sentence-BERT (cosine ≥ 0.55), which catches paraphrases.</a:t>
            </a:r>
            <a:endParaRPr lang="en-US" sz="1400" dirty="0"/>
          </a:p>
        </p:txBody>
      </p:sp>
      <p:sp>
        <p:nvSpPr>
          <p:cNvPr id="30" name="Weighted coverage circle"/>
          <p:cNvSpPr/>
          <p:nvPr/>
        </p:nvSpPr>
        <p:spPr>
          <a:xfrm>
            <a:off x="6400800" y="4572000"/>
            <a:ext cx="640080" cy="640080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31" name="Weighted coverag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419" y="4725619"/>
            <a:ext cx="332842" cy="33284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23760" y="4572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coverage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7223760" y="49834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= weight of concepts found ÷ total weight. Core ideas can carry more weight than details.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3: the signals expose different weaknesses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answers to the deadlock question get the same mark for opposite reasons. Their similarity is almost equal; concept coverage shows which points each one has, and completeness (reference sentences matched, blended with length) shows both are too thin.</a:t>
            </a:r>
            <a:endParaRPr lang="en-US" sz="1500" dirty="0"/>
          </a:p>
        </p:txBody>
      </p:sp>
      <p:sp>
        <p:nvSpPr>
          <p:cNvPr id="4" name="Explains the idea, misses the conditions"/>
          <p:cNvSpPr/>
          <p:nvPr/>
        </p:nvSpPr>
        <p:spPr>
          <a:xfrm>
            <a:off x="548640" y="228600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Explains the idea, misses the conditions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“Deadlock occurs when processes wait for resources that are being used by other processes. The processes cannot continue their execution.”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4041648"/>
            <a:ext cx="2377440" cy="146304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4041648"/>
            <a:ext cx="2139696" cy="146304"/>
          </a:xfrm>
          <a:prstGeom prst="rect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3977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89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coverage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06040" y="4453128"/>
            <a:ext cx="2377440" cy="146304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4453128"/>
            <a:ext cx="679269" cy="146304"/>
          </a:xfrm>
          <a:prstGeom prst="rect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43891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06040" y="4864608"/>
            <a:ext cx="2377440" cy="146304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06040" y="4864608"/>
            <a:ext cx="1164946" cy="146304"/>
          </a:xfrm>
          <a:prstGeom prst="rect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4800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5.5</a:t>
            </a:r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Teacher 5</a:t>
            </a:r>
            <a:endParaRPr lang="en-US" sz="1600" dirty="0"/>
          </a:p>
        </p:txBody>
      </p:sp>
      <p:sp>
        <p:nvSpPr>
          <p:cNvPr id="20" name="Lists the conditions, explains nothing"/>
          <p:cNvSpPr/>
          <p:nvPr/>
        </p:nvSpPr>
        <p:spPr>
          <a:xfrm>
            <a:off x="6217920" y="228600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the conditions, explains nothing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8803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“Deadlock means the system hangs. It has four conditions: mutual exclusion, hold and wait, no preemption and circular wait.”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75320" y="4041648"/>
            <a:ext cx="2377440" cy="146304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75320" y="4041648"/>
            <a:ext cx="2258568" cy="146304"/>
          </a:xfrm>
          <a:prstGeom prst="rect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744200" y="3977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389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coverage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75320" y="4453128"/>
            <a:ext cx="2377440" cy="146304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4453128"/>
            <a:ext cx="2037806" cy="146304"/>
          </a:xfrm>
          <a:prstGeom prst="rect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44200" y="43891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75320" y="4864608"/>
            <a:ext cx="2377440" cy="146304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4864608"/>
            <a:ext cx="1164946" cy="146304"/>
          </a:xfrm>
          <a:prstGeom prst="rect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744200" y="4800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5.5</a:t>
            </a:r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Teacher 5.5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scoring engine learns how teachers weigh the signals</a:t>
            </a:r>
            <a:endParaRPr lang="en-US" sz="3200" dirty="0"/>
          </a:p>
        </p:txBody>
      </p:sp>
      <p:sp>
        <p:nvSpPr>
          <p:cNvPr id="3" name="learned scorer"/>
          <p:cNvSpPr/>
          <p:nvPr/>
        </p:nvSpPr>
        <p:spPr>
          <a:xfrm>
            <a:off x="548640" y="146304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scorer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six features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Similarity, cosine, coverage, keyword share, completeness, length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9008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teacher's mark divided by the maximum marks, a value from 0 to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39896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regression, random forest and gradient boosting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8970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model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300 decision trees averaged, with the lowest error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3951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value × maximum marks, rounded to the nearest half mark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Validation: leave one question out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9202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trained on five questions and tested on the sixth, then the test question rotates. It is always marked on a question it has never seen, as it would be in a real exam.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246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69480" y="32461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3246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82712" y="32461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82712" y="3246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95944" y="32461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95944" y="3246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409176" y="32461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09176" y="3246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122408" y="32461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22408" y="3246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835640" y="32461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835640" y="3246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657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69480" y="365760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69480" y="3657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82712" y="365760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82712" y="3657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95944" y="365760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95944" y="3657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09176" y="365760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09176" y="3657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122408" y="365760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122408" y="3657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835640" y="365760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835640" y="3657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69480" y="406908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69480" y="4069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982712" y="406908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82712" y="4069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695944" y="406908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695944" y="4069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409176" y="406908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409176" y="4069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122408" y="406908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122408" y="4069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835640" y="406908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835640" y="4069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0" y="4480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269480" y="448056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269480" y="4480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982712" y="448056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982712" y="4480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695944" y="448056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695944" y="4480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409176" y="448056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409176" y="4480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122408" y="448056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122408" y="4480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0835640" y="448056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835640" y="4480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400800" y="4892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269480" y="489204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269480" y="4892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982712" y="489204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982712" y="4892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695944" y="489204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695944" y="4892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9409176" y="489204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409176" y="4892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10122408" y="489204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0122408" y="4892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0835640" y="489204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0835640" y="4892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6400800" y="5303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6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269480" y="53035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269480" y="5303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982712" y="53035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982712" y="5303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695944" y="53035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695944" y="5303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9409176" y="53035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409176" y="5303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10122408" y="53035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A9BDE0"/>
          </a:solidFill>
          <a:ln w="12700">
            <a:solidFill>
              <a:srgbClr val="A9BDE0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122408" y="5303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10835640" y="530352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0835640" y="5303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00" dirty="0"/>
          </a:p>
        </p:txBody>
      </p:sp>
      <p:sp>
        <p:nvSpPr>
          <p:cNvPr id="90" name="Text 88"/>
          <p:cNvSpPr txBox="1"/>
          <p:nvPr/>
        </p:nvSpPr>
        <p:spPr>
          <a:xfrm>
            <a:off x="7269480" y="57790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question   </a:t>
            </a:r>
            <a:pPr indent="0" marL="0">
              <a:buNone/>
            </a:pPr>
            <a:r>
              <a:rPr lang="en-US" sz="1100" dirty="0">
                <a:solidFill>
                  <a:srgbClr val="A9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questions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Handwritten answers go through TrOCR first</a:t>
            </a:r>
            <a:endParaRPr lang="en-US" sz="3200" dirty="0"/>
          </a:p>
        </p:txBody>
      </p:sp>
      <p:sp>
        <p:nvSpPr>
          <p:cNvPr id="3" name="Photo step"/>
          <p:cNvSpPr/>
          <p:nvPr/>
        </p:nvSpPr>
        <p:spPr>
          <a:xfrm>
            <a:off x="548640" y="155448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Photo circle"/>
          <p:cNvSpPr/>
          <p:nvPr/>
        </p:nvSpPr>
        <p:spPr>
          <a:xfrm>
            <a:off x="1234440" y="1783080"/>
            <a:ext cx="640080" cy="640080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5" name="Phot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059" y="19366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Photo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uploads a photo or scan of the answer sheet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78608" y="2926080"/>
            <a:ext cx="219456" cy="914"/>
          </a:xfrm>
          <a:prstGeom prst="line">
            <a:avLst/>
          </a:prstGeom>
          <a:noFill/>
          <a:ln w="1905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9" name="Clean-up step"/>
          <p:cNvSpPr/>
          <p:nvPr/>
        </p:nvSpPr>
        <p:spPr>
          <a:xfrm>
            <a:off x="2816352" y="155448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Clean-up circle"/>
          <p:cNvSpPr/>
          <p:nvPr/>
        </p:nvSpPr>
        <p:spPr>
          <a:xfrm>
            <a:off x="3502152" y="1783080"/>
            <a:ext cx="640080" cy="640080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11" name="Clean-u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771" y="19366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53512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Clean-up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99232" y="30175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Greyscale, fix rotation, stretch contrast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846320" y="2926080"/>
            <a:ext cx="219456" cy="914"/>
          </a:xfrm>
          <a:prstGeom prst="line">
            <a:avLst/>
          </a:prstGeom>
          <a:noFill/>
          <a:ln w="1905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5" name="Line split step"/>
          <p:cNvSpPr/>
          <p:nvPr/>
        </p:nvSpPr>
        <p:spPr>
          <a:xfrm>
            <a:off x="5084064" y="155448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Line split circle"/>
          <p:cNvSpPr/>
          <p:nvPr/>
        </p:nvSpPr>
        <p:spPr>
          <a:xfrm>
            <a:off x="5769864" y="1783080"/>
            <a:ext cx="640080" cy="640080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17" name="Line spli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483" y="193669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21224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Line split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266944" y="30175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ink are found with a projection profile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114032" y="2926080"/>
            <a:ext cx="219456" cy="914"/>
          </a:xfrm>
          <a:prstGeom prst="line">
            <a:avLst/>
          </a:prstGeom>
          <a:noFill/>
          <a:ln w="1905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21" name="TrOCR step"/>
          <p:cNvSpPr/>
          <p:nvPr/>
        </p:nvSpPr>
        <p:spPr>
          <a:xfrm>
            <a:off x="7351776" y="155448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2" name="TrOCR circle"/>
          <p:cNvSpPr/>
          <p:nvPr/>
        </p:nvSpPr>
        <p:spPr>
          <a:xfrm>
            <a:off x="8037576" y="1783080"/>
            <a:ext cx="640080" cy="640080"/>
          </a:xfrm>
          <a:prstGeom prst="ellipse">
            <a:avLst/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pic>
        <p:nvPicPr>
          <p:cNvPr id="23" name="TrOCR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195" y="193669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88936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TrOCR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534656" y="30175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Optical Character Recognition; reads each line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9381744" y="2926080"/>
            <a:ext cx="219456" cy="914"/>
          </a:xfrm>
          <a:prstGeom prst="line">
            <a:avLst/>
          </a:prstGeom>
          <a:noFill/>
          <a:ln w="1905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27" name="Review step"/>
          <p:cNvSpPr/>
          <p:nvPr/>
        </p:nvSpPr>
        <p:spPr>
          <a:xfrm>
            <a:off x="9619488" y="155448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8" name="Review circle"/>
          <p:cNvSpPr/>
          <p:nvPr/>
        </p:nvSpPr>
        <p:spPr>
          <a:xfrm>
            <a:off x="10305288" y="1783080"/>
            <a:ext cx="640080" cy="640080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29" name="Review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8907" y="1936699"/>
            <a:ext cx="332842" cy="33284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756648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Review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9802368" y="30175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can correct the text before marking</a:t>
            </a:r>
            <a:endParaRPr lang="en-US" sz="1300" dirty="0"/>
          </a:p>
        </p:txBody>
      </p:sp>
      <p:sp>
        <p:nvSpPr>
          <p:cNvPr id="32" name="ocr note"/>
          <p:cNvSpPr/>
          <p:nvPr/>
        </p:nvSpPr>
        <p:spPr>
          <a:xfrm>
            <a:off x="548640" y="46177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68680" y="46177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TrOCR works: </a:t>
            </a:r>
            <a:pPr indent="0" marL="0">
              <a:buNone/>
            </a:pPr>
            <a:r>
              <a:rPr lang="en-US" sz="15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encoder splits each line of handwriting into small patches and works out what is written in each part. A text decoder then writes the line out word by word, looking back at the image as it goes. The model is pretrained by Microsoft and fine-tuned on handwritten English.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system’s marks closely follow the teacher’s marks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one answer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83080"/>
          <a:ext cx="54864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erfect agreement line"/>
          <p:cNvSpPr/>
          <p:nvPr/>
        </p:nvSpPr>
        <p:spPr>
          <a:xfrm flipV="1">
            <a:off x="1170432" y="1956816"/>
            <a:ext cx="4498848" cy="3474720"/>
          </a:xfrm>
          <a:prstGeom prst="line">
            <a:avLst/>
          </a:prstGeom>
          <a:noFill/>
          <a:ln w="15875">
            <a:solidFill>
              <a:srgbClr val="C8414F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6400800" y="1371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the graph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7373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Across: the teacher’s mark. Up: the system’s mark.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Dots on the red dashed line are an exact match.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line, the system gave more marks; below it, fewer.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880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32461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dots sit close to the line: the system is on average 0.69 marks away from the teacher.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answers are within 1 mark of the teacher’s mark.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goes wrong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45262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Under-marks correct answers written in very different words (teacher 7.5, system 4).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Over-marks wrong answers that use the right terms, e.g. “Normalization is converting all values in a column to…” (teacher 1, system 4).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finds 9 out of 10 key points correctly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recall for each question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83080"/>
          <a:ext cx="64008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269480" y="14173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14173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key points actually in the answers, the system found 90%.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25146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25146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points the system marked as present, 92% really were.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36118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36118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that balances recall and precision; 1.0 is perfect.</a:t>
            </a:r>
            <a:endParaRPr lang="en-US" sz="1300" dirty="0"/>
          </a:p>
        </p:txBody>
      </p:sp>
      <p:sp>
        <p:nvSpPr>
          <p:cNvPr id="11" name="concept note"/>
          <p:cNvSpPr/>
          <p:nvPr/>
        </p:nvSpPr>
        <p:spPr>
          <a:xfrm>
            <a:off x="7269480" y="4800600"/>
            <a:ext cx="4343400" cy="128016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52360" y="48006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total it missed 13 key points and wrongly detected 11. These are checked against concept labels I marked by hand.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Streamlit app puts the evaluator in a teacher’s hands</a:t>
            </a:r>
            <a:endParaRPr lang="en-US" sz="3200" dirty="0"/>
          </a:p>
        </p:txBody>
      </p:sp>
      <p:sp>
        <p:nvSpPr>
          <p:cNvPr id="3" name="app mock"/>
          <p:cNvSpPr/>
          <p:nvPr/>
        </p:nvSpPr>
        <p:spPr>
          <a:xfrm>
            <a:off x="548640" y="1417320"/>
            <a:ext cx="6675120" cy="4663440"/>
          </a:xfrm>
          <a:prstGeom prst="roundRect">
            <a:avLst>
              <a:gd name="adj" fmla="val 156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6675120" cy="411480"/>
          </a:xfrm>
          <a:prstGeom prst="rect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 answer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evaluation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11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267712"/>
            <a:ext cx="3017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313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Explain deadlock in an operating system.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0116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2267712"/>
            <a:ext cx="2971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23134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or upload a photo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834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answer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3090672"/>
            <a:ext cx="3017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13639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is a situation in which two or more processes are blocked forever…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28346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(name | keywords | weight)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0" y="3090672"/>
            <a:ext cx="2971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3136392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wait | circular wait, cycle | 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34340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343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937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</a:t>
            </a:r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4892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49040" y="4974336"/>
            <a:ext cx="3108960" cy="9144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0" y="4974336"/>
            <a:ext cx="2798064" cy="91440"/>
          </a:xfrm>
          <a:prstGeom prst="rect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60320" y="5184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5266944"/>
            <a:ext cx="3108960" cy="9144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9040" y="5266944"/>
            <a:ext cx="888274" cy="91440"/>
          </a:xfrm>
          <a:prstGeom prst="rect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60320" y="54772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49040" y="5559552"/>
            <a:ext cx="3108960" cy="9144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49040" y="5559552"/>
            <a:ext cx="1523390" cy="91440"/>
          </a:xfrm>
          <a:prstGeom prst="rect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32" name="Single answer circle"/>
          <p:cNvSpPr/>
          <p:nvPr/>
        </p:nvSpPr>
        <p:spPr>
          <a:xfrm>
            <a:off x="7589520" y="1417320"/>
            <a:ext cx="594360" cy="594360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33" name="Single answ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2166" y="1559966"/>
            <a:ext cx="309067" cy="309067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8366760" y="1417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answer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8366760" y="1801368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question or write your own, edit the rubric, type or upload the answer, and get the mark, a concept checklist and feedback.</a:t>
            </a:r>
            <a:endParaRPr lang="en-US" sz="1300" dirty="0"/>
          </a:p>
        </p:txBody>
      </p:sp>
      <p:sp>
        <p:nvSpPr>
          <p:cNvPr id="36" name="Batch marking circle"/>
          <p:cNvSpPr/>
          <p:nvPr/>
        </p:nvSpPr>
        <p:spPr>
          <a:xfrm>
            <a:off x="7589520" y="2990088"/>
            <a:ext cx="594360" cy="594360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37" name="Batch mark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166" y="3132734"/>
            <a:ext cx="309067" cy="309067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8366760" y="29900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marking</a:t>
            </a:r>
            <a:endParaRPr lang="en-US" sz="1700" dirty="0"/>
          </a:p>
        </p:txBody>
      </p:sp>
      <p:sp>
        <p:nvSpPr>
          <p:cNvPr id="39" name="Text 35"/>
          <p:cNvSpPr txBox="1"/>
          <p:nvPr/>
        </p:nvSpPr>
        <p:spPr>
          <a:xfrm>
            <a:off x="8366760" y="3374136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CSV of answers to mark them all at once, compare with teacher marks, and download the results.</a:t>
            </a:r>
            <a:endParaRPr lang="en-US" sz="1300" dirty="0"/>
          </a:p>
        </p:txBody>
      </p:sp>
      <p:sp>
        <p:nvSpPr>
          <p:cNvPr id="40" name="Performance circle"/>
          <p:cNvSpPr/>
          <p:nvPr/>
        </p:nvSpPr>
        <p:spPr>
          <a:xfrm>
            <a:off x="7589520" y="4562856"/>
            <a:ext cx="594360" cy="594360"/>
          </a:xfrm>
          <a:prstGeom prst="ellipse">
            <a:avLst/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pic>
        <p:nvPicPr>
          <p:cNvPr id="41" name="Performanc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166" y="4705502"/>
            <a:ext cx="309067" cy="309067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8366760" y="45628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43" name="Text 38"/>
          <p:cNvSpPr txBox="1"/>
          <p:nvPr/>
        </p:nvSpPr>
        <p:spPr>
          <a:xfrm>
            <a:off x="8366760" y="4946904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test results and charts from the latest training run.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open-source Python tools</a:t>
            </a:r>
            <a:endParaRPr lang="en-US" sz="3200" dirty="0"/>
          </a:p>
        </p:txBody>
      </p:sp>
      <p:sp>
        <p:nvSpPr>
          <p:cNvPr id="3" name="Sentence-Transformers"/>
          <p:cNvSpPr/>
          <p:nvPr/>
        </p:nvSpPr>
        <p:spPr>
          <a:xfrm>
            <a:off x="548640" y="14630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embeddings</a:t>
            </a:r>
            <a:endParaRPr lang="en-US" sz="1200" dirty="0"/>
          </a:p>
        </p:txBody>
      </p:sp>
      <p:sp>
        <p:nvSpPr>
          <p:cNvPr id="6" name="PyTorch"/>
          <p:cNvSpPr/>
          <p:nvPr/>
        </p:nvSpPr>
        <p:spPr>
          <a:xfrm>
            <a:off x="3337560" y="14630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runtime</a:t>
            </a:r>
            <a:endParaRPr lang="en-US" sz="1200" dirty="0"/>
          </a:p>
        </p:txBody>
      </p:sp>
      <p:sp>
        <p:nvSpPr>
          <p:cNvPr id="9" name="Hugging Face TrOCR"/>
          <p:cNvSpPr/>
          <p:nvPr/>
        </p:nvSpPr>
        <p:spPr>
          <a:xfrm>
            <a:off x="548640" y="26060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TrOCR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recognition</a:t>
            </a:r>
            <a:endParaRPr lang="en-US" sz="1200" dirty="0"/>
          </a:p>
        </p:txBody>
      </p:sp>
      <p:sp>
        <p:nvSpPr>
          <p:cNvPr id="12" name="scikit-learn"/>
          <p:cNvSpPr/>
          <p:nvPr/>
        </p:nvSpPr>
        <p:spPr>
          <a:xfrm>
            <a:off x="3337560" y="26060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scorer, metrics</a:t>
            </a:r>
            <a:endParaRPr lang="en-US" sz="1200" dirty="0"/>
          </a:p>
        </p:txBody>
      </p:sp>
      <p:sp>
        <p:nvSpPr>
          <p:cNvPr id="15" name="NLTK"/>
          <p:cNvSpPr/>
          <p:nvPr/>
        </p:nvSpPr>
        <p:spPr>
          <a:xfrm>
            <a:off x="548640" y="37490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stemming</a:t>
            </a:r>
            <a:endParaRPr lang="en-US" sz="1200" dirty="0"/>
          </a:p>
        </p:txBody>
      </p:sp>
      <p:sp>
        <p:nvSpPr>
          <p:cNvPr id="18" name="Pillow"/>
          <p:cNvSpPr/>
          <p:nvPr/>
        </p:nvSpPr>
        <p:spPr>
          <a:xfrm>
            <a:off x="3337560" y="37490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2044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</a:t>
            </a:r>
            <a:endParaRPr lang="en-US" sz="1200" dirty="0"/>
          </a:p>
        </p:txBody>
      </p:sp>
      <p:sp>
        <p:nvSpPr>
          <p:cNvPr id="21" name="Streamlit"/>
          <p:cNvSpPr/>
          <p:nvPr/>
        </p:nvSpPr>
        <p:spPr>
          <a:xfrm>
            <a:off x="548640" y="48920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394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200" dirty="0"/>
          </a:p>
        </p:txBody>
      </p:sp>
      <p:sp>
        <p:nvSpPr>
          <p:cNvPr id="24" name="pandas · NumPy · matplotlib"/>
          <p:cNvSpPr/>
          <p:nvPr/>
        </p:nvSpPr>
        <p:spPr>
          <a:xfrm>
            <a:off x="3337560" y="48920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20440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matplotlib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5394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statistics, charts</a:t>
            </a:r>
            <a:endParaRPr lang="en-US" sz="1200" dirty="0"/>
          </a:p>
        </p:txBody>
      </p:sp>
      <p:sp>
        <p:nvSpPr>
          <p:cNvPr id="27" name="project tree"/>
          <p:cNvSpPr/>
          <p:nvPr/>
        </p:nvSpPr>
        <p:spPr>
          <a:xfrm>
            <a:off x="6355080" y="14630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1B2440"/>
          </a:solidFill>
          <a:ln w="12700">
            <a:solidFill>
              <a:srgbClr val="1B244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164592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3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answer-evaluator/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evaluator/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core.py        evaluator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embedder.py    Sentence-BERT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scorer.py      scoring engines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feedback.py    feedback 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ocr.py         TrOCR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metrics.py     MAE, QWK, F1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            questions, answers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app.py           Streamlit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train.py         train scorer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evaluate.py      metrics, charts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finetune_sbert.py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tests/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Meaning, not keywords"/>
          <p:cNvSpPr/>
          <p:nvPr/>
        </p:nvSpPr>
        <p:spPr>
          <a:xfrm>
            <a:off x="548640" y="15544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2C3A63"/>
          </a:solidFill>
          <a:ln w="12700">
            <a:solidFill>
              <a:srgbClr val="2C3A63"/>
            </a:solidFill>
            <a:prstDash val="solid"/>
          </a:ln>
        </p:spPr>
      </p:sp>
      <p:sp>
        <p:nvSpPr>
          <p:cNvPr id="4" name="Meaning, not keywords circle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pic>
        <p:nvPicPr>
          <p:cNvPr id="5" name="Meaning, not keyword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933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Meaning, not keywords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004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embeddings compare what an answer says, and a rubric checks which key points it covers.</a:t>
            </a:r>
            <a:endParaRPr lang="en-US" sz="1400" dirty="0"/>
          </a:p>
        </p:txBody>
      </p:sp>
      <p:sp>
        <p:nvSpPr>
          <p:cNvPr id="8" name="Learns from teachers"/>
          <p:cNvSpPr/>
          <p:nvPr/>
        </p:nvSpPr>
        <p:spPr>
          <a:xfrm>
            <a:off x="4343400" y="15544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2C3A63"/>
          </a:solidFill>
          <a:ln w="12700">
            <a:solidFill>
              <a:srgbClr val="2C3A63"/>
            </a:solidFill>
            <a:prstDash val="solid"/>
          </a:ln>
        </p:spPr>
      </p:sp>
      <p:sp>
        <p:nvSpPr>
          <p:cNvPr id="9" name="Learns from teachers circle"/>
          <p:cNvSpPr/>
          <p:nvPr/>
        </p:nvSpPr>
        <p:spPr>
          <a:xfrm>
            <a:off x="4663440" y="1828800"/>
            <a:ext cx="685800" cy="685800"/>
          </a:xfrm>
          <a:prstGeom prst="ellipse">
            <a:avLst/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pic>
        <p:nvPicPr>
          <p:cNvPr id="10" name="Learns from teacher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9933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from teachers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2004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scorer trained on marked answers cut the error from 1.39 to 0.69 marks on unseen questions.</a:t>
            </a:r>
            <a:endParaRPr lang="en-US" sz="1400" dirty="0"/>
          </a:p>
        </p:txBody>
      </p:sp>
      <p:sp>
        <p:nvSpPr>
          <p:cNvPr id="13" name="Explains every mark"/>
          <p:cNvSpPr/>
          <p:nvPr/>
        </p:nvSpPr>
        <p:spPr>
          <a:xfrm>
            <a:off x="8138160" y="15544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2C3A63"/>
          </a:solidFill>
          <a:ln w="12700">
            <a:solidFill>
              <a:srgbClr val="2C3A63"/>
            </a:solidFill>
            <a:prstDash val="solid"/>
          </a:ln>
        </p:spPr>
      </p:sp>
      <p:sp>
        <p:nvSpPr>
          <p:cNvPr id="14" name="Explains every mark circle"/>
          <p:cNvSpPr/>
          <p:nvPr/>
        </p:nvSpPr>
        <p:spPr>
          <a:xfrm>
            <a:off x="8458200" y="1828800"/>
            <a:ext cx="685800" cy="685800"/>
          </a:xfrm>
          <a:prstGeom prst="ellipse">
            <a:avLst/>
          </a:prstGeom>
          <a:solidFill>
            <a:srgbClr val="C8414F"/>
          </a:solidFill>
          <a:ln w="12700">
            <a:solidFill>
              <a:srgbClr val="C8414F"/>
            </a:solidFill>
            <a:prstDash val="solid"/>
          </a:ln>
        </p:spPr>
      </p:sp>
      <p:pic>
        <p:nvPicPr>
          <p:cNvPr id="15" name="Explains every mark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19933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Explains every mark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32004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7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score comes with a concept checklist, evidence and feedback a student can act on.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7B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Answer Evaluation System</dc:title>
  <dc:subject>PptxGenJS Presentation</dc:subject>
  <dc:creator>Anika</dc:creator>
  <cp:lastModifiedBy>Anika</cp:lastModifiedBy>
  <cp:revision>1</cp:revision>
  <dcterms:created xsi:type="dcterms:W3CDTF">2026-10-14T04:58:20Z</dcterms:created>
  <dcterms:modified xsi:type="dcterms:W3CDTF">2026-10-14T04:58:20Z</dcterms:modified>
</cp:coreProperties>
</file>